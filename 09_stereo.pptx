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441" r:id="rId2"/>
    <p:sldId id="800" r:id="rId3"/>
    <p:sldId id="806" r:id="rId4"/>
    <p:sldId id="634" r:id="rId5"/>
    <p:sldId id="635" r:id="rId6"/>
    <p:sldId id="807" r:id="rId7"/>
    <p:sldId id="808" r:id="rId8"/>
    <p:sldId id="827" r:id="rId9"/>
    <p:sldId id="802" r:id="rId10"/>
    <p:sldId id="777" r:id="rId11"/>
    <p:sldId id="779" r:id="rId12"/>
    <p:sldId id="780" r:id="rId13"/>
    <p:sldId id="781" r:id="rId14"/>
    <p:sldId id="810" r:id="rId15"/>
    <p:sldId id="782" r:id="rId16"/>
    <p:sldId id="828" r:id="rId17"/>
    <p:sldId id="786" r:id="rId18"/>
    <p:sldId id="787" r:id="rId19"/>
    <p:sldId id="788" r:id="rId20"/>
    <p:sldId id="789" r:id="rId21"/>
    <p:sldId id="790" r:id="rId22"/>
    <p:sldId id="791" r:id="rId23"/>
    <p:sldId id="792" r:id="rId24"/>
    <p:sldId id="805" r:id="rId25"/>
    <p:sldId id="814" r:id="rId26"/>
    <p:sldId id="818" r:id="rId27"/>
    <p:sldId id="823" r:id="rId28"/>
    <p:sldId id="817" r:id="rId29"/>
    <p:sldId id="819" r:id="rId30"/>
    <p:sldId id="811" r:id="rId31"/>
    <p:sldId id="812" r:id="rId32"/>
    <p:sldId id="813" r:id="rId33"/>
    <p:sldId id="821" r:id="rId34"/>
    <p:sldId id="798" r:id="rId35"/>
    <p:sldId id="824" r:id="rId36"/>
    <p:sldId id="825" r:id="rId37"/>
    <p:sldId id="621" r:id="rId38"/>
    <p:sldId id="732" r:id="rId39"/>
    <p:sldId id="733" r:id="rId40"/>
    <p:sldId id="734" r:id="rId41"/>
    <p:sldId id="735" r:id="rId42"/>
    <p:sldId id="737" r:id="rId43"/>
    <p:sldId id="738" r:id="rId44"/>
    <p:sldId id="739" r:id="rId45"/>
    <p:sldId id="740" r:id="rId46"/>
    <p:sldId id="741" r:id="rId47"/>
    <p:sldId id="742" r:id="rId48"/>
    <p:sldId id="743" r:id="rId49"/>
    <p:sldId id="744" r:id="rId50"/>
    <p:sldId id="745" r:id="rId51"/>
    <p:sldId id="747" r:id="rId52"/>
    <p:sldId id="746" r:id="rId53"/>
    <p:sldId id="748" r:id="rId54"/>
    <p:sldId id="775" r:id="rId55"/>
    <p:sldId id="829" r:id="rId56"/>
    <p:sldId id="830" r:id="rId57"/>
    <p:sldId id="831" r:id="rId58"/>
    <p:sldId id="832" r:id="rId59"/>
    <p:sldId id="833" r:id="rId60"/>
    <p:sldId id="834" r:id="rId61"/>
    <p:sldId id="835" r:id="rId62"/>
    <p:sldId id="836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9DC3E6"/>
    <a:srgbClr val="843C0C"/>
    <a:srgbClr val="FFECB2"/>
    <a:srgbClr val="49CF80"/>
    <a:srgbClr val="F4B183"/>
    <a:srgbClr val="CDCDCD"/>
    <a:srgbClr val="548235"/>
    <a:srgbClr val="A6A6A6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88" autoAdjust="0"/>
    <p:restoredTop sz="92388" autoAdjust="0"/>
  </p:normalViewPr>
  <p:slideViewPr>
    <p:cSldViewPr snapToGrid="0">
      <p:cViewPr>
        <p:scale>
          <a:sx n="182" d="100"/>
          <a:sy n="182" d="100"/>
        </p:scale>
        <p:origin x="-40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1" d="100"/>
        <a:sy n="12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0B9A3-A5EA-4248-9236-D977FCC0775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2DB7A-E090-49C3-B71F-1804DAA0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43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>
            <a:extLst>
              <a:ext uri="{FF2B5EF4-FFF2-40B4-BE49-F238E27FC236}">
                <a16:creationId xmlns:a16="http://schemas.microsoft.com/office/drawing/2014/main" id="{B6FB5CBF-0DD8-A791-51D2-ACB3BF2FAB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3E6837-E3A4-844B-8722-AF885C70EEFC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2579" name="Slide Image Placeholder 1">
            <a:extLst>
              <a:ext uri="{FF2B5EF4-FFF2-40B4-BE49-F238E27FC236}">
                <a16:creationId xmlns:a16="http://schemas.microsoft.com/office/drawing/2014/main" id="{B2F2B7E4-C101-0CFD-2C1F-258E623E5D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80" name="Notes Placeholder 2">
            <a:extLst>
              <a:ext uri="{FF2B5EF4-FFF2-40B4-BE49-F238E27FC236}">
                <a16:creationId xmlns:a16="http://schemas.microsoft.com/office/drawing/2014/main" id="{F99563BC-FD59-EA98-40AD-8F4287F66D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2581" name="Slide Number Placeholder 3">
            <a:extLst>
              <a:ext uri="{FF2B5EF4-FFF2-40B4-BE49-F238E27FC236}">
                <a16:creationId xmlns:a16="http://schemas.microsoft.com/office/drawing/2014/main" id="{8AAA7723-27D2-C4E2-47BE-F2DFFB556C90}"/>
              </a:ext>
            </a:extLst>
          </p:cNvPr>
          <p:cNvSpPr txBox="1">
            <a:spLocks noGrp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081F9CF0-A706-6D40-93C7-6C28FB815869}" type="slidenum">
              <a:rPr lang="en-US" altLang="en-US" sz="1300">
                <a:solidFill>
                  <a:srgbClr val="000000"/>
                </a:solidFill>
              </a:rPr>
              <a:pPr algn="r" eaLnBrk="1" hangingPunct="1"/>
              <a:t>4</a:t>
            </a:fld>
            <a:endParaRPr lang="en-US" altLang="en-US" sz="1300">
              <a:solidFill>
                <a:srgbClr val="000000"/>
              </a:solidFill>
            </a:endParaRPr>
          </a:p>
        </p:txBody>
      </p:sp>
      <p:sp>
        <p:nvSpPr>
          <p:cNvPr id="231430" name="Footer Placeholder 1">
            <a:extLst>
              <a:ext uri="{FF2B5EF4-FFF2-40B4-BE49-F238E27FC236}">
                <a16:creationId xmlns:a16="http://schemas.microsoft.com/office/drawing/2014/main" id="{F4ACC0CF-9F16-BB54-2BFE-AD13C5C77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CS 376 Lecture 16: Stereo 1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>
            <a:extLst>
              <a:ext uri="{FF2B5EF4-FFF2-40B4-BE49-F238E27FC236}">
                <a16:creationId xmlns:a16="http://schemas.microsoft.com/office/drawing/2014/main" id="{5B3B836E-56AC-95E3-AC65-7554E0FA91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D05D14-59D5-BE49-8254-8EEE8CF5D39C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25B43E52-D19D-54DE-988C-BD49323E3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EFDA3A85-8B33-12D7-9D17-F1C17F3C6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2453" name="Footer Placeholder 1">
            <a:extLst>
              <a:ext uri="{FF2B5EF4-FFF2-40B4-BE49-F238E27FC236}">
                <a16:creationId xmlns:a16="http://schemas.microsoft.com/office/drawing/2014/main" id="{5163F358-E4DD-464F-8EF6-DD37AF714E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CS 376 Lecture 16: Stereo 1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5F75DC-2DAD-45AD-BC6F-C3559FDD87A9}" type="slidenum">
              <a:rPr lang="en-US" smtClean="0">
                <a:latin typeface="Arial" pitchFamily="34" charset="0"/>
                <a:cs typeface="Arial" pitchFamily="34" charset="0"/>
              </a:rPr>
              <a:pPr/>
              <a:t>8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5F75DC-2DAD-45AD-BC6F-C3559FDD87A9}" type="slidenum">
              <a:rPr lang="en-US" smtClean="0">
                <a:latin typeface="Arial" pitchFamily="34" charset="0"/>
                <a:cs typeface="Arial" pitchFamily="34" charset="0"/>
              </a:rPr>
              <a:pPr/>
              <a:t>9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BD444-5732-439E-BCA3-B73A32001A6B}" type="slidenum">
              <a:rPr lang="en-US" smtClean="0">
                <a:latin typeface="Arial" pitchFamily="34" charset="0"/>
                <a:cs typeface="Arial" pitchFamily="34" charset="0"/>
              </a:rPr>
              <a:pPr/>
              <a:t>10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651" y="4379902"/>
            <a:ext cx="5095600" cy="4148174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CC6933-934E-4D07-8F9B-9DAEEBC08295}" type="slidenum">
              <a:rPr lang="en-US" smtClean="0">
                <a:latin typeface="Arial" pitchFamily="34" charset="0"/>
                <a:cs typeface="Arial" pitchFamily="34" charset="0"/>
              </a:rPr>
              <a:pPr/>
              <a:t>11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651" y="4379902"/>
            <a:ext cx="5095600" cy="4148174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BDD873-1981-47F1-8996-2C700F1D5DA0}" type="slidenum">
              <a:rPr lang="en-US" smtClean="0">
                <a:latin typeface="Arial" pitchFamily="34" charset="0"/>
                <a:cs typeface="Arial" pitchFamily="34" charset="0"/>
              </a:rPr>
              <a:pPr/>
              <a:t>12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0BC622-53E4-4B74-A169-8A5785B49C86}" type="slidenum">
              <a:rPr lang="en-US" smtClean="0">
                <a:latin typeface="Arial" pitchFamily="34" charset="0"/>
                <a:cs typeface="Arial" pitchFamily="34" charset="0"/>
              </a:rPr>
              <a:pPr/>
              <a:t>13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150FB6-F6FD-4678-906C-E16697A67A77}" type="slidenum">
              <a:rPr lang="en-US" smtClean="0">
                <a:latin typeface="Arial" pitchFamily="34" charset="0"/>
                <a:cs typeface="Arial" pitchFamily="34" charset="0"/>
              </a:rPr>
              <a:pPr/>
              <a:t>14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150FB6-F6FD-4678-906C-E16697A67A77}" type="slidenum">
              <a:rPr lang="en-US" smtClean="0">
                <a:latin typeface="Arial" pitchFamily="34" charset="0"/>
                <a:cs typeface="Arial" pitchFamily="34" charset="0"/>
              </a:rPr>
              <a:pPr/>
              <a:t>15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1979ED-C6CC-40A2-A428-3F02D2EDBD61}" type="slidenum">
              <a:rPr lang="en-US" smtClean="0">
                <a:latin typeface="Arial" pitchFamily="34" charset="0"/>
                <a:cs typeface="Arial" pitchFamily="34" charset="0"/>
              </a:rPr>
              <a:pPr/>
              <a:t>16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1979ED-C6CC-40A2-A428-3F02D2EDBD61}" type="slidenum">
              <a:rPr lang="en-US" smtClean="0">
                <a:latin typeface="Arial" pitchFamily="34" charset="0"/>
                <a:cs typeface="Arial" pitchFamily="34" charset="0"/>
              </a:rPr>
              <a:pPr/>
              <a:t>17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76B967-2C30-4A64-869B-EBE8BC15F87D}" type="slidenum">
              <a:rPr lang="en-US" smtClean="0">
                <a:latin typeface="Arial" pitchFamily="34" charset="0"/>
                <a:cs typeface="Arial" pitchFamily="34" charset="0"/>
              </a:rPr>
              <a:pPr/>
              <a:t>18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34" charset="0"/>
                <a:cs typeface="Arial" pitchFamily="34" charset="0"/>
              </a:rPr>
              <a:t>X’ is X in the second camera’s coordinate system</a:t>
            </a:r>
          </a:p>
          <a:p>
            <a:pPr eaLnBrk="1" hangingPunct="1"/>
            <a:r>
              <a:rPr lang="en-US" dirty="0">
                <a:latin typeface="Arial" pitchFamily="34" charset="0"/>
                <a:cs typeface="Arial" pitchFamily="34" charset="0"/>
              </a:rPr>
              <a:t>We can identify the non-homogeneous 3D vectors X and X’ with the homogeneous coordinate vectors x and x’ of the projections of the two points into the two respective images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B7B43F-908A-4F6B-AE5A-8E4111B59F93}" type="slidenum">
              <a:rPr lang="en-US" smtClean="0">
                <a:latin typeface="Arial" pitchFamily="34" charset="0"/>
                <a:cs typeface="Arial" pitchFamily="34" charset="0"/>
              </a:rPr>
              <a:pPr/>
              <a:t>19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34" charset="0"/>
                <a:cs typeface="Arial" pitchFamily="34" charset="0"/>
              </a:rPr>
              <a:t>[t]</a:t>
            </a:r>
            <a:r>
              <a:rPr lang="en-US" baseline="-25000" dirty="0">
                <a:latin typeface="Arial" pitchFamily="34" charset="0"/>
                <a:cs typeface="Arial" pitchFamily="34" charset="0"/>
              </a:rPr>
              <a:t>x </a:t>
            </a:r>
            <a:r>
              <a:rPr lang="en-US" baseline="0" dirty="0">
                <a:latin typeface="Arial" pitchFamily="34" charset="0"/>
                <a:cs typeface="Arial" pitchFamily="34" charset="0"/>
              </a:rPr>
              <a:t>is the skew symmetric matrix of t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77EAFA-5EC7-4AC9-B1E1-35392252E4F5}" type="slidenum">
              <a:rPr lang="en-US" smtClean="0">
                <a:latin typeface="Arial" pitchFamily="34" charset="0"/>
                <a:cs typeface="Arial" pitchFamily="34" charset="0"/>
              </a:rPr>
              <a:pPr/>
              <a:t>20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EF964D-6FEB-4DF6-993B-BC23E8567675}" type="slidenum">
              <a:rPr lang="en-US" smtClean="0">
                <a:latin typeface="Arial" pitchFamily="34" charset="0"/>
                <a:cs typeface="Arial" pitchFamily="34" charset="0"/>
              </a:rPr>
              <a:pPr/>
              <a:t>21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06023F-223E-4169-ABDD-17701F10DAAF}" type="slidenum">
              <a:rPr lang="en-US" smtClean="0">
                <a:latin typeface="Arial" pitchFamily="34" charset="0"/>
                <a:cs typeface="Arial" pitchFamily="34" charset="0"/>
              </a:rPr>
              <a:pPr/>
              <a:t>22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1EF817-8FAE-4F9A-A5C6-179B9C55F7EF}" type="slidenum">
              <a:rPr lang="en-US" smtClean="0">
                <a:latin typeface="Arial" pitchFamily="34" charset="0"/>
                <a:cs typeface="Arial" pitchFamily="34" charset="0"/>
              </a:rPr>
              <a:pPr/>
              <a:t>23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for outliers by</a:t>
            </a:r>
            <a:r>
              <a:rPr lang="en-US" baseline="0" dirty="0"/>
              <a:t> computing distance from </a:t>
            </a:r>
            <a:r>
              <a:rPr lang="en-US" baseline="0" dirty="0" err="1"/>
              <a:t>epipolar</a:t>
            </a:r>
            <a:r>
              <a:rPr lang="en-US" baseline="0" dirty="0"/>
              <a:t> line to corresponding point (NOT by taking square of </a:t>
            </a:r>
            <a:r>
              <a:rPr lang="en-US" baseline="0" dirty="0" err="1"/>
              <a:t>x</a:t>
            </a:r>
            <a:r>
              <a:rPr lang="en-US" baseline="30000" dirty="0" err="1"/>
              <a:t>T</a:t>
            </a:r>
            <a:r>
              <a:rPr lang="en-US" baseline="0" dirty="0" err="1"/>
              <a:t>Fx</a:t>
            </a:r>
            <a:r>
              <a:rPr lang="en-US" baseline="0" dirty="0"/>
              <a:t>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D2BCC9-46BE-4B1E-A65D-31834D5B1B3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50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3CA73D-64A7-4C4B-B6D3-8CBB7DFFA928}" type="slidenum">
              <a:rPr lang="en-US" smtClean="0">
                <a:latin typeface="Arial" pitchFamily="34" charset="0"/>
                <a:cs typeface="Arial" pitchFamily="34" charset="0"/>
              </a:rPr>
              <a:pPr/>
              <a:t>34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CFE2EE-E93B-4EC0-B90B-051E340F1866}" type="slidenum">
              <a:rPr lang="en-US" smtClean="0">
                <a:latin typeface="Arial" pitchFamily="34" charset="0"/>
                <a:cs typeface="Arial" pitchFamily="34" charset="0"/>
              </a:rPr>
              <a:pPr/>
              <a:t>36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65DE2D-B43A-4809-9F43-A0D11507C48D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AE3FED-7E50-470B-BE2C-C84DAC8992C1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5290BF-5343-4E93-B6C1-9443D70F7A5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8400" y="692150"/>
            <a:ext cx="4611688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6254" y="4379595"/>
            <a:ext cx="5094393" cy="414909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BE2F93-44B5-430B-8CF5-E84D5DA74343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8400" y="692150"/>
            <a:ext cx="4611688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6254" y="4379595"/>
            <a:ext cx="5094393" cy="414909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9A57EF-541D-443D-B041-B5555686C3F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C00F9F-FA22-4E68-AE92-A73BF5E34EA1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3347DA-7389-4F3D-B887-FF3C647DC3E0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8400" y="692150"/>
            <a:ext cx="4611688" cy="3457575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6254" y="4379595"/>
            <a:ext cx="5094393" cy="4149090"/>
          </a:xfrm>
          <a:noFill/>
        </p:spPr>
        <p:txBody>
          <a:bodyPr wrap="square" lIns="103441" tIns="51720" rIns="103441" bIns="51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3CE4A0-8865-40C5-BB63-53519C9CFB24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1638" y="692150"/>
            <a:ext cx="6145212" cy="3457575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6254" y="4379595"/>
            <a:ext cx="5094393" cy="4149090"/>
          </a:xfrm>
          <a:noFill/>
        </p:spPr>
        <p:txBody>
          <a:bodyPr wrap="square" lIns="103441" tIns="51720" rIns="103441" bIns="51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257075-AE7F-485D-AA6B-C3293D4558C9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856102-7C12-44E3-9B61-5EDD0A3DEB10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95A5A5-AC04-41D2-827A-EAADDB20938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1638" y="692150"/>
            <a:ext cx="6145212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6254" y="4379595"/>
            <a:ext cx="5094393" cy="414909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86E719-FAB0-4528-BEF2-099CB32EC1F6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8400" y="692150"/>
            <a:ext cx="4611688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6254" y="4379595"/>
            <a:ext cx="5094393" cy="414909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168AE7-BE0C-47DE-BCE5-3769041515A0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8400" y="692150"/>
            <a:ext cx="4611688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6254" y="4379595"/>
            <a:ext cx="5094393" cy="414909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68715-75F9-4227-8E7E-91CF5E6A8677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smaller window:  more detail, more noise</a:t>
            </a:r>
          </a:p>
          <a:p>
            <a:r>
              <a:rPr lang="en-US"/>
              <a:t>bigger window:  less noise, more detail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2E4856-1E29-4EE0-9D64-315D56FDDF9E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1C379D-1FA9-4C5D-A2B4-CE2EC84057A5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5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2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1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35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6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08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9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6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33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10363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914400"/>
            <a:ext cx="50800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619500"/>
            <a:ext cx="50800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02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2F79C-4F4E-46B8-B10B-944B55A82C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8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12BC9-BD10-4E7E-9A4D-350BF571A3A1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93FD6-E231-4747-BED8-135CF7ACF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9.png"/><Relationship Id="rId7" Type="http://schemas.openxmlformats.org/officeDocument/2006/relationships/image" Target="../media/image2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27.wmf"/><Relationship Id="rId3" Type="http://schemas.openxmlformats.org/officeDocument/2006/relationships/image" Target="../media/image9.png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1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3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6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4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2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28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29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hyperlink" Target="http://www.robots.ox.ac.uk/~vgg/hzbook/co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51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danielwedge.com/fmatrix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55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8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microsoft.com/~zhang/Papers/TR99-21.pdf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wmf"/><Relationship Id="rId4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wmf"/><Relationship Id="rId4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image" Target="../media/image75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5" Type="http://schemas.openxmlformats.org/officeDocument/2006/relationships/oleObject" Target="../embeddings/oleObject40.bin"/><Relationship Id="rId4" Type="http://schemas.openxmlformats.org/officeDocument/2006/relationships/image" Target="../media/image7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4CC8E57-0931-EE47-914F-7A7A201C8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Lecture 09: Stereo and Multi-view Stereo</a:t>
            </a:r>
          </a:p>
        </p:txBody>
      </p:sp>
      <p:sp>
        <p:nvSpPr>
          <p:cNvPr id="4101" name="Text Box 8">
            <a:extLst>
              <a:ext uri="{FF2B5EF4-FFF2-40B4-BE49-F238E27FC236}">
                <a16:creationId xmlns:a16="http://schemas.microsoft.com/office/drawing/2014/main" id="{A8D28163-C194-5846-9571-6A45C9FA5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012" y="6492875"/>
            <a:ext cx="10515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1600" i="1" dirty="0">
                <a:cs typeface="Arial" panose="020B0604020202020204" pitchFamily="34" charset="0"/>
              </a:rPr>
              <a:t>Slides inspired/borrowed from Derek </a:t>
            </a:r>
            <a:r>
              <a:rPr lang="en-US" altLang="en-US" sz="1600" i="1" dirty="0" err="1">
                <a:cs typeface="Arial" panose="020B0604020202020204" pitchFamily="34" charset="0"/>
              </a:rPr>
              <a:t>Hoeim</a:t>
            </a:r>
            <a:endParaRPr lang="en-US" altLang="en-US" sz="1600" i="1" dirty="0"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</a:pPr>
            <a:endParaRPr lang="en-US" altLang="en-US" sz="1600" i="1" dirty="0"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FAA54-0809-DB06-9076-6CDD15CA17F6}"/>
              </a:ext>
            </a:extLst>
          </p:cNvPr>
          <p:cNvSpPr txBox="1"/>
          <p:nvPr/>
        </p:nvSpPr>
        <p:spPr>
          <a:xfrm>
            <a:off x="10220632" y="5272526"/>
            <a:ext cx="16223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Picture from Niraj Krishna: https://</a:t>
            </a:r>
            <a:r>
              <a:rPr lang="en-US" sz="800" dirty="0" err="1"/>
              <a:t>towardsdatascience.com</a:t>
            </a:r>
            <a:r>
              <a:rPr lang="en-US" sz="800" dirty="0"/>
              <a:t>/a-comprehensive-tutorial-on-stereo-geometry-and-stereo-rectification-with-python-7f368b09924a</a:t>
            </a:r>
          </a:p>
        </p:txBody>
      </p:sp>
      <p:pic>
        <p:nvPicPr>
          <p:cNvPr id="1026" name="Picture 2" descr="A Comprehensive Tutorial on Stereo Geometry and Stereo Rectification with  Python | by Neeraj Krishna | Towards Data Science">
            <a:extLst>
              <a:ext uri="{FF2B5EF4-FFF2-40B4-BE49-F238E27FC236}">
                <a16:creationId xmlns:a16="http://schemas.microsoft.com/office/drawing/2014/main" id="{D240F2F8-5F91-699B-D672-218630BE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92704"/>
            <a:ext cx="8883405" cy="500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938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class: Stereo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err="1"/>
              <a:t>Epipolar</a:t>
            </a:r>
            <a:r>
              <a:rPr lang="en-US" dirty="0"/>
              <a:t> geometry</a:t>
            </a:r>
          </a:p>
          <a:p>
            <a:pPr lvl="1">
              <a:defRPr/>
            </a:pPr>
            <a:r>
              <a:rPr lang="en-US" dirty="0"/>
              <a:t>Relates cameras from two positions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Stereo depth estimation</a:t>
            </a:r>
          </a:p>
          <a:p>
            <a:pPr lvl="1">
              <a:defRPr/>
            </a:pPr>
            <a:r>
              <a:rPr lang="en-US" dirty="0"/>
              <a:t>Recover depth from two images</a:t>
            </a:r>
          </a:p>
          <a:p>
            <a:pPr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from Stereo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 recover depth by finding image coordinate x’ that corresponds to x</a:t>
            </a:r>
          </a:p>
        </p:txBody>
      </p:sp>
      <p:grpSp>
        <p:nvGrpSpPr>
          <p:cNvPr id="24" name="Group 47"/>
          <p:cNvGrpSpPr>
            <a:grpSpLocks noChangeAspect="1"/>
          </p:cNvGrpSpPr>
          <p:nvPr/>
        </p:nvGrpSpPr>
        <p:grpSpPr bwMode="auto">
          <a:xfrm>
            <a:off x="6172200" y="2684426"/>
            <a:ext cx="3809910" cy="3487774"/>
            <a:chOff x="432" y="1264"/>
            <a:chExt cx="2288" cy="2065"/>
          </a:xfrm>
        </p:grpSpPr>
        <p:sp>
          <p:nvSpPr>
            <p:cNvPr id="25" name="Oval 5"/>
            <p:cNvSpPr>
              <a:spLocks noChangeArrowheads="1"/>
            </p:cNvSpPr>
            <p:nvPr/>
          </p:nvSpPr>
          <p:spPr bwMode="auto">
            <a:xfrm>
              <a:off x="720" y="288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6" name="Oval 6"/>
            <p:cNvSpPr>
              <a:spLocks noChangeArrowheads="1"/>
            </p:cNvSpPr>
            <p:nvPr/>
          </p:nvSpPr>
          <p:spPr bwMode="auto">
            <a:xfrm>
              <a:off x="2016" y="288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432" y="254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1728" y="254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9" name="Oval 9"/>
            <p:cNvSpPr>
              <a:spLocks noChangeArrowheads="1"/>
            </p:cNvSpPr>
            <p:nvPr/>
          </p:nvSpPr>
          <p:spPr bwMode="auto">
            <a:xfrm>
              <a:off x="1324" y="1515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 flipV="1">
              <a:off x="768" y="1536"/>
              <a:ext cx="576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 flipH="1" flipV="1">
              <a:off x="1344" y="1536"/>
              <a:ext cx="72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 flipV="1">
              <a:off x="748" y="254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3" name="Text Box 13"/>
            <p:cNvSpPr txBox="1">
              <a:spLocks noChangeArrowheads="1"/>
            </p:cNvSpPr>
            <p:nvPr/>
          </p:nvSpPr>
          <p:spPr bwMode="auto">
            <a:xfrm>
              <a:off x="606" y="2607"/>
              <a:ext cx="158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/>
                <a:t>f</a:t>
              </a:r>
            </a:p>
          </p:txBody>
        </p:sp>
        <p:sp>
          <p:nvSpPr>
            <p:cNvPr id="34" name="Oval 14"/>
            <p:cNvSpPr>
              <a:spLocks noChangeArrowheads="1"/>
            </p:cNvSpPr>
            <p:nvPr/>
          </p:nvSpPr>
          <p:spPr bwMode="auto">
            <a:xfrm>
              <a:off x="892" y="2517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5" name="Oval 15"/>
            <p:cNvSpPr>
              <a:spLocks noChangeArrowheads="1"/>
            </p:cNvSpPr>
            <p:nvPr/>
          </p:nvSpPr>
          <p:spPr bwMode="auto">
            <a:xfrm>
              <a:off x="1845" y="2517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6" name="Line 16"/>
            <p:cNvSpPr>
              <a:spLocks noChangeShapeType="1"/>
            </p:cNvSpPr>
            <p:nvPr/>
          </p:nvSpPr>
          <p:spPr bwMode="auto">
            <a:xfrm flipV="1">
              <a:off x="2043" y="254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7" name="Line 17"/>
            <p:cNvSpPr>
              <a:spLocks noChangeShapeType="1"/>
            </p:cNvSpPr>
            <p:nvPr/>
          </p:nvSpPr>
          <p:spPr bwMode="auto">
            <a:xfrm>
              <a:off x="720" y="249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sm"/>
              <a:tailEnd type="arrow" w="med" len="sm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741" y="2272"/>
              <a:ext cx="177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/>
                <a:t>x</a:t>
              </a:r>
            </a:p>
          </p:txBody>
        </p: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>
              <a:off x="1872" y="2496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sm"/>
              <a:tailEnd type="none" w="med" len="sm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1851" y="2272"/>
              <a:ext cx="223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/>
                <a:t>x’</a:t>
              </a:r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1070" y="2910"/>
              <a:ext cx="636" cy="41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/>
                <a:t>Baseline</a:t>
              </a:r>
              <a:br>
                <a:rPr lang="en-US" sz="2000"/>
              </a:br>
              <a:r>
                <a:rPr lang="en-US" sz="2000"/>
                <a:t>B</a:t>
              </a:r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 flipV="1">
              <a:off x="2496" y="1536"/>
              <a:ext cx="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3" name="Text Box 23"/>
            <p:cNvSpPr txBox="1">
              <a:spLocks noChangeArrowheads="1"/>
            </p:cNvSpPr>
            <p:nvPr/>
          </p:nvSpPr>
          <p:spPr bwMode="auto">
            <a:xfrm>
              <a:off x="2548" y="2031"/>
              <a:ext cx="172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/>
                <a:t>z</a:t>
              </a: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508" y="2915"/>
              <a:ext cx="486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C</a:t>
              </a:r>
              <a:endParaRPr lang="en-US" sz="2000" baseline="-25000" dirty="0"/>
            </a:p>
          </p:txBody>
        </p:sp>
        <p:sp>
          <p:nvSpPr>
            <p:cNvPr id="45" name="Text Box 25"/>
            <p:cNvSpPr txBox="1">
              <a:spLocks noChangeArrowheads="1"/>
            </p:cNvSpPr>
            <p:nvPr/>
          </p:nvSpPr>
          <p:spPr bwMode="auto">
            <a:xfrm>
              <a:off x="1824" y="2915"/>
              <a:ext cx="486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C’</a:t>
              </a:r>
              <a:endParaRPr lang="en-US" sz="2000" baseline="-25000" dirty="0"/>
            </a:p>
          </p:txBody>
        </p:sp>
        <p:sp>
          <p:nvSpPr>
            <p:cNvPr id="46" name="Text Box 26"/>
            <p:cNvSpPr txBox="1">
              <a:spLocks noChangeArrowheads="1"/>
            </p:cNvSpPr>
            <p:nvPr/>
          </p:nvSpPr>
          <p:spPr bwMode="auto">
            <a:xfrm>
              <a:off x="1104" y="1264"/>
              <a:ext cx="486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X</a:t>
              </a:r>
              <a:endParaRPr lang="en-US" sz="2000" baseline="-25000" dirty="0"/>
            </a:p>
          </p:txBody>
        </p:sp>
        <p:sp>
          <p:nvSpPr>
            <p:cNvPr id="47" name="Line 27"/>
            <p:cNvSpPr>
              <a:spLocks noChangeShapeType="1"/>
            </p:cNvSpPr>
            <p:nvPr/>
          </p:nvSpPr>
          <p:spPr bwMode="auto">
            <a:xfrm>
              <a:off x="796" y="2901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8" name="Text Box 28"/>
            <p:cNvSpPr txBox="1">
              <a:spLocks noChangeArrowheads="1"/>
            </p:cNvSpPr>
            <p:nvPr/>
          </p:nvSpPr>
          <p:spPr bwMode="auto">
            <a:xfrm>
              <a:off x="2019" y="2608"/>
              <a:ext cx="158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/>
                <a:t>f</a:t>
              </a:r>
            </a:p>
          </p:txBody>
        </p:sp>
      </p:grpSp>
      <p:grpSp>
        <p:nvGrpSpPr>
          <p:cNvPr id="54" name="Group 53"/>
          <p:cNvGrpSpPr>
            <a:grpSpLocks noChangeAspect="1"/>
          </p:cNvGrpSpPr>
          <p:nvPr/>
        </p:nvGrpSpPr>
        <p:grpSpPr>
          <a:xfrm>
            <a:off x="2629828" y="2362200"/>
            <a:ext cx="2856572" cy="3795508"/>
            <a:chOff x="609600" y="753824"/>
            <a:chExt cx="3905925" cy="5189776"/>
          </a:xfrm>
        </p:grpSpPr>
        <p:grpSp>
          <p:nvGrpSpPr>
            <p:cNvPr id="49" name="Group 48"/>
            <p:cNvGrpSpPr>
              <a:grpSpLocks noChangeAspect="1"/>
            </p:cNvGrpSpPr>
            <p:nvPr/>
          </p:nvGrpSpPr>
          <p:grpSpPr>
            <a:xfrm>
              <a:off x="609600" y="1143000"/>
              <a:ext cx="3905925" cy="4800600"/>
              <a:chOff x="533400" y="957263"/>
              <a:chExt cx="4491038" cy="5519737"/>
            </a:xfrm>
          </p:grpSpPr>
          <p:sp>
            <p:nvSpPr>
              <p:cNvPr id="4" name="Freeform 4"/>
              <p:cNvSpPr>
                <a:spLocks/>
              </p:cNvSpPr>
              <p:nvPr/>
            </p:nvSpPr>
            <p:spPr bwMode="auto">
              <a:xfrm>
                <a:off x="3481388" y="957263"/>
                <a:ext cx="1220787" cy="839787"/>
              </a:xfrm>
              <a:custGeom>
                <a:avLst/>
                <a:gdLst>
                  <a:gd name="T0" fmla="*/ 2147483647 w 865"/>
                  <a:gd name="T1" fmla="*/ 0 h 529"/>
                  <a:gd name="T2" fmla="*/ 2147483647 w 865"/>
                  <a:gd name="T3" fmla="*/ 2147483647 h 529"/>
                  <a:gd name="T4" fmla="*/ 2147483647 w 865"/>
                  <a:gd name="T5" fmla="*/ 2147483647 h 529"/>
                  <a:gd name="T6" fmla="*/ 2147483647 w 865"/>
                  <a:gd name="T7" fmla="*/ 2147483647 h 529"/>
                  <a:gd name="T8" fmla="*/ 2147483647 w 865"/>
                  <a:gd name="T9" fmla="*/ 2147483647 h 529"/>
                  <a:gd name="T10" fmla="*/ 2147483647 w 865"/>
                  <a:gd name="T11" fmla="*/ 2147483647 h 529"/>
                  <a:gd name="T12" fmla="*/ 2147483647 w 865"/>
                  <a:gd name="T13" fmla="*/ 2147483647 h 529"/>
                  <a:gd name="T14" fmla="*/ 2147483647 w 865"/>
                  <a:gd name="T15" fmla="*/ 2147483647 h 529"/>
                  <a:gd name="T16" fmla="*/ 2147483647 w 865"/>
                  <a:gd name="T17" fmla="*/ 2147483647 h 529"/>
                  <a:gd name="T18" fmla="*/ 0 w 865"/>
                  <a:gd name="T19" fmla="*/ 2147483647 h 529"/>
                  <a:gd name="T20" fmla="*/ 0 w 865"/>
                  <a:gd name="T21" fmla="*/ 2147483647 h 529"/>
                  <a:gd name="T22" fmla="*/ 0 w 865"/>
                  <a:gd name="T23" fmla="*/ 2147483647 h 529"/>
                  <a:gd name="T24" fmla="*/ 2147483647 w 865"/>
                  <a:gd name="T25" fmla="*/ 2147483647 h 529"/>
                  <a:gd name="T26" fmla="*/ 2147483647 w 865"/>
                  <a:gd name="T27" fmla="*/ 2147483647 h 529"/>
                  <a:gd name="T28" fmla="*/ 2147483647 w 865"/>
                  <a:gd name="T29" fmla="*/ 2147483647 h 529"/>
                  <a:gd name="T30" fmla="*/ 2147483647 w 865"/>
                  <a:gd name="T31" fmla="*/ 2147483647 h 529"/>
                  <a:gd name="T32" fmla="*/ 2147483647 w 865"/>
                  <a:gd name="T33" fmla="*/ 2147483647 h 529"/>
                  <a:gd name="T34" fmla="*/ 2147483647 w 865"/>
                  <a:gd name="T35" fmla="*/ 2147483647 h 529"/>
                  <a:gd name="T36" fmla="*/ 2147483647 w 865"/>
                  <a:gd name="T37" fmla="*/ 2147483647 h 529"/>
                  <a:gd name="T38" fmla="*/ 2147483647 w 865"/>
                  <a:gd name="T39" fmla="*/ 2147483647 h 529"/>
                  <a:gd name="T40" fmla="*/ 2147483647 w 865"/>
                  <a:gd name="T41" fmla="*/ 2147483647 h 529"/>
                  <a:gd name="T42" fmla="*/ 2147483647 w 865"/>
                  <a:gd name="T43" fmla="*/ 2147483647 h 529"/>
                  <a:gd name="T44" fmla="*/ 2147483647 w 865"/>
                  <a:gd name="T45" fmla="*/ 2147483647 h 529"/>
                  <a:gd name="T46" fmla="*/ 2147483647 w 865"/>
                  <a:gd name="T47" fmla="*/ 2147483647 h 529"/>
                  <a:gd name="T48" fmla="*/ 2147483647 w 865"/>
                  <a:gd name="T49" fmla="*/ 2147483647 h 529"/>
                  <a:gd name="T50" fmla="*/ 2147483647 w 865"/>
                  <a:gd name="T51" fmla="*/ 2147483647 h 529"/>
                  <a:gd name="T52" fmla="*/ 2147483647 w 865"/>
                  <a:gd name="T53" fmla="*/ 2147483647 h 529"/>
                  <a:gd name="T54" fmla="*/ 2147483647 w 865"/>
                  <a:gd name="T55" fmla="*/ 2147483647 h 529"/>
                  <a:gd name="T56" fmla="*/ 2147483647 w 865"/>
                  <a:gd name="T57" fmla="*/ 2147483647 h 529"/>
                  <a:gd name="T58" fmla="*/ 2147483647 w 865"/>
                  <a:gd name="T59" fmla="*/ 2147483647 h 529"/>
                  <a:gd name="T60" fmla="*/ 2147483647 w 865"/>
                  <a:gd name="T61" fmla="*/ 2147483647 h 529"/>
                  <a:gd name="T62" fmla="*/ 2147483647 w 865"/>
                  <a:gd name="T63" fmla="*/ 2147483647 h 529"/>
                  <a:gd name="T64" fmla="*/ 2147483647 w 865"/>
                  <a:gd name="T65" fmla="*/ 2147483647 h 529"/>
                  <a:gd name="T66" fmla="*/ 2147483647 w 865"/>
                  <a:gd name="T67" fmla="*/ 2147483647 h 529"/>
                  <a:gd name="T68" fmla="*/ 2147483647 w 865"/>
                  <a:gd name="T69" fmla="*/ 2147483647 h 529"/>
                  <a:gd name="T70" fmla="*/ 2147483647 w 865"/>
                  <a:gd name="T71" fmla="*/ 2147483647 h 529"/>
                  <a:gd name="T72" fmla="*/ 2147483647 w 865"/>
                  <a:gd name="T73" fmla="*/ 2147483647 h 529"/>
                  <a:gd name="T74" fmla="*/ 2147483647 w 865"/>
                  <a:gd name="T75" fmla="*/ 2147483647 h 529"/>
                  <a:gd name="T76" fmla="*/ 2147483647 w 865"/>
                  <a:gd name="T77" fmla="*/ 2147483647 h 529"/>
                  <a:gd name="T78" fmla="*/ 2147483647 w 865"/>
                  <a:gd name="T79" fmla="*/ 0 h 52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65"/>
                  <a:gd name="T121" fmla="*/ 0 h 529"/>
                  <a:gd name="T122" fmla="*/ 865 w 865"/>
                  <a:gd name="T123" fmla="*/ 529 h 52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65" h="529">
                    <a:moveTo>
                      <a:pt x="84" y="0"/>
                    </a:moveTo>
                    <a:lnTo>
                      <a:pt x="72" y="24"/>
                    </a:lnTo>
                    <a:lnTo>
                      <a:pt x="72" y="48"/>
                    </a:lnTo>
                    <a:lnTo>
                      <a:pt x="48" y="72"/>
                    </a:lnTo>
                    <a:lnTo>
                      <a:pt x="36" y="96"/>
                    </a:lnTo>
                    <a:lnTo>
                      <a:pt x="36" y="120"/>
                    </a:lnTo>
                    <a:lnTo>
                      <a:pt x="36" y="144"/>
                    </a:lnTo>
                    <a:lnTo>
                      <a:pt x="24" y="168"/>
                    </a:lnTo>
                    <a:lnTo>
                      <a:pt x="12" y="192"/>
                    </a:lnTo>
                    <a:lnTo>
                      <a:pt x="0" y="216"/>
                    </a:lnTo>
                    <a:lnTo>
                      <a:pt x="0" y="240"/>
                    </a:lnTo>
                    <a:lnTo>
                      <a:pt x="0" y="264"/>
                    </a:lnTo>
                    <a:lnTo>
                      <a:pt x="12" y="288"/>
                    </a:lnTo>
                    <a:lnTo>
                      <a:pt x="12" y="312"/>
                    </a:lnTo>
                    <a:lnTo>
                      <a:pt x="24" y="336"/>
                    </a:lnTo>
                    <a:lnTo>
                      <a:pt x="24" y="360"/>
                    </a:lnTo>
                    <a:lnTo>
                      <a:pt x="36" y="384"/>
                    </a:lnTo>
                    <a:lnTo>
                      <a:pt x="36" y="408"/>
                    </a:lnTo>
                    <a:lnTo>
                      <a:pt x="48" y="432"/>
                    </a:lnTo>
                    <a:lnTo>
                      <a:pt x="60" y="456"/>
                    </a:lnTo>
                    <a:lnTo>
                      <a:pt x="852" y="528"/>
                    </a:lnTo>
                    <a:lnTo>
                      <a:pt x="804" y="480"/>
                    </a:lnTo>
                    <a:lnTo>
                      <a:pt x="792" y="456"/>
                    </a:lnTo>
                    <a:lnTo>
                      <a:pt x="780" y="420"/>
                    </a:lnTo>
                    <a:lnTo>
                      <a:pt x="768" y="396"/>
                    </a:lnTo>
                    <a:lnTo>
                      <a:pt x="756" y="372"/>
                    </a:lnTo>
                    <a:lnTo>
                      <a:pt x="744" y="348"/>
                    </a:lnTo>
                    <a:lnTo>
                      <a:pt x="744" y="324"/>
                    </a:lnTo>
                    <a:lnTo>
                      <a:pt x="744" y="288"/>
                    </a:lnTo>
                    <a:lnTo>
                      <a:pt x="744" y="264"/>
                    </a:lnTo>
                    <a:lnTo>
                      <a:pt x="744" y="240"/>
                    </a:lnTo>
                    <a:lnTo>
                      <a:pt x="768" y="216"/>
                    </a:lnTo>
                    <a:lnTo>
                      <a:pt x="768" y="192"/>
                    </a:lnTo>
                    <a:lnTo>
                      <a:pt x="780" y="168"/>
                    </a:lnTo>
                    <a:lnTo>
                      <a:pt x="804" y="156"/>
                    </a:lnTo>
                    <a:lnTo>
                      <a:pt x="804" y="132"/>
                    </a:lnTo>
                    <a:lnTo>
                      <a:pt x="828" y="108"/>
                    </a:lnTo>
                    <a:lnTo>
                      <a:pt x="852" y="96"/>
                    </a:lnTo>
                    <a:lnTo>
                      <a:pt x="864" y="72"/>
                    </a:lnTo>
                    <a:lnTo>
                      <a:pt x="84" y="0"/>
                    </a:lnTo>
                  </a:path>
                </a:pathLst>
              </a:custGeom>
              <a:gradFill rotWithShape="0">
                <a:gsLst>
                  <a:gs pos="0">
                    <a:srgbClr val="012501"/>
                  </a:gs>
                  <a:gs pos="100000">
                    <a:srgbClr val="037C03"/>
                  </a:gs>
                </a:gsLst>
                <a:lin ang="18900000" scaled="1"/>
              </a:gradFill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5" name="Line 5"/>
              <p:cNvSpPr>
                <a:spLocks noChangeShapeType="1"/>
              </p:cNvSpPr>
              <p:nvPr/>
            </p:nvSpPr>
            <p:spPr bwMode="auto">
              <a:xfrm>
                <a:off x="890588" y="4310063"/>
                <a:ext cx="3251200" cy="1828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6" name="Freeform 9"/>
              <p:cNvSpPr>
                <a:spLocks/>
              </p:cNvSpPr>
              <p:nvPr/>
            </p:nvSpPr>
            <p:spPr bwMode="auto">
              <a:xfrm>
                <a:off x="1533525" y="1219200"/>
                <a:ext cx="2471738" cy="2462213"/>
              </a:xfrm>
              <a:custGeom>
                <a:avLst/>
                <a:gdLst>
                  <a:gd name="T0" fmla="*/ 0 w 1557"/>
                  <a:gd name="T1" fmla="*/ 2147483647 h 1551"/>
                  <a:gd name="T2" fmla="*/ 2147483647 w 1557"/>
                  <a:gd name="T3" fmla="*/ 0 h 1551"/>
                  <a:gd name="T4" fmla="*/ 0 60000 65536"/>
                  <a:gd name="T5" fmla="*/ 0 60000 65536"/>
                  <a:gd name="T6" fmla="*/ 0 w 1557"/>
                  <a:gd name="T7" fmla="*/ 0 h 1551"/>
                  <a:gd name="T8" fmla="*/ 1557 w 1557"/>
                  <a:gd name="T9" fmla="*/ 1551 h 15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57" h="1551">
                    <a:moveTo>
                      <a:pt x="0" y="1551"/>
                    </a:moveTo>
                    <a:lnTo>
                      <a:pt x="1557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" name="Freeform 10"/>
              <p:cNvSpPr>
                <a:spLocks/>
              </p:cNvSpPr>
              <p:nvPr/>
            </p:nvSpPr>
            <p:spPr bwMode="auto">
              <a:xfrm>
                <a:off x="687388" y="2490788"/>
                <a:ext cx="1220787" cy="2001837"/>
              </a:xfrm>
              <a:custGeom>
                <a:avLst/>
                <a:gdLst>
                  <a:gd name="T0" fmla="*/ 0 w 865"/>
                  <a:gd name="T1" fmla="*/ 2147483647 h 1261"/>
                  <a:gd name="T2" fmla="*/ 2147483647 w 865"/>
                  <a:gd name="T3" fmla="*/ 2147483647 h 1261"/>
                  <a:gd name="T4" fmla="*/ 2147483647 w 865"/>
                  <a:gd name="T5" fmla="*/ 2147483647 h 1261"/>
                  <a:gd name="T6" fmla="*/ 0 w 865"/>
                  <a:gd name="T7" fmla="*/ 0 h 1261"/>
                  <a:gd name="T8" fmla="*/ 0 w 865"/>
                  <a:gd name="T9" fmla="*/ 2147483647 h 1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5"/>
                  <a:gd name="T16" fmla="*/ 0 h 1261"/>
                  <a:gd name="T17" fmla="*/ 865 w 865"/>
                  <a:gd name="T18" fmla="*/ 1261 h 12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5" h="1261">
                    <a:moveTo>
                      <a:pt x="0" y="828"/>
                    </a:moveTo>
                    <a:lnTo>
                      <a:pt x="864" y="1260"/>
                    </a:lnTo>
                    <a:lnTo>
                      <a:pt x="864" y="414"/>
                    </a:lnTo>
                    <a:lnTo>
                      <a:pt x="0" y="0"/>
                    </a:lnTo>
                    <a:lnTo>
                      <a:pt x="0" y="828"/>
                    </a:lnTo>
                  </a:path>
                </a:pathLst>
              </a:custGeom>
              <a:solidFill>
                <a:srgbClr val="FEBF02"/>
              </a:solidFill>
              <a:ln w="12700" cap="rnd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8" name="Freeform 12"/>
              <p:cNvSpPr>
                <a:spLocks/>
              </p:cNvSpPr>
              <p:nvPr/>
            </p:nvSpPr>
            <p:spPr bwMode="auto">
              <a:xfrm>
                <a:off x="3990975" y="1219200"/>
                <a:ext cx="117475" cy="3910013"/>
              </a:xfrm>
              <a:custGeom>
                <a:avLst/>
                <a:gdLst>
                  <a:gd name="T0" fmla="*/ 2147483647 w 74"/>
                  <a:gd name="T1" fmla="*/ 2147483647 h 2463"/>
                  <a:gd name="T2" fmla="*/ 0 w 74"/>
                  <a:gd name="T3" fmla="*/ 0 h 2463"/>
                  <a:gd name="T4" fmla="*/ 0 60000 65536"/>
                  <a:gd name="T5" fmla="*/ 0 60000 65536"/>
                  <a:gd name="T6" fmla="*/ 0 w 74"/>
                  <a:gd name="T7" fmla="*/ 0 h 2463"/>
                  <a:gd name="T8" fmla="*/ 74 w 74"/>
                  <a:gd name="T9" fmla="*/ 2463 h 246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4" h="2463">
                    <a:moveTo>
                      <a:pt x="74" y="246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" name="Freeform 13"/>
              <p:cNvSpPr>
                <a:spLocks/>
              </p:cNvSpPr>
              <p:nvPr/>
            </p:nvSpPr>
            <p:spPr bwMode="auto">
              <a:xfrm>
                <a:off x="3803650" y="4208463"/>
                <a:ext cx="1220788" cy="2001837"/>
              </a:xfrm>
              <a:custGeom>
                <a:avLst/>
                <a:gdLst>
                  <a:gd name="T0" fmla="*/ 0 w 865"/>
                  <a:gd name="T1" fmla="*/ 2147483647 h 1261"/>
                  <a:gd name="T2" fmla="*/ 2147483647 w 865"/>
                  <a:gd name="T3" fmla="*/ 2147483647 h 1261"/>
                  <a:gd name="T4" fmla="*/ 2147483647 w 865"/>
                  <a:gd name="T5" fmla="*/ 2147483647 h 1261"/>
                  <a:gd name="T6" fmla="*/ 0 w 865"/>
                  <a:gd name="T7" fmla="*/ 0 h 1261"/>
                  <a:gd name="T8" fmla="*/ 0 w 865"/>
                  <a:gd name="T9" fmla="*/ 2147483647 h 1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5"/>
                  <a:gd name="T16" fmla="*/ 0 h 1261"/>
                  <a:gd name="T17" fmla="*/ 865 w 865"/>
                  <a:gd name="T18" fmla="*/ 1261 h 12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5" h="1261">
                    <a:moveTo>
                      <a:pt x="0" y="828"/>
                    </a:moveTo>
                    <a:lnTo>
                      <a:pt x="864" y="1260"/>
                    </a:lnTo>
                    <a:lnTo>
                      <a:pt x="864" y="414"/>
                    </a:lnTo>
                    <a:lnTo>
                      <a:pt x="0" y="0"/>
                    </a:lnTo>
                    <a:lnTo>
                      <a:pt x="0" y="828"/>
                    </a:lnTo>
                  </a:path>
                </a:pathLst>
              </a:custGeom>
              <a:solidFill>
                <a:srgbClr val="FEBF02"/>
              </a:solidFill>
              <a:ln w="12700" cap="rnd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0" name="Line 14"/>
              <p:cNvSpPr>
                <a:spLocks noChangeShapeType="1"/>
              </p:cNvSpPr>
              <p:nvPr/>
            </p:nvSpPr>
            <p:spPr bwMode="auto">
              <a:xfrm flipV="1">
                <a:off x="890588" y="3681413"/>
                <a:ext cx="642937" cy="628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11" name="Line 15"/>
              <p:cNvSpPr>
                <a:spLocks noChangeShapeType="1"/>
              </p:cNvSpPr>
              <p:nvPr/>
            </p:nvSpPr>
            <p:spPr bwMode="auto">
              <a:xfrm flipH="1" flipV="1">
                <a:off x="4108450" y="5129213"/>
                <a:ext cx="33338" cy="1009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12" name="Freeform 18"/>
              <p:cNvSpPr>
                <a:spLocks/>
              </p:cNvSpPr>
              <p:nvPr/>
            </p:nvSpPr>
            <p:spPr bwMode="auto">
              <a:xfrm>
                <a:off x="533400" y="4260850"/>
                <a:ext cx="393700" cy="387350"/>
              </a:xfrm>
              <a:custGeom>
                <a:avLst/>
                <a:gdLst>
                  <a:gd name="T0" fmla="*/ 0 w 279"/>
                  <a:gd name="T1" fmla="*/ 2147483647 h 244"/>
                  <a:gd name="T2" fmla="*/ 2147483647 w 279"/>
                  <a:gd name="T3" fmla="*/ 2147483647 h 244"/>
                  <a:gd name="T4" fmla="*/ 2147483647 w 279"/>
                  <a:gd name="T5" fmla="*/ 0 h 244"/>
                  <a:gd name="T6" fmla="*/ 2147483647 w 279"/>
                  <a:gd name="T7" fmla="*/ 2147483647 h 244"/>
                  <a:gd name="T8" fmla="*/ 2147483647 w 279"/>
                  <a:gd name="T9" fmla="*/ 2147483647 h 244"/>
                  <a:gd name="T10" fmla="*/ 2147483647 w 279"/>
                  <a:gd name="T11" fmla="*/ 2147483647 h 244"/>
                  <a:gd name="T12" fmla="*/ 2147483647 w 279"/>
                  <a:gd name="T13" fmla="*/ 2147483647 h 244"/>
                  <a:gd name="T14" fmla="*/ 2147483647 w 279"/>
                  <a:gd name="T15" fmla="*/ 2147483647 h 244"/>
                  <a:gd name="T16" fmla="*/ 2147483647 w 279"/>
                  <a:gd name="T17" fmla="*/ 2147483647 h 244"/>
                  <a:gd name="T18" fmla="*/ 2147483647 w 279"/>
                  <a:gd name="T19" fmla="*/ 2147483647 h 244"/>
                  <a:gd name="T20" fmla="*/ 2147483647 w 279"/>
                  <a:gd name="T21" fmla="*/ 2147483647 h 244"/>
                  <a:gd name="T22" fmla="*/ 2147483647 w 279"/>
                  <a:gd name="T23" fmla="*/ 2147483647 h 244"/>
                  <a:gd name="T24" fmla="*/ 2147483647 w 279"/>
                  <a:gd name="T25" fmla="*/ 2147483647 h 244"/>
                  <a:gd name="T26" fmla="*/ 2147483647 w 279"/>
                  <a:gd name="T27" fmla="*/ 2147483647 h 244"/>
                  <a:gd name="T28" fmla="*/ 2147483647 w 279"/>
                  <a:gd name="T29" fmla="*/ 2147483647 h 244"/>
                  <a:gd name="T30" fmla="*/ 2147483647 w 279"/>
                  <a:gd name="T31" fmla="*/ 2147483647 h 244"/>
                  <a:gd name="T32" fmla="*/ 2147483647 w 279"/>
                  <a:gd name="T33" fmla="*/ 2147483647 h 244"/>
                  <a:gd name="T34" fmla="*/ 2147483647 w 279"/>
                  <a:gd name="T35" fmla="*/ 2147483647 h 244"/>
                  <a:gd name="T36" fmla="*/ 2147483647 w 279"/>
                  <a:gd name="T37" fmla="*/ 2147483647 h 244"/>
                  <a:gd name="T38" fmla="*/ 2147483647 w 279"/>
                  <a:gd name="T39" fmla="*/ 2147483647 h 244"/>
                  <a:gd name="T40" fmla="*/ 2147483647 w 279"/>
                  <a:gd name="T41" fmla="*/ 2147483647 h 244"/>
                  <a:gd name="T42" fmla="*/ 2147483647 w 279"/>
                  <a:gd name="T43" fmla="*/ 2147483647 h 244"/>
                  <a:gd name="T44" fmla="*/ 2147483647 w 279"/>
                  <a:gd name="T45" fmla="*/ 2147483647 h 244"/>
                  <a:gd name="T46" fmla="*/ 2147483647 w 279"/>
                  <a:gd name="T47" fmla="*/ 2147483647 h 244"/>
                  <a:gd name="T48" fmla="*/ 2147483647 w 279"/>
                  <a:gd name="T49" fmla="*/ 2147483647 h 244"/>
                  <a:gd name="T50" fmla="*/ 2147483647 w 279"/>
                  <a:gd name="T51" fmla="*/ 2147483647 h 244"/>
                  <a:gd name="T52" fmla="*/ 2147483647 w 279"/>
                  <a:gd name="T53" fmla="*/ 2147483647 h 244"/>
                  <a:gd name="T54" fmla="*/ 2147483647 w 279"/>
                  <a:gd name="T55" fmla="*/ 2147483647 h 244"/>
                  <a:gd name="T56" fmla="*/ 2147483647 w 279"/>
                  <a:gd name="T57" fmla="*/ 2147483647 h 244"/>
                  <a:gd name="T58" fmla="*/ 2147483647 w 279"/>
                  <a:gd name="T59" fmla="*/ 2147483647 h 244"/>
                  <a:gd name="T60" fmla="*/ 2147483647 w 279"/>
                  <a:gd name="T61" fmla="*/ 2147483647 h 244"/>
                  <a:gd name="T62" fmla="*/ 2147483647 w 279"/>
                  <a:gd name="T63" fmla="*/ 2147483647 h 244"/>
                  <a:gd name="T64" fmla="*/ 2147483647 w 279"/>
                  <a:gd name="T65" fmla="*/ 2147483647 h 244"/>
                  <a:gd name="T66" fmla="*/ 2147483647 w 279"/>
                  <a:gd name="T67" fmla="*/ 2147483647 h 244"/>
                  <a:gd name="T68" fmla="*/ 2147483647 w 279"/>
                  <a:gd name="T69" fmla="*/ 2147483647 h 244"/>
                  <a:gd name="T70" fmla="*/ 2147483647 w 279"/>
                  <a:gd name="T71" fmla="*/ 2147483647 h 244"/>
                  <a:gd name="T72" fmla="*/ 2147483647 w 279"/>
                  <a:gd name="T73" fmla="*/ 2147483647 h 244"/>
                  <a:gd name="T74" fmla="*/ 2147483647 w 279"/>
                  <a:gd name="T75" fmla="*/ 2147483647 h 244"/>
                  <a:gd name="T76" fmla="*/ 2147483647 w 279"/>
                  <a:gd name="T77" fmla="*/ 2147483647 h 244"/>
                  <a:gd name="T78" fmla="*/ 2147483647 w 279"/>
                  <a:gd name="T79" fmla="*/ 2147483647 h 244"/>
                  <a:gd name="T80" fmla="*/ 2147483647 w 279"/>
                  <a:gd name="T81" fmla="*/ 2147483647 h 244"/>
                  <a:gd name="T82" fmla="*/ 2147483647 w 279"/>
                  <a:gd name="T83" fmla="*/ 2147483647 h 244"/>
                  <a:gd name="T84" fmla="*/ 2147483647 w 279"/>
                  <a:gd name="T85" fmla="*/ 2147483647 h 244"/>
                  <a:gd name="T86" fmla="*/ 2147483647 w 279"/>
                  <a:gd name="T87" fmla="*/ 2147483647 h 244"/>
                  <a:gd name="T88" fmla="*/ 2147483647 w 279"/>
                  <a:gd name="T89" fmla="*/ 2147483647 h 244"/>
                  <a:gd name="T90" fmla="*/ 2147483647 w 279"/>
                  <a:gd name="T91" fmla="*/ 2147483647 h 244"/>
                  <a:gd name="T92" fmla="*/ 2147483647 w 279"/>
                  <a:gd name="T93" fmla="*/ 2147483647 h 244"/>
                  <a:gd name="T94" fmla="*/ 2147483647 w 279"/>
                  <a:gd name="T95" fmla="*/ 2147483647 h 244"/>
                  <a:gd name="T96" fmla="*/ 2147483647 w 279"/>
                  <a:gd name="T97" fmla="*/ 2147483647 h 244"/>
                  <a:gd name="T98" fmla="*/ 0 w 279"/>
                  <a:gd name="T99" fmla="*/ 2147483647 h 2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9"/>
                  <a:gd name="T151" fmla="*/ 0 h 244"/>
                  <a:gd name="T152" fmla="*/ 279 w 279"/>
                  <a:gd name="T153" fmla="*/ 244 h 24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9" h="244">
                    <a:moveTo>
                      <a:pt x="0" y="243"/>
                    </a:moveTo>
                    <a:lnTo>
                      <a:pt x="148" y="1"/>
                    </a:lnTo>
                    <a:lnTo>
                      <a:pt x="160" y="0"/>
                    </a:lnTo>
                    <a:lnTo>
                      <a:pt x="167" y="3"/>
                    </a:lnTo>
                    <a:lnTo>
                      <a:pt x="168" y="6"/>
                    </a:lnTo>
                    <a:lnTo>
                      <a:pt x="173" y="5"/>
                    </a:lnTo>
                    <a:lnTo>
                      <a:pt x="177" y="9"/>
                    </a:lnTo>
                    <a:lnTo>
                      <a:pt x="182" y="7"/>
                    </a:lnTo>
                    <a:lnTo>
                      <a:pt x="184" y="12"/>
                    </a:lnTo>
                    <a:lnTo>
                      <a:pt x="190" y="13"/>
                    </a:lnTo>
                    <a:lnTo>
                      <a:pt x="196" y="14"/>
                    </a:lnTo>
                    <a:lnTo>
                      <a:pt x="201" y="15"/>
                    </a:lnTo>
                    <a:lnTo>
                      <a:pt x="205" y="19"/>
                    </a:lnTo>
                    <a:lnTo>
                      <a:pt x="210" y="20"/>
                    </a:lnTo>
                    <a:lnTo>
                      <a:pt x="215" y="23"/>
                    </a:lnTo>
                    <a:lnTo>
                      <a:pt x="222" y="25"/>
                    </a:lnTo>
                    <a:lnTo>
                      <a:pt x="226" y="29"/>
                    </a:lnTo>
                    <a:lnTo>
                      <a:pt x="229" y="32"/>
                    </a:lnTo>
                    <a:lnTo>
                      <a:pt x="231" y="36"/>
                    </a:lnTo>
                    <a:lnTo>
                      <a:pt x="235" y="39"/>
                    </a:lnTo>
                    <a:lnTo>
                      <a:pt x="238" y="45"/>
                    </a:lnTo>
                    <a:lnTo>
                      <a:pt x="242" y="46"/>
                    </a:lnTo>
                    <a:lnTo>
                      <a:pt x="248" y="55"/>
                    </a:lnTo>
                    <a:lnTo>
                      <a:pt x="249" y="58"/>
                    </a:lnTo>
                    <a:lnTo>
                      <a:pt x="255" y="63"/>
                    </a:lnTo>
                    <a:lnTo>
                      <a:pt x="256" y="67"/>
                    </a:lnTo>
                    <a:lnTo>
                      <a:pt x="261" y="71"/>
                    </a:lnTo>
                    <a:lnTo>
                      <a:pt x="261" y="75"/>
                    </a:lnTo>
                    <a:lnTo>
                      <a:pt x="264" y="81"/>
                    </a:lnTo>
                    <a:lnTo>
                      <a:pt x="264" y="86"/>
                    </a:lnTo>
                    <a:lnTo>
                      <a:pt x="266" y="90"/>
                    </a:lnTo>
                    <a:lnTo>
                      <a:pt x="266" y="95"/>
                    </a:lnTo>
                    <a:lnTo>
                      <a:pt x="268" y="99"/>
                    </a:lnTo>
                    <a:lnTo>
                      <a:pt x="267" y="103"/>
                    </a:lnTo>
                    <a:lnTo>
                      <a:pt x="268" y="109"/>
                    </a:lnTo>
                    <a:lnTo>
                      <a:pt x="269" y="113"/>
                    </a:lnTo>
                    <a:lnTo>
                      <a:pt x="273" y="119"/>
                    </a:lnTo>
                    <a:lnTo>
                      <a:pt x="274" y="124"/>
                    </a:lnTo>
                    <a:lnTo>
                      <a:pt x="275" y="128"/>
                    </a:lnTo>
                    <a:lnTo>
                      <a:pt x="276" y="134"/>
                    </a:lnTo>
                    <a:lnTo>
                      <a:pt x="277" y="138"/>
                    </a:lnTo>
                    <a:lnTo>
                      <a:pt x="277" y="143"/>
                    </a:lnTo>
                    <a:lnTo>
                      <a:pt x="277" y="147"/>
                    </a:lnTo>
                    <a:lnTo>
                      <a:pt x="274" y="153"/>
                    </a:lnTo>
                    <a:lnTo>
                      <a:pt x="276" y="156"/>
                    </a:lnTo>
                    <a:lnTo>
                      <a:pt x="277" y="162"/>
                    </a:lnTo>
                    <a:lnTo>
                      <a:pt x="278" y="167"/>
                    </a:lnTo>
                    <a:lnTo>
                      <a:pt x="275" y="172"/>
                    </a:lnTo>
                    <a:lnTo>
                      <a:pt x="271" y="181"/>
                    </a:lnTo>
                    <a:lnTo>
                      <a:pt x="0" y="243"/>
                    </a:lnTo>
                  </a:path>
                </a:pathLst>
              </a:custGeom>
              <a:noFill/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" name="Arc 19"/>
              <p:cNvSpPr>
                <a:spLocks/>
              </p:cNvSpPr>
              <p:nvPr/>
            </p:nvSpPr>
            <p:spPr bwMode="auto">
              <a:xfrm rot="720000">
                <a:off x="733425" y="4276725"/>
                <a:ext cx="211138" cy="236538"/>
              </a:xfrm>
              <a:custGeom>
                <a:avLst/>
                <a:gdLst>
                  <a:gd name="T0" fmla="*/ 0 w 21745"/>
                  <a:gd name="T1" fmla="*/ 0 h 21600"/>
                  <a:gd name="T2" fmla="*/ 2147483647 w 21745"/>
                  <a:gd name="T3" fmla="*/ 2147483647 h 21600"/>
                  <a:gd name="T4" fmla="*/ 1179876122 w 21745"/>
                  <a:gd name="T5" fmla="*/ 2147483647 h 21600"/>
                  <a:gd name="T6" fmla="*/ 0 60000 65536"/>
                  <a:gd name="T7" fmla="*/ 0 60000 65536"/>
                  <a:gd name="T8" fmla="*/ 0 60000 65536"/>
                  <a:gd name="T9" fmla="*/ 0 w 21745"/>
                  <a:gd name="T10" fmla="*/ 0 h 21600"/>
                  <a:gd name="T11" fmla="*/ 21745 w 2174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45" h="21600" fill="none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</a:path>
                  <a:path w="21745" h="21600" stroke="0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  <a:lnTo>
                      <a:pt x="145" y="2160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14" name="Line 20"/>
              <p:cNvSpPr>
                <a:spLocks noChangeShapeType="1"/>
              </p:cNvSpPr>
              <p:nvPr/>
            </p:nvSpPr>
            <p:spPr bwMode="auto">
              <a:xfrm flipH="1">
                <a:off x="533400" y="4095750"/>
                <a:ext cx="303213" cy="550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15" name="Oval 21"/>
              <p:cNvSpPr>
                <a:spLocks noChangeArrowheads="1"/>
              </p:cNvSpPr>
              <p:nvPr/>
            </p:nvSpPr>
            <p:spPr bwMode="auto">
              <a:xfrm rot="19740000">
                <a:off x="811213" y="4281488"/>
                <a:ext cx="100012" cy="19843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16" name="Line 22"/>
              <p:cNvSpPr>
                <a:spLocks noChangeShapeType="1"/>
              </p:cNvSpPr>
              <p:nvPr/>
            </p:nvSpPr>
            <p:spPr bwMode="auto">
              <a:xfrm flipV="1">
                <a:off x="533400" y="4502150"/>
                <a:ext cx="555625" cy="1444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17" name="Freeform 23"/>
              <p:cNvSpPr>
                <a:spLocks/>
              </p:cNvSpPr>
              <p:nvPr/>
            </p:nvSpPr>
            <p:spPr bwMode="auto">
              <a:xfrm>
                <a:off x="3784600" y="6089650"/>
                <a:ext cx="393700" cy="387350"/>
              </a:xfrm>
              <a:custGeom>
                <a:avLst/>
                <a:gdLst>
                  <a:gd name="T0" fmla="*/ 0 w 279"/>
                  <a:gd name="T1" fmla="*/ 2147483647 h 244"/>
                  <a:gd name="T2" fmla="*/ 2147483647 w 279"/>
                  <a:gd name="T3" fmla="*/ 2147483647 h 244"/>
                  <a:gd name="T4" fmla="*/ 2147483647 w 279"/>
                  <a:gd name="T5" fmla="*/ 0 h 244"/>
                  <a:gd name="T6" fmla="*/ 2147483647 w 279"/>
                  <a:gd name="T7" fmla="*/ 2147483647 h 244"/>
                  <a:gd name="T8" fmla="*/ 2147483647 w 279"/>
                  <a:gd name="T9" fmla="*/ 2147483647 h 244"/>
                  <a:gd name="T10" fmla="*/ 2147483647 w 279"/>
                  <a:gd name="T11" fmla="*/ 2147483647 h 244"/>
                  <a:gd name="T12" fmla="*/ 2147483647 w 279"/>
                  <a:gd name="T13" fmla="*/ 2147483647 h 244"/>
                  <a:gd name="T14" fmla="*/ 2147483647 w 279"/>
                  <a:gd name="T15" fmla="*/ 2147483647 h 244"/>
                  <a:gd name="T16" fmla="*/ 2147483647 w 279"/>
                  <a:gd name="T17" fmla="*/ 2147483647 h 244"/>
                  <a:gd name="T18" fmla="*/ 2147483647 w 279"/>
                  <a:gd name="T19" fmla="*/ 2147483647 h 244"/>
                  <a:gd name="T20" fmla="*/ 2147483647 w 279"/>
                  <a:gd name="T21" fmla="*/ 2147483647 h 244"/>
                  <a:gd name="T22" fmla="*/ 2147483647 w 279"/>
                  <a:gd name="T23" fmla="*/ 2147483647 h 244"/>
                  <a:gd name="T24" fmla="*/ 2147483647 w 279"/>
                  <a:gd name="T25" fmla="*/ 2147483647 h 244"/>
                  <a:gd name="T26" fmla="*/ 2147483647 w 279"/>
                  <a:gd name="T27" fmla="*/ 2147483647 h 244"/>
                  <a:gd name="T28" fmla="*/ 2147483647 w 279"/>
                  <a:gd name="T29" fmla="*/ 2147483647 h 244"/>
                  <a:gd name="T30" fmla="*/ 2147483647 w 279"/>
                  <a:gd name="T31" fmla="*/ 2147483647 h 244"/>
                  <a:gd name="T32" fmla="*/ 2147483647 w 279"/>
                  <a:gd name="T33" fmla="*/ 2147483647 h 244"/>
                  <a:gd name="T34" fmla="*/ 2147483647 w 279"/>
                  <a:gd name="T35" fmla="*/ 2147483647 h 244"/>
                  <a:gd name="T36" fmla="*/ 2147483647 w 279"/>
                  <a:gd name="T37" fmla="*/ 2147483647 h 244"/>
                  <a:gd name="T38" fmla="*/ 2147483647 w 279"/>
                  <a:gd name="T39" fmla="*/ 2147483647 h 244"/>
                  <a:gd name="T40" fmla="*/ 2147483647 w 279"/>
                  <a:gd name="T41" fmla="*/ 2147483647 h 244"/>
                  <a:gd name="T42" fmla="*/ 2147483647 w 279"/>
                  <a:gd name="T43" fmla="*/ 2147483647 h 244"/>
                  <a:gd name="T44" fmla="*/ 2147483647 w 279"/>
                  <a:gd name="T45" fmla="*/ 2147483647 h 244"/>
                  <a:gd name="T46" fmla="*/ 2147483647 w 279"/>
                  <a:gd name="T47" fmla="*/ 2147483647 h 244"/>
                  <a:gd name="T48" fmla="*/ 2147483647 w 279"/>
                  <a:gd name="T49" fmla="*/ 2147483647 h 244"/>
                  <a:gd name="T50" fmla="*/ 2147483647 w 279"/>
                  <a:gd name="T51" fmla="*/ 2147483647 h 244"/>
                  <a:gd name="T52" fmla="*/ 2147483647 w 279"/>
                  <a:gd name="T53" fmla="*/ 2147483647 h 244"/>
                  <a:gd name="T54" fmla="*/ 2147483647 w 279"/>
                  <a:gd name="T55" fmla="*/ 2147483647 h 244"/>
                  <a:gd name="T56" fmla="*/ 2147483647 w 279"/>
                  <a:gd name="T57" fmla="*/ 2147483647 h 244"/>
                  <a:gd name="T58" fmla="*/ 2147483647 w 279"/>
                  <a:gd name="T59" fmla="*/ 2147483647 h 244"/>
                  <a:gd name="T60" fmla="*/ 2147483647 w 279"/>
                  <a:gd name="T61" fmla="*/ 2147483647 h 244"/>
                  <a:gd name="T62" fmla="*/ 2147483647 w 279"/>
                  <a:gd name="T63" fmla="*/ 2147483647 h 244"/>
                  <a:gd name="T64" fmla="*/ 2147483647 w 279"/>
                  <a:gd name="T65" fmla="*/ 2147483647 h 244"/>
                  <a:gd name="T66" fmla="*/ 2147483647 w 279"/>
                  <a:gd name="T67" fmla="*/ 2147483647 h 244"/>
                  <a:gd name="T68" fmla="*/ 2147483647 w 279"/>
                  <a:gd name="T69" fmla="*/ 2147483647 h 244"/>
                  <a:gd name="T70" fmla="*/ 2147483647 w 279"/>
                  <a:gd name="T71" fmla="*/ 2147483647 h 244"/>
                  <a:gd name="T72" fmla="*/ 2147483647 w 279"/>
                  <a:gd name="T73" fmla="*/ 2147483647 h 244"/>
                  <a:gd name="T74" fmla="*/ 2147483647 w 279"/>
                  <a:gd name="T75" fmla="*/ 2147483647 h 244"/>
                  <a:gd name="T76" fmla="*/ 2147483647 w 279"/>
                  <a:gd name="T77" fmla="*/ 2147483647 h 244"/>
                  <a:gd name="T78" fmla="*/ 2147483647 w 279"/>
                  <a:gd name="T79" fmla="*/ 2147483647 h 244"/>
                  <a:gd name="T80" fmla="*/ 2147483647 w 279"/>
                  <a:gd name="T81" fmla="*/ 2147483647 h 244"/>
                  <a:gd name="T82" fmla="*/ 2147483647 w 279"/>
                  <a:gd name="T83" fmla="*/ 2147483647 h 244"/>
                  <a:gd name="T84" fmla="*/ 2147483647 w 279"/>
                  <a:gd name="T85" fmla="*/ 2147483647 h 244"/>
                  <a:gd name="T86" fmla="*/ 2147483647 w 279"/>
                  <a:gd name="T87" fmla="*/ 2147483647 h 244"/>
                  <a:gd name="T88" fmla="*/ 2147483647 w 279"/>
                  <a:gd name="T89" fmla="*/ 2147483647 h 244"/>
                  <a:gd name="T90" fmla="*/ 2147483647 w 279"/>
                  <a:gd name="T91" fmla="*/ 2147483647 h 244"/>
                  <a:gd name="T92" fmla="*/ 2147483647 w 279"/>
                  <a:gd name="T93" fmla="*/ 2147483647 h 244"/>
                  <a:gd name="T94" fmla="*/ 2147483647 w 279"/>
                  <a:gd name="T95" fmla="*/ 2147483647 h 244"/>
                  <a:gd name="T96" fmla="*/ 2147483647 w 279"/>
                  <a:gd name="T97" fmla="*/ 2147483647 h 244"/>
                  <a:gd name="T98" fmla="*/ 0 w 279"/>
                  <a:gd name="T99" fmla="*/ 2147483647 h 2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9"/>
                  <a:gd name="T151" fmla="*/ 0 h 244"/>
                  <a:gd name="T152" fmla="*/ 279 w 279"/>
                  <a:gd name="T153" fmla="*/ 244 h 24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9" h="244">
                    <a:moveTo>
                      <a:pt x="0" y="243"/>
                    </a:moveTo>
                    <a:lnTo>
                      <a:pt x="148" y="1"/>
                    </a:lnTo>
                    <a:lnTo>
                      <a:pt x="160" y="0"/>
                    </a:lnTo>
                    <a:lnTo>
                      <a:pt x="167" y="3"/>
                    </a:lnTo>
                    <a:lnTo>
                      <a:pt x="168" y="6"/>
                    </a:lnTo>
                    <a:lnTo>
                      <a:pt x="173" y="5"/>
                    </a:lnTo>
                    <a:lnTo>
                      <a:pt x="177" y="9"/>
                    </a:lnTo>
                    <a:lnTo>
                      <a:pt x="182" y="7"/>
                    </a:lnTo>
                    <a:lnTo>
                      <a:pt x="184" y="12"/>
                    </a:lnTo>
                    <a:lnTo>
                      <a:pt x="190" y="13"/>
                    </a:lnTo>
                    <a:lnTo>
                      <a:pt x="196" y="14"/>
                    </a:lnTo>
                    <a:lnTo>
                      <a:pt x="201" y="15"/>
                    </a:lnTo>
                    <a:lnTo>
                      <a:pt x="205" y="19"/>
                    </a:lnTo>
                    <a:lnTo>
                      <a:pt x="210" y="20"/>
                    </a:lnTo>
                    <a:lnTo>
                      <a:pt x="215" y="23"/>
                    </a:lnTo>
                    <a:lnTo>
                      <a:pt x="222" y="25"/>
                    </a:lnTo>
                    <a:lnTo>
                      <a:pt x="226" y="29"/>
                    </a:lnTo>
                    <a:lnTo>
                      <a:pt x="229" y="32"/>
                    </a:lnTo>
                    <a:lnTo>
                      <a:pt x="231" y="36"/>
                    </a:lnTo>
                    <a:lnTo>
                      <a:pt x="235" y="39"/>
                    </a:lnTo>
                    <a:lnTo>
                      <a:pt x="238" y="45"/>
                    </a:lnTo>
                    <a:lnTo>
                      <a:pt x="242" y="46"/>
                    </a:lnTo>
                    <a:lnTo>
                      <a:pt x="248" y="55"/>
                    </a:lnTo>
                    <a:lnTo>
                      <a:pt x="249" y="58"/>
                    </a:lnTo>
                    <a:lnTo>
                      <a:pt x="255" y="63"/>
                    </a:lnTo>
                    <a:lnTo>
                      <a:pt x="256" y="67"/>
                    </a:lnTo>
                    <a:lnTo>
                      <a:pt x="261" y="71"/>
                    </a:lnTo>
                    <a:lnTo>
                      <a:pt x="261" y="75"/>
                    </a:lnTo>
                    <a:lnTo>
                      <a:pt x="264" y="81"/>
                    </a:lnTo>
                    <a:lnTo>
                      <a:pt x="264" y="86"/>
                    </a:lnTo>
                    <a:lnTo>
                      <a:pt x="266" y="90"/>
                    </a:lnTo>
                    <a:lnTo>
                      <a:pt x="266" y="95"/>
                    </a:lnTo>
                    <a:lnTo>
                      <a:pt x="268" y="99"/>
                    </a:lnTo>
                    <a:lnTo>
                      <a:pt x="267" y="103"/>
                    </a:lnTo>
                    <a:lnTo>
                      <a:pt x="268" y="109"/>
                    </a:lnTo>
                    <a:lnTo>
                      <a:pt x="269" y="113"/>
                    </a:lnTo>
                    <a:lnTo>
                      <a:pt x="273" y="119"/>
                    </a:lnTo>
                    <a:lnTo>
                      <a:pt x="274" y="124"/>
                    </a:lnTo>
                    <a:lnTo>
                      <a:pt x="275" y="128"/>
                    </a:lnTo>
                    <a:lnTo>
                      <a:pt x="276" y="134"/>
                    </a:lnTo>
                    <a:lnTo>
                      <a:pt x="277" y="138"/>
                    </a:lnTo>
                    <a:lnTo>
                      <a:pt x="277" y="143"/>
                    </a:lnTo>
                    <a:lnTo>
                      <a:pt x="277" y="147"/>
                    </a:lnTo>
                    <a:lnTo>
                      <a:pt x="274" y="153"/>
                    </a:lnTo>
                    <a:lnTo>
                      <a:pt x="276" y="156"/>
                    </a:lnTo>
                    <a:lnTo>
                      <a:pt x="277" y="162"/>
                    </a:lnTo>
                    <a:lnTo>
                      <a:pt x="278" y="167"/>
                    </a:lnTo>
                    <a:lnTo>
                      <a:pt x="275" y="172"/>
                    </a:lnTo>
                    <a:lnTo>
                      <a:pt x="271" y="181"/>
                    </a:lnTo>
                    <a:lnTo>
                      <a:pt x="0" y="243"/>
                    </a:lnTo>
                  </a:path>
                </a:pathLst>
              </a:custGeom>
              <a:noFill/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8" name="Arc 24"/>
              <p:cNvSpPr>
                <a:spLocks/>
              </p:cNvSpPr>
              <p:nvPr/>
            </p:nvSpPr>
            <p:spPr bwMode="auto">
              <a:xfrm rot="720000">
                <a:off x="3984625" y="6105525"/>
                <a:ext cx="211138" cy="236538"/>
              </a:xfrm>
              <a:custGeom>
                <a:avLst/>
                <a:gdLst>
                  <a:gd name="T0" fmla="*/ 0 w 21745"/>
                  <a:gd name="T1" fmla="*/ 0 h 21600"/>
                  <a:gd name="T2" fmla="*/ 2147483647 w 21745"/>
                  <a:gd name="T3" fmla="*/ 2147483647 h 21600"/>
                  <a:gd name="T4" fmla="*/ 1179876122 w 21745"/>
                  <a:gd name="T5" fmla="*/ 2147483647 h 21600"/>
                  <a:gd name="T6" fmla="*/ 0 60000 65536"/>
                  <a:gd name="T7" fmla="*/ 0 60000 65536"/>
                  <a:gd name="T8" fmla="*/ 0 60000 65536"/>
                  <a:gd name="T9" fmla="*/ 0 w 21745"/>
                  <a:gd name="T10" fmla="*/ 0 h 21600"/>
                  <a:gd name="T11" fmla="*/ 21745 w 2174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45" h="21600" fill="none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</a:path>
                  <a:path w="21745" h="21600" stroke="0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  <a:lnTo>
                      <a:pt x="145" y="2160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19" name="Line 25"/>
              <p:cNvSpPr>
                <a:spLocks noChangeShapeType="1"/>
              </p:cNvSpPr>
              <p:nvPr/>
            </p:nvSpPr>
            <p:spPr bwMode="auto">
              <a:xfrm flipH="1">
                <a:off x="3784600" y="5924550"/>
                <a:ext cx="303213" cy="550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" name="Oval 26"/>
              <p:cNvSpPr>
                <a:spLocks noChangeArrowheads="1"/>
              </p:cNvSpPr>
              <p:nvPr/>
            </p:nvSpPr>
            <p:spPr bwMode="auto">
              <a:xfrm rot="19740000">
                <a:off x="4062413" y="6110288"/>
                <a:ext cx="100012" cy="19843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1" name="Line 27"/>
              <p:cNvSpPr>
                <a:spLocks noChangeShapeType="1"/>
              </p:cNvSpPr>
              <p:nvPr/>
            </p:nvSpPr>
            <p:spPr bwMode="auto">
              <a:xfrm flipV="1">
                <a:off x="3784600" y="6330950"/>
                <a:ext cx="555625" cy="1444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2" name="Oval 33"/>
              <p:cNvSpPr>
                <a:spLocks noChangeArrowheads="1"/>
              </p:cNvSpPr>
              <p:nvPr/>
            </p:nvSpPr>
            <p:spPr bwMode="auto">
              <a:xfrm>
                <a:off x="4079875" y="5081588"/>
                <a:ext cx="57150" cy="63500"/>
              </a:xfrm>
              <a:prstGeom prst="ellipse">
                <a:avLst/>
              </a:prstGeom>
              <a:solidFill>
                <a:srgbClr val="037C03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3" name="Oval 34"/>
              <p:cNvSpPr>
                <a:spLocks noChangeArrowheads="1"/>
              </p:cNvSpPr>
              <p:nvPr/>
            </p:nvSpPr>
            <p:spPr bwMode="auto">
              <a:xfrm>
                <a:off x="1504950" y="3649663"/>
                <a:ext cx="57150" cy="63500"/>
              </a:xfrm>
              <a:prstGeom prst="ellipse">
                <a:avLst/>
              </a:prstGeom>
              <a:solidFill>
                <a:srgbClr val="037C03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sp>
          <p:nvSpPr>
            <p:cNvPr id="50" name="Text Box 26"/>
            <p:cNvSpPr txBox="1">
              <a:spLocks noChangeArrowheads="1"/>
            </p:cNvSpPr>
            <p:nvPr/>
          </p:nvSpPr>
          <p:spPr bwMode="auto">
            <a:xfrm>
              <a:off x="3657600" y="753824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X</a:t>
              </a:r>
              <a:endParaRPr lang="en-US" sz="2000" baseline="-25000" dirty="0"/>
            </a:p>
          </p:txBody>
        </p:sp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>
              <a:off x="867127" y="3092412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x</a:t>
              </a:r>
              <a:endParaRPr lang="en-US" sz="2000" baseline="-25000" dirty="0"/>
            </a:p>
          </p:txBody>
        </p:sp>
        <p:sp>
          <p:nvSpPr>
            <p:cNvPr id="52" name="Text Box 26"/>
            <p:cNvSpPr txBox="1">
              <a:spLocks noChangeArrowheads="1"/>
            </p:cNvSpPr>
            <p:nvPr/>
          </p:nvSpPr>
          <p:spPr bwMode="auto">
            <a:xfrm>
              <a:off x="3520189" y="4479002"/>
              <a:ext cx="809272" cy="5470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x'</a:t>
              </a:r>
              <a:endParaRPr lang="en-US" sz="2000" baseline="-25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Content Placeholder 2">
            <a:extLst>
              <a:ext uri="{FF2B5EF4-FFF2-40B4-BE49-F238E27FC236}">
                <a16:creationId xmlns:a16="http://schemas.microsoft.com/office/drawing/2014/main" id="{A87825AD-B83B-2C8D-1F3F-BD7AA7ADA2A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81200" y="12017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 sz="2400"/>
              <a:t>Assume parallel optical axes, known camera parameters (i.e., calibrated cameras).  </a:t>
            </a:r>
            <a:r>
              <a:rPr lang="en-US" altLang="en-US" sz="2400" b="1"/>
              <a:t>What is expression for Z?</a:t>
            </a:r>
          </a:p>
        </p:txBody>
      </p:sp>
      <p:grpSp>
        <p:nvGrpSpPr>
          <p:cNvPr id="1029" name="Group 5">
            <a:extLst>
              <a:ext uri="{FF2B5EF4-FFF2-40B4-BE49-F238E27FC236}">
                <a16:creationId xmlns:a16="http://schemas.microsoft.com/office/drawing/2014/main" id="{5AB3EDC1-3A9E-1813-AA06-C1878318C8F2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078039"/>
            <a:ext cx="4751388" cy="3652837"/>
            <a:chOff x="0" y="2895600"/>
            <a:chExt cx="4751989" cy="3652838"/>
          </a:xfrm>
        </p:grpSpPr>
        <p:pic>
          <p:nvPicPr>
            <p:cNvPr id="1037" name="Picture 4">
              <a:extLst>
                <a:ext uri="{FF2B5EF4-FFF2-40B4-BE49-F238E27FC236}">
                  <a16:creationId xmlns:a16="http://schemas.microsoft.com/office/drawing/2014/main" id="{DF04AC60-294E-B811-C464-8668FC58D2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59" t="14497" r="15958" b="4240"/>
            <a:stretch>
              <a:fillRect/>
            </a:stretch>
          </p:blipFill>
          <p:spPr bwMode="auto">
            <a:xfrm>
              <a:off x="0" y="2895600"/>
              <a:ext cx="4751989" cy="3652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8" name="Rectangle 4">
              <a:extLst>
                <a:ext uri="{FF2B5EF4-FFF2-40B4-BE49-F238E27FC236}">
                  <a16:creationId xmlns:a16="http://schemas.microsoft.com/office/drawing/2014/main" id="{F931572D-9E56-A90F-E16B-17987B6CF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3048000"/>
              <a:ext cx="1600200" cy="533400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15C62F5-80F1-FF7D-1B3B-7E8BE9B98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203450"/>
            <a:ext cx="43434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</a:rPr>
              <a:t>Similar triangles </a:t>
            </a:r>
            <a:r>
              <a:rPr lang="en-US" altLang="en-US" sz="2400" dirty="0">
                <a:solidFill>
                  <a:srgbClr val="FF0000"/>
                </a:solidFill>
              </a:rPr>
              <a:t>(p</a:t>
            </a:r>
            <a:r>
              <a:rPr lang="en-US" altLang="en-US" sz="2400" baseline="-25000" dirty="0">
                <a:solidFill>
                  <a:srgbClr val="FF0000"/>
                </a:solidFill>
              </a:rPr>
              <a:t>l</a:t>
            </a:r>
            <a:r>
              <a:rPr lang="en-US" altLang="en-US" sz="2400" dirty="0">
                <a:solidFill>
                  <a:srgbClr val="FF0000"/>
                </a:solidFill>
              </a:rPr>
              <a:t>, P, p</a:t>
            </a:r>
            <a:r>
              <a:rPr lang="en-US" altLang="en-US" sz="2400" baseline="-25000" dirty="0">
                <a:solidFill>
                  <a:srgbClr val="FF0000"/>
                </a:solidFill>
              </a:rPr>
              <a:t>r</a:t>
            </a:r>
            <a:r>
              <a:rPr lang="en-US" altLang="en-US" sz="2400" dirty="0">
                <a:solidFill>
                  <a:srgbClr val="FF0000"/>
                </a:solidFill>
              </a:rPr>
              <a:t>) </a:t>
            </a:r>
            <a:r>
              <a:rPr lang="en-US" altLang="en-US" sz="2400" dirty="0">
                <a:solidFill>
                  <a:srgbClr val="000000"/>
                </a:solidFill>
              </a:rPr>
              <a:t>and </a:t>
            </a:r>
            <a:r>
              <a:rPr lang="en-US" altLang="en-US" sz="2400" dirty="0">
                <a:solidFill>
                  <a:srgbClr val="0070C0"/>
                </a:solidFill>
              </a:rPr>
              <a:t>(O</a:t>
            </a:r>
            <a:r>
              <a:rPr lang="en-US" altLang="en-US" sz="2400" baseline="-25000" dirty="0">
                <a:solidFill>
                  <a:srgbClr val="0070C0"/>
                </a:solidFill>
              </a:rPr>
              <a:t>l</a:t>
            </a:r>
            <a:r>
              <a:rPr lang="en-US" altLang="en-US" sz="2400" dirty="0">
                <a:solidFill>
                  <a:srgbClr val="0070C0"/>
                </a:solidFill>
              </a:rPr>
              <a:t>, P, O</a:t>
            </a:r>
            <a:r>
              <a:rPr lang="en-US" altLang="en-US" sz="2400" baseline="-25000" dirty="0">
                <a:solidFill>
                  <a:srgbClr val="0070C0"/>
                </a:solidFill>
              </a:rPr>
              <a:t>r</a:t>
            </a:r>
            <a:r>
              <a:rPr lang="en-US" altLang="en-US" sz="2400" dirty="0">
                <a:solidFill>
                  <a:srgbClr val="0070C0"/>
                </a:solidFill>
              </a:rPr>
              <a:t>):</a:t>
            </a:r>
          </a:p>
          <a:p>
            <a:endParaRPr lang="en-US" altLang="en-US" sz="2000" dirty="0">
              <a:solidFill>
                <a:srgbClr val="000000"/>
              </a:solidFill>
            </a:endParaRPr>
          </a:p>
          <a:p>
            <a:endParaRPr lang="en-US" altLang="en-US" sz="2800" dirty="0">
              <a:solidFill>
                <a:srgbClr val="000000"/>
              </a:solidFill>
            </a:endParaRPr>
          </a:p>
          <a:p>
            <a:r>
              <a:rPr lang="en-US" altLang="en-US" sz="2800" dirty="0">
                <a:solidFill>
                  <a:srgbClr val="000000"/>
                </a:solidFill>
              </a:rPr>
              <a:t>    </a:t>
            </a:r>
          </a:p>
          <a:p>
            <a:endParaRPr lang="en-US" altLang="en-US" sz="2800" dirty="0">
              <a:solidFill>
                <a:srgbClr val="000000"/>
              </a:solidFill>
            </a:endParaRPr>
          </a:p>
          <a:p>
            <a:endParaRPr lang="en-US" altLang="en-US" sz="2800" dirty="0">
              <a:solidFill>
                <a:srgbClr val="000000"/>
              </a:solidFill>
            </a:endParaRPr>
          </a:p>
          <a:p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24D41F2-D70C-C9DF-E0AA-D2CBCAB689AB}"/>
              </a:ext>
            </a:extLst>
          </p:cNvPr>
          <p:cNvSpPr txBox="1">
            <a:spLocks/>
          </p:cNvSpPr>
          <p:nvPr/>
        </p:nvSpPr>
        <p:spPr bwMode="auto">
          <a:xfrm>
            <a:off x="1828800" y="33338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000" kern="0" dirty="0">
                <a:solidFill>
                  <a:srgbClr val="000000"/>
                </a:solidFill>
              </a:rPr>
              <a:t>Geometry for a simple stereo system</a:t>
            </a: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777A91D8-9E50-C9D2-E212-51AC94476E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8814" y="3173413"/>
          <a:ext cx="2884487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529800" imgH="9652000" progId="Equation.3">
                  <p:embed/>
                </p:oleObj>
              </mc:Choice>
              <mc:Fallback>
                <p:oleObj name="Equation" r:id="rId4" imgW="22529800" imgH="9652000" progId="Equation.3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777A91D8-9E50-C9D2-E212-51AC94476E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814" y="3173413"/>
                        <a:ext cx="2884487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4082182-493B-E609-3954-5CE10DCF6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938" y="2516189"/>
            <a:ext cx="1890712" cy="1862137"/>
          </a:xfrm>
          <a:prstGeom prst="triangle">
            <a:avLst>
              <a:gd name="adj" fmla="val 5884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618E6FD4-8957-FA7B-CA99-BDF163CAD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2516188"/>
            <a:ext cx="2373312" cy="2336800"/>
          </a:xfrm>
          <a:prstGeom prst="triangle">
            <a:avLst>
              <a:gd name="adj" fmla="val 58819"/>
            </a:avLst>
          </a:prstGeom>
          <a:noFill/>
          <a:ln w="28575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graphicFrame>
        <p:nvGraphicFramePr>
          <p:cNvPr id="15" name="Object 25">
            <a:extLst>
              <a:ext uri="{FF2B5EF4-FFF2-40B4-BE49-F238E27FC236}">
                <a16:creationId xmlns:a16="http://schemas.microsoft.com/office/drawing/2014/main" id="{A5EB2E4C-8A65-F43D-25E2-DB6D4EA416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5114" y="4889501"/>
          <a:ext cx="2338387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4000" imgH="9944100" progId="Equation.3">
                  <p:embed/>
                </p:oleObj>
              </mc:Choice>
              <mc:Fallback>
                <p:oleObj name="Equation" r:id="rId6" imgW="19304000" imgH="9944100" progId="Equation.3">
                  <p:embed/>
                  <p:pic>
                    <p:nvPicPr>
                      <p:cNvPr id="15" name="Object 25">
                        <a:extLst>
                          <a:ext uri="{FF2B5EF4-FFF2-40B4-BE49-F238E27FC236}">
                            <a16:creationId xmlns:a16="http://schemas.microsoft.com/office/drawing/2014/main" id="{A5EB2E4C-8A65-F43D-25E2-DB6D4EA416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4" y="4889501"/>
                        <a:ext cx="2338387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73ED560F-0C38-B2A7-D7E0-39060D4B3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4439" y="5510214"/>
            <a:ext cx="1533525" cy="657225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958550-178D-F8E1-C980-E69F272E2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639" y="5875338"/>
            <a:ext cx="2263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0000"/>
                </a:solidFill>
              </a:rPr>
              <a:t>disparity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5BBCE0-7A77-D611-F257-8BE88F514CCA}"/>
              </a:ext>
            </a:extLst>
          </p:cNvPr>
          <p:cNvCxnSpPr>
            <a:cxnSpLocks noChangeShapeType="1"/>
            <a:endCxn id="16" idx="2"/>
          </p:cNvCxnSpPr>
          <p:nvPr/>
        </p:nvCxnSpPr>
        <p:spPr bwMode="auto">
          <a:xfrm flipV="1">
            <a:off x="7666038" y="5838826"/>
            <a:ext cx="1168400" cy="2190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8C1B1D7-4C60-80A0-0ECA-89F258541D05}"/>
              </a:ext>
            </a:extLst>
          </p:cNvPr>
          <p:cNvSpPr txBox="1"/>
          <p:nvPr/>
        </p:nvSpPr>
        <p:spPr>
          <a:xfrm>
            <a:off x="7008814" y="3124091"/>
            <a:ext cx="355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i="1" dirty="0"/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1F661-EAF2-9689-4CD7-F4E74428BD87}"/>
              </a:ext>
            </a:extLst>
          </p:cNvPr>
          <p:cNvSpPr txBox="1"/>
          <p:nvPr/>
        </p:nvSpPr>
        <p:spPr>
          <a:xfrm>
            <a:off x="9423401" y="3124091"/>
            <a:ext cx="355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i="1" dirty="0"/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CEE38-A7DA-8F1C-099C-477BC7D73268}"/>
              </a:ext>
            </a:extLst>
          </p:cNvPr>
          <p:cNvSpPr txBox="1"/>
          <p:nvPr/>
        </p:nvSpPr>
        <p:spPr>
          <a:xfrm>
            <a:off x="9359902" y="4797534"/>
            <a:ext cx="355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i="1" dirty="0"/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9B545-AFC1-0381-01BF-9067CFD45295}"/>
              </a:ext>
            </a:extLst>
          </p:cNvPr>
          <p:cNvSpPr txBox="1"/>
          <p:nvPr/>
        </p:nvSpPr>
        <p:spPr>
          <a:xfrm>
            <a:off x="3820221" y="5293688"/>
            <a:ext cx="260545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EE4DED3-9AE5-7F97-706F-1D218979B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Depth from disparity</a:t>
            </a:r>
          </a:p>
        </p:txBody>
      </p:sp>
      <p:sp>
        <p:nvSpPr>
          <p:cNvPr id="119811" name="Text Box 3">
            <a:extLst>
              <a:ext uri="{FF2B5EF4-FFF2-40B4-BE49-F238E27FC236}">
                <a16:creationId xmlns:a16="http://schemas.microsoft.com/office/drawing/2014/main" id="{7A233FDD-D8EE-2324-34B7-87812FAF9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1785938"/>
            <a:ext cx="1377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en-US">
                <a:solidFill>
                  <a:srgbClr val="000000"/>
                </a:solidFill>
              </a:rPr>
              <a:t>image I(x,y)</a:t>
            </a:r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119812" name="Text Box 4">
            <a:extLst>
              <a:ext uri="{FF2B5EF4-FFF2-40B4-BE49-F238E27FC236}">
                <a16:creationId xmlns:a16="http://schemas.microsoft.com/office/drawing/2014/main" id="{BDAD4F2D-FF7B-50D8-D598-A04E25DCF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5650" y="1749426"/>
            <a:ext cx="160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en-US">
                <a:solidFill>
                  <a:srgbClr val="000000"/>
                </a:solidFill>
              </a:rPr>
              <a:t>image I´(x´,y´)</a:t>
            </a:r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119813" name="Text Box 5">
            <a:extLst>
              <a:ext uri="{FF2B5EF4-FFF2-40B4-BE49-F238E27FC236}">
                <a16:creationId xmlns:a16="http://schemas.microsoft.com/office/drawing/2014/main" id="{1A7B7A61-29C1-F68F-20F9-EE9598609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795463"/>
            <a:ext cx="225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en-US">
                <a:solidFill>
                  <a:srgbClr val="000000"/>
                </a:solidFill>
              </a:rPr>
              <a:t>Disparity map D(x,y)</a:t>
            </a:r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119814" name="Text Box 6">
            <a:extLst>
              <a:ext uri="{FF2B5EF4-FFF2-40B4-BE49-F238E27FC236}">
                <a16:creationId xmlns:a16="http://schemas.microsoft.com/office/drawing/2014/main" id="{E491F469-3052-09FA-296D-83FA379C8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679951"/>
            <a:ext cx="2851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en-US" sz="2400">
                <a:solidFill>
                  <a:srgbClr val="000000"/>
                </a:solidFill>
              </a:rPr>
              <a:t>(x´,y´)=(x+D(x,y), y)</a:t>
            </a:r>
            <a:endParaRPr lang="en-GB" altLang="en-US" sz="2400">
              <a:solidFill>
                <a:srgbClr val="000000"/>
              </a:solidFill>
            </a:endParaRPr>
          </a:p>
        </p:txBody>
      </p:sp>
      <p:pic>
        <p:nvPicPr>
          <p:cNvPr id="119815" name="Picture 7" descr="rect_006_007_left">
            <a:extLst>
              <a:ext uri="{FF2B5EF4-FFF2-40B4-BE49-F238E27FC236}">
                <a16:creationId xmlns:a16="http://schemas.microsoft.com/office/drawing/2014/main" id="{58B40DFF-B240-BAEE-3C0B-C24FD804B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63" y="2433638"/>
            <a:ext cx="2741612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6" name="Picture 8" descr="rect_006_007_right">
            <a:extLst>
              <a:ext uri="{FF2B5EF4-FFF2-40B4-BE49-F238E27FC236}">
                <a16:creationId xmlns:a16="http://schemas.microsoft.com/office/drawing/2014/main" id="{DA4F24F3-EDAB-6C2F-990A-8718C744C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663" y="2422525"/>
            <a:ext cx="274955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7" name="Picture 9" descr="disparity_006_007_lr">
            <a:extLst>
              <a:ext uri="{FF2B5EF4-FFF2-40B4-BE49-F238E27FC236}">
                <a16:creationId xmlns:a16="http://schemas.microsoft.com/office/drawing/2014/main" id="{EBADD0B7-D7C4-49AB-8972-8DF762486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2425700"/>
            <a:ext cx="274955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8" name="Oval 10">
            <a:extLst>
              <a:ext uri="{FF2B5EF4-FFF2-40B4-BE49-F238E27FC236}">
                <a16:creationId xmlns:a16="http://schemas.microsoft.com/office/drawing/2014/main" id="{E37CE49A-F552-261F-46C6-88ADC7434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988" y="3430588"/>
            <a:ext cx="36512" cy="3651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9819" name="Oval 11">
            <a:extLst>
              <a:ext uri="{FF2B5EF4-FFF2-40B4-BE49-F238E27FC236}">
                <a16:creationId xmlns:a16="http://schemas.microsoft.com/office/drawing/2014/main" id="{9656977C-092A-CE1E-2F5D-94D986FDB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3394076"/>
            <a:ext cx="36512" cy="3651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9820" name="Oval 12">
            <a:extLst>
              <a:ext uri="{FF2B5EF4-FFF2-40B4-BE49-F238E27FC236}">
                <a16:creationId xmlns:a16="http://schemas.microsoft.com/office/drawing/2014/main" id="{B770CB6D-4EF9-EE0D-4611-C6E1C4C14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76" y="3413126"/>
            <a:ext cx="36513" cy="3651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9821" name="Freeform 13">
            <a:extLst>
              <a:ext uri="{FF2B5EF4-FFF2-40B4-BE49-F238E27FC236}">
                <a16:creationId xmlns:a16="http://schemas.microsoft.com/office/drawing/2014/main" id="{0F196977-426D-13E3-D4B9-CD04673374A3}"/>
              </a:ext>
            </a:extLst>
          </p:cNvPr>
          <p:cNvSpPr>
            <a:spLocks/>
          </p:cNvSpPr>
          <p:nvPr/>
        </p:nvSpPr>
        <p:spPr bwMode="auto">
          <a:xfrm>
            <a:off x="8469314" y="3429001"/>
            <a:ext cx="166687" cy="42863"/>
          </a:xfrm>
          <a:custGeom>
            <a:avLst/>
            <a:gdLst>
              <a:gd name="T0" fmla="*/ 0 w 131"/>
              <a:gd name="T1" fmla="*/ 0 h 1"/>
              <a:gd name="T2" fmla="*/ 166687 w 131"/>
              <a:gd name="T3" fmla="*/ 0 h 1"/>
              <a:gd name="T4" fmla="*/ 0 60000 65536"/>
              <a:gd name="T5" fmla="*/ 0 60000 65536"/>
              <a:gd name="T6" fmla="*/ 0 w 131"/>
              <a:gd name="T7" fmla="*/ 0 h 1"/>
              <a:gd name="T8" fmla="*/ 131 w 13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1" h="1">
                <a:moveTo>
                  <a:pt x="0" y="0"/>
                </a:moveTo>
                <a:lnTo>
                  <a:pt x="131" y="0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748CC-DDC1-6621-5160-E5D8510D7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562601"/>
            <a:ext cx="8458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So if we could find the </a:t>
            </a:r>
            <a:r>
              <a:rPr lang="en-US" altLang="en-US" sz="2400" b="1"/>
              <a:t>corresponding points </a:t>
            </a:r>
            <a:r>
              <a:rPr lang="en-US" altLang="en-US" sz="2400"/>
              <a:t>in two images, we could </a:t>
            </a:r>
            <a:r>
              <a:rPr lang="en-US" altLang="en-US" sz="2400" b="1"/>
              <a:t>estimate relative depth</a:t>
            </a:r>
            <a:r>
              <a:rPr lang="en-US" altLang="en-US" sz="240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Depth from Stereo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idx="1"/>
          </p:nvPr>
        </p:nvSpPr>
        <p:spPr>
          <a:xfrm>
            <a:off x="1981200" y="990601"/>
            <a:ext cx="8229600" cy="2667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Goal: recover depth by finding image coordinate x’ that corresponds to x</a:t>
            </a:r>
          </a:p>
          <a:p>
            <a:r>
              <a:rPr lang="en-US" dirty="0"/>
              <a:t>Sub-Problems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Calibration: How do we recover the relation of the cameras (if not already known)?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Correspondence: How do we search for the matching point x’?</a:t>
            </a:r>
          </a:p>
        </p:txBody>
      </p:sp>
      <p:grpSp>
        <p:nvGrpSpPr>
          <p:cNvPr id="54" name="Group 53"/>
          <p:cNvGrpSpPr>
            <a:grpSpLocks noChangeAspect="1"/>
          </p:cNvGrpSpPr>
          <p:nvPr/>
        </p:nvGrpSpPr>
        <p:grpSpPr>
          <a:xfrm>
            <a:off x="4885601" y="3711292"/>
            <a:ext cx="2240346" cy="3019888"/>
            <a:chOff x="609600" y="678584"/>
            <a:chExt cx="3905925" cy="5265016"/>
          </a:xfrm>
        </p:grpSpPr>
        <p:grpSp>
          <p:nvGrpSpPr>
            <p:cNvPr id="55" name="Group 54"/>
            <p:cNvGrpSpPr>
              <a:grpSpLocks noChangeAspect="1"/>
            </p:cNvGrpSpPr>
            <p:nvPr/>
          </p:nvGrpSpPr>
          <p:grpSpPr>
            <a:xfrm>
              <a:off x="609600" y="1143000"/>
              <a:ext cx="3905925" cy="4800600"/>
              <a:chOff x="533400" y="957263"/>
              <a:chExt cx="4491038" cy="5519737"/>
            </a:xfrm>
          </p:grpSpPr>
          <p:sp>
            <p:nvSpPr>
              <p:cNvPr id="59" name="Freeform 4"/>
              <p:cNvSpPr>
                <a:spLocks/>
              </p:cNvSpPr>
              <p:nvPr/>
            </p:nvSpPr>
            <p:spPr bwMode="auto">
              <a:xfrm>
                <a:off x="3481388" y="957263"/>
                <a:ext cx="1220787" cy="839787"/>
              </a:xfrm>
              <a:custGeom>
                <a:avLst/>
                <a:gdLst>
                  <a:gd name="T0" fmla="*/ 2147483647 w 865"/>
                  <a:gd name="T1" fmla="*/ 0 h 529"/>
                  <a:gd name="T2" fmla="*/ 2147483647 w 865"/>
                  <a:gd name="T3" fmla="*/ 2147483647 h 529"/>
                  <a:gd name="T4" fmla="*/ 2147483647 w 865"/>
                  <a:gd name="T5" fmla="*/ 2147483647 h 529"/>
                  <a:gd name="T6" fmla="*/ 2147483647 w 865"/>
                  <a:gd name="T7" fmla="*/ 2147483647 h 529"/>
                  <a:gd name="T8" fmla="*/ 2147483647 w 865"/>
                  <a:gd name="T9" fmla="*/ 2147483647 h 529"/>
                  <a:gd name="T10" fmla="*/ 2147483647 w 865"/>
                  <a:gd name="T11" fmla="*/ 2147483647 h 529"/>
                  <a:gd name="T12" fmla="*/ 2147483647 w 865"/>
                  <a:gd name="T13" fmla="*/ 2147483647 h 529"/>
                  <a:gd name="T14" fmla="*/ 2147483647 w 865"/>
                  <a:gd name="T15" fmla="*/ 2147483647 h 529"/>
                  <a:gd name="T16" fmla="*/ 2147483647 w 865"/>
                  <a:gd name="T17" fmla="*/ 2147483647 h 529"/>
                  <a:gd name="T18" fmla="*/ 0 w 865"/>
                  <a:gd name="T19" fmla="*/ 2147483647 h 529"/>
                  <a:gd name="T20" fmla="*/ 0 w 865"/>
                  <a:gd name="T21" fmla="*/ 2147483647 h 529"/>
                  <a:gd name="T22" fmla="*/ 0 w 865"/>
                  <a:gd name="T23" fmla="*/ 2147483647 h 529"/>
                  <a:gd name="T24" fmla="*/ 2147483647 w 865"/>
                  <a:gd name="T25" fmla="*/ 2147483647 h 529"/>
                  <a:gd name="T26" fmla="*/ 2147483647 w 865"/>
                  <a:gd name="T27" fmla="*/ 2147483647 h 529"/>
                  <a:gd name="T28" fmla="*/ 2147483647 w 865"/>
                  <a:gd name="T29" fmla="*/ 2147483647 h 529"/>
                  <a:gd name="T30" fmla="*/ 2147483647 w 865"/>
                  <a:gd name="T31" fmla="*/ 2147483647 h 529"/>
                  <a:gd name="T32" fmla="*/ 2147483647 w 865"/>
                  <a:gd name="T33" fmla="*/ 2147483647 h 529"/>
                  <a:gd name="T34" fmla="*/ 2147483647 w 865"/>
                  <a:gd name="T35" fmla="*/ 2147483647 h 529"/>
                  <a:gd name="T36" fmla="*/ 2147483647 w 865"/>
                  <a:gd name="T37" fmla="*/ 2147483647 h 529"/>
                  <a:gd name="T38" fmla="*/ 2147483647 w 865"/>
                  <a:gd name="T39" fmla="*/ 2147483647 h 529"/>
                  <a:gd name="T40" fmla="*/ 2147483647 w 865"/>
                  <a:gd name="T41" fmla="*/ 2147483647 h 529"/>
                  <a:gd name="T42" fmla="*/ 2147483647 w 865"/>
                  <a:gd name="T43" fmla="*/ 2147483647 h 529"/>
                  <a:gd name="T44" fmla="*/ 2147483647 w 865"/>
                  <a:gd name="T45" fmla="*/ 2147483647 h 529"/>
                  <a:gd name="T46" fmla="*/ 2147483647 w 865"/>
                  <a:gd name="T47" fmla="*/ 2147483647 h 529"/>
                  <a:gd name="T48" fmla="*/ 2147483647 w 865"/>
                  <a:gd name="T49" fmla="*/ 2147483647 h 529"/>
                  <a:gd name="T50" fmla="*/ 2147483647 w 865"/>
                  <a:gd name="T51" fmla="*/ 2147483647 h 529"/>
                  <a:gd name="T52" fmla="*/ 2147483647 w 865"/>
                  <a:gd name="T53" fmla="*/ 2147483647 h 529"/>
                  <a:gd name="T54" fmla="*/ 2147483647 w 865"/>
                  <a:gd name="T55" fmla="*/ 2147483647 h 529"/>
                  <a:gd name="T56" fmla="*/ 2147483647 w 865"/>
                  <a:gd name="T57" fmla="*/ 2147483647 h 529"/>
                  <a:gd name="T58" fmla="*/ 2147483647 w 865"/>
                  <a:gd name="T59" fmla="*/ 2147483647 h 529"/>
                  <a:gd name="T60" fmla="*/ 2147483647 w 865"/>
                  <a:gd name="T61" fmla="*/ 2147483647 h 529"/>
                  <a:gd name="T62" fmla="*/ 2147483647 w 865"/>
                  <a:gd name="T63" fmla="*/ 2147483647 h 529"/>
                  <a:gd name="T64" fmla="*/ 2147483647 w 865"/>
                  <a:gd name="T65" fmla="*/ 2147483647 h 529"/>
                  <a:gd name="T66" fmla="*/ 2147483647 w 865"/>
                  <a:gd name="T67" fmla="*/ 2147483647 h 529"/>
                  <a:gd name="T68" fmla="*/ 2147483647 w 865"/>
                  <a:gd name="T69" fmla="*/ 2147483647 h 529"/>
                  <a:gd name="T70" fmla="*/ 2147483647 w 865"/>
                  <a:gd name="T71" fmla="*/ 2147483647 h 529"/>
                  <a:gd name="T72" fmla="*/ 2147483647 w 865"/>
                  <a:gd name="T73" fmla="*/ 2147483647 h 529"/>
                  <a:gd name="T74" fmla="*/ 2147483647 w 865"/>
                  <a:gd name="T75" fmla="*/ 2147483647 h 529"/>
                  <a:gd name="T76" fmla="*/ 2147483647 w 865"/>
                  <a:gd name="T77" fmla="*/ 2147483647 h 529"/>
                  <a:gd name="T78" fmla="*/ 2147483647 w 865"/>
                  <a:gd name="T79" fmla="*/ 0 h 52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65"/>
                  <a:gd name="T121" fmla="*/ 0 h 529"/>
                  <a:gd name="T122" fmla="*/ 865 w 865"/>
                  <a:gd name="T123" fmla="*/ 529 h 52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65" h="529">
                    <a:moveTo>
                      <a:pt x="84" y="0"/>
                    </a:moveTo>
                    <a:lnTo>
                      <a:pt x="72" y="24"/>
                    </a:lnTo>
                    <a:lnTo>
                      <a:pt x="72" y="48"/>
                    </a:lnTo>
                    <a:lnTo>
                      <a:pt x="48" y="72"/>
                    </a:lnTo>
                    <a:lnTo>
                      <a:pt x="36" y="96"/>
                    </a:lnTo>
                    <a:lnTo>
                      <a:pt x="36" y="120"/>
                    </a:lnTo>
                    <a:lnTo>
                      <a:pt x="36" y="144"/>
                    </a:lnTo>
                    <a:lnTo>
                      <a:pt x="24" y="168"/>
                    </a:lnTo>
                    <a:lnTo>
                      <a:pt x="12" y="192"/>
                    </a:lnTo>
                    <a:lnTo>
                      <a:pt x="0" y="216"/>
                    </a:lnTo>
                    <a:lnTo>
                      <a:pt x="0" y="240"/>
                    </a:lnTo>
                    <a:lnTo>
                      <a:pt x="0" y="264"/>
                    </a:lnTo>
                    <a:lnTo>
                      <a:pt x="12" y="288"/>
                    </a:lnTo>
                    <a:lnTo>
                      <a:pt x="12" y="312"/>
                    </a:lnTo>
                    <a:lnTo>
                      <a:pt x="24" y="336"/>
                    </a:lnTo>
                    <a:lnTo>
                      <a:pt x="24" y="360"/>
                    </a:lnTo>
                    <a:lnTo>
                      <a:pt x="36" y="384"/>
                    </a:lnTo>
                    <a:lnTo>
                      <a:pt x="36" y="408"/>
                    </a:lnTo>
                    <a:lnTo>
                      <a:pt x="48" y="432"/>
                    </a:lnTo>
                    <a:lnTo>
                      <a:pt x="60" y="456"/>
                    </a:lnTo>
                    <a:lnTo>
                      <a:pt x="852" y="528"/>
                    </a:lnTo>
                    <a:lnTo>
                      <a:pt x="804" y="480"/>
                    </a:lnTo>
                    <a:lnTo>
                      <a:pt x="792" y="456"/>
                    </a:lnTo>
                    <a:lnTo>
                      <a:pt x="780" y="420"/>
                    </a:lnTo>
                    <a:lnTo>
                      <a:pt x="768" y="396"/>
                    </a:lnTo>
                    <a:lnTo>
                      <a:pt x="756" y="372"/>
                    </a:lnTo>
                    <a:lnTo>
                      <a:pt x="744" y="348"/>
                    </a:lnTo>
                    <a:lnTo>
                      <a:pt x="744" y="324"/>
                    </a:lnTo>
                    <a:lnTo>
                      <a:pt x="744" y="288"/>
                    </a:lnTo>
                    <a:lnTo>
                      <a:pt x="744" y="264"/>
                    </a:lnTo>
                    <a:lnTo>
                      <a:pt x="744" y="240"/>
                    </a:lnTo>
                    <a:lnTo>
                      <a:pt x="768" y="216"/>
                    </a:lnTo>
                    <a:lnTo>
                      <a:pt x="768" y="192"/>
                    </a:lnTo>
                    <a:lnTo>
                      <a:pt x="780" y="168"/>
                    </a:lnTo>
                    <a:lnTo>
                      <a:pt x="804" y="156"/>
                    </a:lnTo>
                    <a:lnTo>
                      <a:pt x="804" y="132"/>
                    </a:lnTo>
                    <a:lnTo>
                      <a:pt x="828" y="108"/>
                    </a:lnTo>
                    <a:lnTo>
                      <a:pt x="852" y="96"/>
                    </a:lnTo>
                    <a:lnTo>
                      <a:pt x="864" y="72"/>
                    </a:lnTo>
                    <a:lnTo>
                      <a:pt x="84" y="0"/>
                    </a:lnTo>
                  </a:path>
                </a:pathLst>
              </a:custGeom>
              <a:gradFill rotWithShape="0">
                <a:gsLst>
                  <a:gs pos="0">
                    <a:srgbClr val="012501"/>
                  </a:gs>
                  <a:gs pos="100000">
                    <a:srgbClr val="037C03"/>
                  </a:gs>
                </a:gsLst>
                <a:lin ang="18900000" scaled="1"/>
              </a:gradFill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60" name="Line 5"/>
              <p:cNvSpPr>
                <a:spLocks noChangeShapeType="1"/>
              </p:cNvSpPr>
              <p:nvPr/>
            </p:nvSpPr>
            <p:spPr bwMode="auto">
              <a:xfrm>
                <a:off x="890588" y="4310063"/>
                <a:ext cx="3251200" cy="1828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61" name="Freeform 9"/>
              <p:cNvSpPr>
                <a:spLocks/>
              </p:cNvSpPr>
              <p:nvPr/>
            </p:nvSpPr>
            <p:spPr bwMode="auto">
              <a:xfrm>
                <a:off x="1533525" y="1219200"/>
                <a:ext cx="2471738" cy="2462213"/>
              </a:xfrm>
              <a:custGeom>
                <a:avLst/>
                <a:gdLst>
                  <a:gd name="T0" fmla="*/ 0 w 1557"/>
                  <a:gd name="T1" fmla="*/ 2147483647 h 1551"/>
                  <a:gd name="T2" fmla="*/ 2147483647 w 1557"/>
                  <a:gd name="T3" fmla="*/ 0 h 1551"/>
                  <a:gd name="T4" fmla="*/ 0 60000 65536"/>
                  <a:gd name="T5" fmla="*/ 0 60000 65536"/>
                  <a:gd name="T6" fmla="*/ 0 w 1557"/>
                  <a:gd name="T7" fmla="*/ 0 h 1551"/>
                  <a:gd name="T8" fmla="*/ 1557 w 1557"/>
                  <a:gd name="T9" fmla="*/ 1551 h 15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57" h="1551">
                    <a:moveTo>
                      <a:pt x="0" y="1551"/>
                    </a:moveTo>
                    <a:lnTo>
                      <a:pt x="1557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62" name="Freeform 10"/>
              <p:cNvSpPr>
                <a:spLocks/>
              </p:cNvSpPr>
              <p:nvPr/>
            </p:nvSpPr>
            <p:spPr bwMode="auto">
              <a:xfrm>
                <a:off x="687388" y="2490788"/>
                <a:ext cx="1220787" cy="2001837"/>
              </a:xfrm>
              <a:custGeom>
                <a:avLst/>
                <a:gdLst>
                  <a:gd name="T0" fmla="*/ 0 w 865"/>
                  <a:gd name="T1" fmla="*/ 2147483647 h 1261"/>
                  <a:gd name="T2" fmla="*/ 2147483647 w 865"/>
                  <a:gd name="T3" fmla="*/ 2147483647 h 1261"/>
                  <a:gd name="T4" fmla="*/ 2147483647 w 865"/>
                  <a:gd name="T5" fmla="*/ 2147483647 h 1261"/>
                  <a:gd name="T6" fmla="*/ 0 w 865"/>
                  <a:gd name="T7" fmla="*/ 0 h 1261"/>
                  <a:gd name="T8" fmla="*/ 0 w 865"/>
                  <a:gd name="T9" fmla="*/ 2147483647 h 1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5"/>
                  <a:gd name="T16" fmla="*/ 0 h 1261"/>
                  <a:gd name="T17" fmla="*/ 865 w 865"/>
                  <a:gd name="T18" fmla="*/ 1261 h 12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5" h="1261">
                    <a:moveTo>
                      <a:pt x="0" y="828"/>
                    </a:moveTo>
                    <a:lnTo>
                      <a:pt x="864" y="1260"/>
                    </a:lnTo>
                    <a:lnTo>
                      <a:pt x="864" y="414"/>
                    </a:lnTo>
                    <a:lnTo>
                      <a:pt x="0" y="0"/>
                    </a:lnTo>
                    <a:lnTo>
                      <a:pt x="0" y="828"/>
                    </a:lnTo>
                  </a:path>
                </a:pathLst>
              </a:custGeom>
              <a:solidFill>
                <a:srgbClr val="FEBF02"/>
              </a:solidFill>
              <a:ln w="12700" cap="rnd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63" name="Freeform 12"/>
              <p:cNvSpPr>
                <a:spLocks/>
              </p:cNvSpPr>
              <p:nvPr/>
            </p:nvSpPr>
            <p:spPr bwMode="auto">
              <a:xfrm>
                <a:off x="3990975" y="1219200"/>
                <a:ext cx="117475" cy="3910013"/>
              </a:xfrm>
              <a:custGeom>
                <a:avLst/>
                <a:gdLst>
                  <a:gd name="T0" fmla="*/ 2147483647 w 74"/>
                  <a:gd name="T1" fmla="*/ 2147483647 h 2463"/>
                  <a:gd name="T2" fmla="*/ 0 w 74"/>
                  <a:gd name="T3" fmla="*/ 0 h 2463"/>
                  <a:gd name="T4" fmla="*/ 0 60000 65536"/>
                  <a:gd name="T5" fmla="*/ 0 60000 65536"/>
                  <a:gd name="T6" fmla="*/ 0 w 74"/>
                  <a:gd name="T7" fmla="*/ 0 h 2463"/>
                  <a:gd name="T8" fmla="*/ 74 w 74"/>
                  <a:gd name="T9" fmla="*/ 2463 h 246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4" h="2463">
                    <a:moveTo>
                      <a:pt x="74" y="246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64" name="Freeform 13"/>
              <p:cNvSpPr>
                <a:spLocks/>
              </p:cNvSpPr>
              <p:nvPr/>
            </p:nvSpPr>
            <p:spPr bwMode="auto">
              <a:xfrm>
                <a:off x="3803650" y="4208463"/>
                <a:ext cx="1220788" cy="2001837"/>
              </a:xfrm>
              <a:custGeom>
                <a:avLst/>
                <a:gdLst>
                  <a:gd name="T0" fmla="*/ 0 w 865"/>
                  <a:gd name="T1" fmla="*/ 2147483647 h 1261"/>
                  <a:gd name="T2" fmla="*/ 2147483647 w 865"/>
                  <a:gd name="T3" fmla="*/ 2147483647 h 1261"/>
                  <a:gd name="T4" fmla="*/ 2147483647 w 865"/>
                  <a:gd name="T5" fmla="*/ 2147483647 h 1261"/>
                  <a:gd name="T6" fmla="*/ 0 w 865"/>
                  <a:gd name="T7" fmla="*/ 0 h 1261"/>
                  <a:gd name="T8" fmla="*/ 0 w 865"/>
                  <a:gd name="T9" fmla="*/ 2147483647 h 1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5"/>
                  <a:gd name="T16" fmla="*/ 0 h 1261"/>
                  <a:gd name="T17" fmla="*/ 865 w 865"/>
                  <a:gd name="T18" fmla="*/ 1261 h 12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5" h="1261">
                    <a:moveTo>
                      <a:pt x="0" y="828"/>
                    </a:moveTo>
                    <a:lnTo>
                      <a:pt x="864" y="1260"/>
                    </a:lnTo>
                    <a:lnTo>
                      <a:pt x="864" y="414"/>
                    </a:lnTo>
                    <a:lnTo>
                      <a:pt x="0" y="0"/>
                    </a:lnTo>
                    <a:lnTo>
                      <a:pt x="0" y="828"/>
                    </a:lnTo>
                  </a:path>
                </a:pathLst>
              </a:custGeom>
              <a:solidFill>
                <a:srgbClr val="FEBF02"/>
              </a:solidFill>
              <a:ln w="12700" cap="rnd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890588" y="3681413"/>
                <a:ext cx="642937" cy="628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66" name="Line 15"/>
              <p:cNvSpPr>
                <a:spLocks noChangeShapeType="1"/>
              </p:cNvSpPr>
              <p:nvPr/>
            </p:nvSpPr>
            <p:spPr bwMode="auto">
              <a:xfrm flipH="1" flipV="1">
                <a:off x="4108450" y="5129213"/>
                <a:ext cx="33338" cy="1009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67" name="Freeform 18"/>
              <p:cNvSpPr>
                <a:spLocks/>
              </p:cNvSpPr>
              <p:nvPr/>
            </p:nvSpPr>
            <p:spPr bwMode="auto">
              <a:xfrm>
                <a:off x="533400" y="4260850"/>
                <a:ext cx="393700" cy="387350"/>
              </a:xfrm>
              <a:custGeom>
                <a:avLst/>
                <a:gdLst>
                  <a:gd name="T0" fmla="*/ 0 w 279"/>
                  <a:gd name="T1" fmla="*/ 2147483647 h 244"/>
                  <a:gd name="T2" fmla="*/ 2147483647 w 279"/>
                  <a:gd name="T3" fmla="*/ 2147483647 h 244"/>
                  <a:gd name="T4" fmla="*/ 2147483647 w 279"/>
                  <a:gd name="T5" fmla="*/ 0 h 244"/>
                  <a:gd name="T6" fmla="*/ 2147483647 w 279"/>
                  <a:gd name="T7" fmla="*/ 2147483647 h 244"/>
                  <a:gd name="T8" fmla="*/ 2147483647 w 279"/>
                  <a:gd name="T9" fmla="*/ 2147483647 h 244"/>
                  <a:gd name="T10" fmla="*/ 2147483647 w 279"/>
                  <a:gd name="T11" fmla="*/ 2147483647 h 244"/>
                  <a:gd name="T12" fmla="*/ 2147483647 w 279"/>
                  <a:gd name="T13" fmla="*/ 2147483647 h 244"/>
                  <a:gd name="T14" fmla="*/ 2147483647 w 279"/>
                  <a:gd name="T15" fmla="*/ 2147483647 h 244"/>
                  <a:gd name="T16" fmla="*/ 2147483647 w 279"/>
                  <a:gd name="T17" fmla="*/ 2147483647 h 244"/>
                  <a:gd name="T18" fmla="*/ 2147483647 w 279"/>
                  <a:gd name="T19" fmla="*/ 2147483647 h 244"/>
                  <a:gd name="T20" fmla="*/ 2147483647 w 279"/>
                  <a:gd name="T21" fmla="*/ 2147483647 h 244"/>
                  <a:gd name="T22" fmla="*/ 2147483647 w 279"/>
                  <a:gd name="T23" fmla="*/ 2147483647 h 244"/>
                  <a:gd name="T24" fmla="*/ 2147483647 w 279"/>
                  <a:gd name="T25" fmla="*/ 2147483647 h 244"/>
                  <a:gd name="T26" fmla="*/ 2147483647 w 279"/>
                  <a:gd name="T27" fmla="*/ 2147483647 h 244"/>
                  <a:gd name="T28" fmla="*/ 2147483647 w 279"/>
                  <a:gd name="T29" fmla="*/ 2147483647 h 244"/>
                  <a:gd name="T30" fmla="*/ 2147483647 w 279"/>
                  <a:gd name="T31" fmla="*/ 2147483647 h 244"/>
                  <a:gd name="T32" fmla="*/ 2147483647 w 279"/>
                  <a:gd name="T33" fmla="*/ 2147483647 h 244"/>
                  <a:gd name="T34" fmla="*/ 2147483647 w 279"/>
                  <a:gd name="T35" fmla="*/ 2147483647 h 244"/>
                  <a:gd name="T36" fmla="*/ 2147483647 w 279"/>
                  <a:gd name="T37" fmla="*/ 2147483647 h 244"/>
                  <a:gd name="T38" fmla="*/ 2147483647 w 279"/>
                  <a:gd name="T39" fmla="*/ 2147483647 h 244"/>
                  <a:gd name="T40" fmla="*/ 2147483647 w 279"/>
                  <a:gd name="T41" fmla="*/ 2147483647 h 244"/>
                  <a:gd name="T42" fmla="*/ 2147483647 w 279"/>
                  <a:gd name="T43" fmla="*/ 2147483647 h 244"/>
                  <a:gd name="T44" fmla="*/ 2147483647 w 279"/>
                  <a:gd name="T45" fmla="*/ 2147483647 h 244"/>
                  <a:gd name="T46" fmla="*/ 2147483647 w 279"/>
                  <a:gd name="T47" fmla="*/ 2147483647 h 244"/>
                  <a:gd name="T48" fmla="*/ 2147483647 w 279"/>
                  <a:gd name="T49" fmla="*/ 2147483647 h 244"/>
                  <a:gd name="T50" fmla="*/ 2147483647 w 279"/>
                  <a:gd name="T51" fmla="*/ 2147483647 h 244"/>
                  <a:gd name="T52" fmla="*/ 2147483647 w 279"/>
                  <a:gd name="T53" fmla="*/ 2147483647 h 244"/>
                  <a:gd name="T54" fmla="*/ 2147483647 w 279"/>
                  <a:gd name="T55" fmla="*/ 2147483647 h 244"/>
                  <a:gd name="T56" fmla="*/ 2147483647 w 279"/>
                  <a:gd name="T57" fmla="*/ 2147483647 h 244"/>
                  <a:gd name="T58" fmla="*/ 2147483647 w 279"/>
                  <a:gd name="T59" fmla="*/ 2147483647 h 244"/>
                  <a:gd name="T60" fmla="*/ 2147483647 w 279"/>
                  <a:gd name="T61" fmla="*/ 2147483647 h 244"/>
                  <a:gd name="T62" fmla="*/ 2147483647 w 279"/>
                  <a:gd name="T63" fmla="*/ 2147483647 h 244"/>
                  <a:gd name="T64" fmla="*/ 2147483647 w 279"/>
                  <a:gd name="T65" fmla="*/ 2147483647 h 244"/>
                  <a:gd name="T66" fmla="*/ 2147483647 w 279"/>
                  <a:gd name="T67" fmla="*/ 2147483647 h 244"/>
                  <a:gd name="T68" fmla="*/ 2147483647 w 279"/>
                  <a:gd name="T69" fmla="*/ 2147483647 h 244"/>
                  <a:gd name="T70" fmla="*/ 2147483647 w 279"/>
                  <a:gd name="T71" fmla="*/ 2147483647 h 244"/>
                  <a:gd name="T72" fmla="*/ 2147483647 w 279"/>
                  <a:gd name="T73" fmla="*/ 2147483647 h 244"/>
                  <a:gd name="T74" fmla="*/ 2147483647 w 279"/>
                  <a:gd name="T75" fmla="*/ 2147483647 h 244"/>
                  <a:gd name="T76" fmla="*/ 2147483647 w 279"/>
                  <a:gd name="T77" fmla="*/ 2147483647 h 244"/>
                  <a:gd name="T78" fmla="*/ 2147483647 w 279"/>
                  <a:gd name="T79" fmla="*/ 2147483647 h 244"/>
                  <a:gd name="T80" fmla="*/ 2147483647 w 279"/>
                  <a:gd name="T81" fmla="*/ 2147483647 h 244"/>
                  <a:gd name="T82" fmla="*/ 2147483647 w 279"/>
                  <a:gd name="T83" fmla="*/ 2147483647 h 244"/>
                  <a:gd name="T84" fmla="*/ 2147483647 w 279"/>
                  <a:gd name="T85" fmla="*/ 2147483647 h 244"/>
                  <a:gd name="T86" fmla="*/ 2147483647 w 279"/>
                  <a:gd name="T87" fmla="*/ 2147483647 h 244"/>
                  <a:gd name="T88" fmla="*/ 2147483647 w 279"/>
                  <a:gd name="T89" fmla="*/ 2147483647 h 244"/>
                  <a:gd name="T90" fmla="*/ 2147483647 w 279"/>
                  <a:gd name="T91" fmla="*/ 2147483647 h 244"/>
                  <a:gd name="T92" fmla="*/ 2147483647 w 279"/>
                  <a:gd name="T93" fmla="*/ 2147483647 h 244"/>
                  <a:gd name="T94" fmla="*/ 2147483647 w 279"/>
                  <a:gd name="T95" fmla="*/ 2147483647 h 244"/>
                  <a:gd name="T96" fmla="*/ 2147483647 w 279"/>
                  <a:gd name="T97" fmla="*/ 2147483647 h 244"/>
                  <a:gd name="T98" fmla="*/ 0 w 279"/>
                  <a:gd name="T99" fmla="*/ 2147483647 h 2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9"/>
                  <a:gd name="T151" fmla="*/ 0 h 244"/>
                  <a:gd name="T152" fmla="*/ 279 w 279"/>
                  <a:gd name="T153" fmla="*/ 244 h 24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9" h="244">
                    <a:moveTo>
                      <a:pt x="0" y="243"/>
                    </a:moveTo>
                    <a:lnTo>
                      <a:pt x="148" y="1"/>
                    </a:lnTo>
                    <a:lnTo>
                      <a:pt x="160" y="0"/>
                    </a:lnTo>
                    <a:lnTo>
                      <a:pt x="167" y="3"/>
                    </a:lnTo>
                    <a:lnTo>
                      <a:pt x="168" y="6"/>
                    </a:lnTo>
                    <a:lnTo>
                      <a:pt x="173" y="5"/>
                    </a:lnTo>
                    <a:lnTo>
                      <a:pt x="177" y="9"/>
                    </a:lnTo>
                    <a:lnTo>
                      <a:pt x="182" y="7"/>
                    </a:lnTo>
                    <a:lnTo>
                      <a:pt x="184" y="12"/>
                    </a:lnTo>
                    <a:lnTo>
                      <a:pt x="190" y="13"/>
                    </a:lnTo>
                    <a:lnTo>
                      <a:pt x="196" y="14"/>
                    </a:lnTo>
                    <a:lnTo>
                      <a:pt x="201" y="15"/>
                    </a:lnTo>
                    <a:lnTo>
                      <a:pt x="205" y="19"/>
                    </a:lnTo>
                    <a:lnTo>
                      <a:pt x="210" y="20"/>
                    </a:lnTo>
                    <a:lnTo>
                      <a:pt x="215" y="23"/>
                    </a:lnTo>
                    <a:lnTo>
                      <a:pt x="222" y="25"/>
                    </a:lnTo>
                    <a:lnTo>
                      <a:pt x="226" y="29"/>
                    </a:lnTo>
                    <a:lnTo>
                      <a:pt x="229" y="32"/>
                    </a:lnTo>
                    <a:lnTo>
                      <a:pt x="231" y="36"/>
                    </a:lnTo>
                    <a:lnTo>
                      <a:pt x="235" y="39"/>
                    </a:lnTo>
                    <a:lnTo>
                      <a:pt x="238" y="45"/>
                    </a:lnTo>
                    <a:lnTo>
                      <a:pt x="242" y="46"/>
                    </a:lnTo>
                    <a:lnTo>
                      <a:pt x="248" y="55"/>
                    </a:lnTo>
                    <a:lnTo>
                      <a:pt x="249" y="58"/>
                    </a:lnTo>
                    <a:lnTo>
                      <a:pt x="255" y="63"/>
                    </a:lnTo>
                    <a:lnTo>
                      <a:pt x="256" y="67"/>
                    </a:lnTo>
                    <a:lnTo>
                      <a:pt x="261" y="71"/>
                    </a:lnTo>
                    <a:lnTo>
                      <a:pt x="261" y="75"/>
                    </a:lnTo>
                    <a:lnTo>
                      <a:pt x="264" y="81"/>
                    </a:lnTo>
                    <a:lnTo>
                      <a:pt x="264" y="86"/>
                    </a:lnTo>
                    <a:lnTo>
                      <a:pt x="266" y="90"/>
                    </a:lnTo>
                    <a:lnTo>
                      <a:pt x="266" y="95"/>
                    </a:lnTo>
                    <a:lnTo>
                      <a:pt x="268" y="99"/>
                    </a:lnTo>
                    <a:lnTo>
                      <a:pt x="267" y="103"/>
                    </a:lnTo>
                    <a:lnTo>
                      <a:pt x="268" y="109"/>
                    </a:lnTo>
                    <a:lnTo>
                      <a:pt x="269" y="113"/>
                    </a:lnTo>
                    <a:lnTo>
                      <a:pt x="273" y="119"/>
                    </a:lnTo>
                    <a:lnTo>
                      <a:pt x="274" y="124"/>
                    </a:lnTo>
                    <a:lnTo>
                      <a:pt x="275" y="128"/>
                    </a:lnTo>
                    <a:lnTo>
                      <a:pt x="276" y="134"/>
                    </a:lnTo>
                    <a:lnTo>
                      <a:pt x="277" y="138"/>
                    </a:lnTo>
                    <a:lnTo>
                      <a:pt x="277" y="143"/>
                    </a:lnTo>
                    <a:lnTo>
                      <a:pt x="277" y="147"/>
                    </a:lnTo>
                    <a:lnTo>
                      <a:pt x="274" y="153"/>
                    </a:lnTo>
                    <a:lnTo>
                      <a:pt x="276" y="156"/>
                    </a:lnTo>
                    <a:lnTo>
                      <a:pt x="277" y="162"/>
                    </a:lnTo>
                    <a:lnTo>
                      <a:pt x="278" y="167"/>
                    </a:lnTo>
                    <a:lnTo>
                      <a:pt x="275" y="172"/>
                    </a:lnTo>
                    <a:lnTo>
                      <a:pt x="271" y="181"/>
                    </a:lnTo>
                    <a:lnTo>
                      <a:pt x="0" y="243"/>
                    </a:lnTo>
                  </a:path>
                </a:pathLst>
              </a:custGeom>
              <a:noFill/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68" name="Arc 19"/>
              <p:cNvSpPr>
                <a:spLocks/>
              </p:cNvSpPr>
              <p:nvPr/>
            </p:nvSpPr>
            <p:spPr bwMode="auto">
              <a:xfrm rot="720000">
                <a:off x="733425" y="4276725"/>
                <a:ext cx="211138" cy="236538"/>
              </a:xfrm>
              <a:custGeom>
                <a:avLst/>
                <a:gdLst>
                  <a:gd name="T0" fmla="*/ 0 w 21745"/>
                  <a:gd name="T1" fmla="*/ 0 h 21600"/>
                  <a:gd name="T2" fmla="*/ 2147483647 w 21745"/>
                  <a:gd name="T3" fmla="*/ 2147483647 h 21600"/>
                  <a:gd name="T4" fmla="*/ 1179876122 w 21745"/>
                  <a:gd name="T5" fmla="*/ 2147483647 h 21600"/>
                  <a:gd name="T6" fmla="*/ 0 60000 65536"/>
                  <a:gd name="T7" fmla="*/ 0 60000 65536"/>
                  <a:gd name="T8" fmla="*/ 0 60000 65536"/>
                  <a:gd name="T9" fmla="*/ 0 w 21745"/>
                  <a:gd name="T10" fmla="*/ 0 h 21600"/>
                  <a:gd name="T11" fmla="*/ 21745 w 2174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45" h="21600" fill="none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</a:path>
                  <a:path w="21745" h="21600" stroke="0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  <a:lnTo>
                      <a:pt x="145" y="2160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69" name="Line 20"/>
              <p:cNvSpPr>
                <a:spLocks noChangeShapeType="1"/>
              </p:cNvSpPr>
              <p:nvPr/>
            </p:nvSpPr>
            <p:spPr bwMode="auto">
              <a:xfrm flipH="1">
                <a:off x="533400" y="4095750"/>
                <a:ext cx="303213" cy="550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0" name="Oval 21"/>
              <p:cNvSpPr>
                <a:spLocks noChangeArrowheads="1"/>
              </p:cNvSpPr>
              <p:nvPr/>
            </p:nvSpPr>
            <p:spPr bwMode="auto">
              <a:xfrm rot="19740000">
                <a:off x="811213" y="4281488"/>
                <a:ext cx="100012" cy="19843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1" name="Line 22"/>
              <p:cNvSpPr>
                <a:spLocks noChangeShapeType="1"/>
              </p:cNvSpPr>
              <p:nvPr/>
            </p:nvSpPr>
            <p:spPr bwMode="auto">
              <a:xfrm flipV="1">
                <a:off x="533400" y="4502150"/>
                <a:ext cx="555625" cy="1444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2" name="Freeform 23"/>
              <p:cNvSpPr>
                <a:spLocks/>
              </p:cNvSpPr>
              <p:nvPr/>
            </p:nvSpPr>
            <p:spPr bwMode="auto">
              <a:xfrm>
                <a:off x="3784600" y="6089650"/>
                <a:ext cx="393700" cy="387350"/>
              </a:xfrm>
              <a:custGeom>
                <a:avLst/>
                <a:gdLst>
                  <a:gd name="T0" fmla="*/ 0 w 279"/>
                  <a:gd name="T1" fmla="*/ 2147483647 h 244"/>
                  <a:gd name="T2" fmla="*/ 2147483647 w 279"/>
                  <a:gd name="T3" fmla="*/ 2147483647 h 244"/>
                  <a:gd name="T4" fmla="*/ 2147483647 w 279"/>
                  <a:gd name="T5" fmla="*/ 0 h 244"/>
                  <a:gd name="T6" fmla="*/ 2147483647 w 279"/>
                  <a:gd name="T7" fmla="*/ 2147483647 h 244"/>
                  <a:gd name="T8" fmla="*/ 2147483647 w 279"/>
                  <a:gd name="T9" fmla="*/ 2147483647 h 244"/>
                  <a:gd name="T10" fmla="*/ 2147483647 w 279"/>
                  <a:gd name="T11" fmla="*/ 2147483647 h 244"/>
                  <a:gd name="T12" fmla="*/ 2147483647 w 279"/>
                  <a:gd name="T13" fmla="*/ 2147483647 h 244"/>
                  <a:gd name="T14" fmla="*/ 2147483647 w 279"/>
                  <a:gd name="T15" fmla="*/ 2147483647 h 244"/>
                  <a:gd name="T16" fmla="*/ 2147483647 w 279"/>
                  <a:gd name="T17" fmla="*/ 2147483647 h 244"/>
                  <a:gd name="T18" fmla="*/ 2147483647 w 279"/>
                  <a:gd name="T19" fmla="*/ 2147483647 h 244"/>
                  <a:gd name="T20" fmla="*/ 2147483647 w 279"/>
                  <a:gd name="T21" fmla="*/ 2147483647 h 244"/>
                  <a:gd name="T22" fmla="*/ 2147483647 w 279"/>
                  <a:gd name="T23" fmla="*/ 2147483647 h 244"/>
                  <a:gd name="T24" fmla="*/ 2147483647 w 279"/>
                  <a:gd name="T25" fmla="*/ 2147483647 h 244"/>
                  <a:gd name="T26" fmla="*/ 2147483647 w 279"/>
                  <a:gd name="T27" fmla="*/ 2147483647 h 244"/>
                  <a:gd name="T28" fmla="*/ 2147483647 w 279"/>
                  <a:gd name="T29" fmla="*/ 2147483647 h 244"/>
                  <a:gd name="T30" fmla="*/ 2147483647 w 279"/>
                  <a:gd name="T31" fmla="*/ 2147483647 h 244"/>
                  <a:gd name="T32" fmla="*/ 2147483647 w 279"/>
                  <a:gd name="T33" fmla="*/ 2147483647 h 244"/>
                  <a:gd name="T34" fmla="*/ 2147483647 w 279"/>
                  <a:gd name="T35" fmla="*/ 2147483647 h 244"/>
                  <a:gd name="T36" fmla="*/ 2147483647 w 279"/>
                  <a:gd name="T37" fmla="*/ 2147483647 h 244"/>
                  <a:gd name="T38" fmla="*/ 2147483647 w 279"/>
                  <a:gd name="T39" fmla="*/ 2147483647 h 244"/>
                  <a:gd name="T40" fmla="*/ 2147483647 w 279"/>
                  <a:gd name="T41" fmla="*/ 2147483647 h 244"/>
                  <a:gd name="T42" fmla="*/ 2147483647 w 279"/>
                  <a:gd name="T43" fmla="*/ 2147483647 h 244"/>
                  <a:gd name="T44" fmla="*/ 2147483647 w 279"/>
                  <a:gd name="T45" fmla="*/ 2147483647 h 244"/>
                  <a:gd name="T46" fmla="*/ 2147483647 w 279"/>
                  <a:gd name="T47" fmla="*/ 2147483647 h 244"/>
                  <a:gd name="T48" fmla="*/ 2147483647 w 279"/>
                  <a:gd name="T49" fmla="*/ 2147483647 h 244"/>
                  <a:gd name="T50" fmla="*/ 2147483647 w 279"/>
                  <a:gd name="T51" fmla="*/ 2147483647 h 244"/>
                  <a:gd name="T52" fmla="*/ 2147483647 w 279"/>
                  <a:gd name="T53" fmla="*/ 2147483647 h 244"/>
                  <a:gd name="T54" fmla="*/ 2147483647 w 279"/>
                  <a:gd name="T55" fmla="*/ 2147483647 h 244"/>
                  <a:gd name="T56" fmla="*/ 2147483647 w 279"/>
                  <a:gd name="T57" fmla="*/ 2147483647 h 244"/>
                  <a:gd name="T58" fmla="*/ 2147483647 w 279"/>
                  <a:gd name="T59" fmla="*/ 2147483647 h 244"/>
                  <a:gd name="T60" fmla="*/ 2147483647 w 279"/>
                  <a:gd name="T61" fmla="*/ 2147483647 h 244"/>
                  <a:gd name="T62" fmla="*/ 2147483647 w 279"/>
                  <a:gd name="T63" fmla="*/ 2147483647 h 244"/>
                  <a:gd name="T64" fmla="*/ 2147483647 w 279"/>
                  <a:gd name="T65" fmla="*/ 2147483647 h 244"/>
                  <a:gd name="T66" fmla="*/ 2147483647 w 279"/>
                  <a:gd name="T67" fmla="*/ 2147483647 h 244"/>
                  <a:gd name="T68" fmla="*/ 2147483647 w 279"/>
                  <a:gd name="T69" fmla="*/ 2147483647 h 244"/>
                  <a:gd name="T70" fmla="*/ 2147483647 w 279"/>
                  <a:gd name="T71" fmla="*/ 2147483647 h 244"/>
                  <a:gd name="T72" fmla="*/ 2147483647 w 279"/>
                  <a:gd name="T73" fmla="*/ 2147483647 h 244"/>
                  <a:gd name="T74" fmla="*/ 2147483647 w 279"/>
                  <a:gd name="T75" fmla="*/ 2147483647 h 244"/>
                  <a:gd name="T76" fmla="*/ 2147483647 w 279"/>
                  <a:gd name="T77" fmla="*/ 2147483647 h 244"/>
                  <a:gd name="T78" fmla="*/ 2147483647 w 279"/>
                  <a:gd name="T79" fmla="*/ 2147483647 h 244"/>
                  <a:gd name="T80" fmla="*/ 2147483647 w 279"/>
                  <a:gd name="T81" fmla="*/ 2147483647 h 244"/>
                  <a:gd name="T82" fmla="*/ 2147483647 w 279"/>
                  <a:gd name="T83" fmla="*/ 2147483647 h 244"/>
                  <a:gd name="T84" fmla="*/ 2147483647 w 279"/>
                  <a:gd name="T85" fmla="*/ 2147483647 h 244"/>
                  <a:gd name="T86" fmla="*/ 2147483647 w 279"/>
                  <a:gd name="T87" fmla="*/ 2147483647 h 244"/>
                  <a:gd name="T88" fmla="*/ 2147483647 w 279"/>
                  <a:gd name="T89" fmla="*/ 2147483647 h 244"/>
                  <a:gd name="T90" fmla="*/ 2147483647 w 279"/>
                  <a:gd name="T91" fmla="*/ 2147483647 h 244"/>
                  <a:gd name="T92" fmla="*/ 2147483647 w 279"/>
                  <a:gd name="T93" fmla="*/ 2147483647 h 244"/>
                  <a:gd name="T94" fmla="*/ 2147483647 w 279"/>
                  <a:gd name="T95" fmla="*/ 2147483647 h 244"/>
                  <a:gd name="T96" fmla="*/ 2147483647 w 279"/>
                  <a:gd name="T97" fmla="*/ 2147483647 h 244"/>
                  <a:gd name="T98" fmla="*/ 0 w 279"/>
                  <a:gd name="T99" fmla="*/ 2147483647 h 2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9"/>
                  <a:gd name="T151" fmla="*/ 0 h 244"/>
                  <a:gd name="T152" fmla="*/ 279 w 279"/>
                  <a:gd name="T153" fmla="*/ 244 h 24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9" h="244">
                    <a:moveTo>
                      <a:pt x="0" y="243"/>
                    </a:moveTo>
                    <a:lnTo>
                      <a:pt x="148" y="1"/>
                    </a:lnTo>
                    <a:lnTo>
                      <a:pt x="160" y="0"/>
                    </a:lnTo>
                    <a:lnTo>
                      <a:pt x="167" y="3"/>
                    </a:lnTo>
                    <a:lnTo>
                      <a:pt x="168" y="6"/>
                    </a:lnTo>
                    <a:lnTo>
                      <a:pt x="173" y="5"/>
                    </a:lnTo>
                    <a:lnTo>
                      <a:pt x="177" y="9"/>
                    </a:lnTo>
                    <a:lnTo>
                      <a:pt x="182" y="7"/>
                    </a:lnTo>
                    <a:lnTo>
                      <a:pt x="184" y="12"/>
                    </a:lnTo>
                    <a:lnTo>
                      <a:pt x="190" y="13"/>
                    </a:lnTo>
                    <a:lnTo>
                      <a:pt x="196" y="14"/>
                    </a:lnTo>
                    <a:lnTo>
                      <a:pt x="201" y="15"/>
                    </a:lnTo>
                    <a:lnTo>
                      <a:pt x="205" y="19"/>
                    </a:lnTo>
                    <a:lnTo>
                      <a:pt x="210" y="20"/>
                    </a:lnTo>
                    <a:lnTo>
                      <a:pt x="215" y="23"/>
                    </a:lnTo>
                    <a:lnTo>
                      <a:pt x="222" y="25"/>
                    </a:lnTo>
                    <a:lnTo>
                      <a:pt x="226" y="29"/>
                    </a:lnTo>
                    <a:lnTo>
                      <a:pt x="229" y="32"/>
                    </a:lnTo>
                    <a:lnTo>
                      <a:pt x="231" y="36"/>
                    </a:lnTo>
                    <a:lnTo>
                      <a:pt x="235" y="39"/>
                    </a:lnTo>
                    <a:lnTo>
                      <a:pt x="238" y="45"/>
                    </a:lnTo>
                    <a:lnTo>
                      <a:pt x="242" y="46"/>
                    </a:lnTo>
                    <a:lnTo>
                      <a:pt x="248" y="55"/>
                    </a:lnTo>
                    <a:lnTo>
                      <a:pt x="249" y="58"/>
                    </a:lnTo>
                    <a:lnTo>
                      <a:pt x="255" y="63"/>
                    </a:lnTo>
                    <a:lnTo>
                      <a:pt x="256" y="67"/>
                    </a:lnTo>
                    <a:lnTo>
                      <a:pt x="261" y="71"/>
                    </a:lnTo>
                    <a:lnTo>
                      <a:pt x="261" y="75"/>
                    </a:lnTo>
                    <a:lnTo>
                      <a:pt x="264" y="81"/>
                    </a:lnTo>
                    <a:lnTo>
                      <a:pt x="264" y="86"/>
                    </a:lnTo>
                    <a:lnTo>
                      <a:pt x="266" y="90"/>
                    </a:lnTo>
                    <a:lnTo>
                      <a:pt x="266" y="95"/>
                    </a:lnTo>
                    <a:lnTo>
                      <a:pt x="268" y="99"/>
                    </a:lnTo>
                    <a:lnTo>
                      <a:pt x="267" y="103"/>
                    </a:lnTo>
                    <a:lnTo>
                      <a:pt x="268" y="109"/>
                    </a:lnTo>
                    <a:lnTo>
                      <a:pt x="269" y="113"/>
                    </a:lnTo>
                    <a:lnTo>
                      <a:pt x="273" y="119"/>
                    </a:lnTo>
                    <a:lnTo>
                      <a:pt x="274" y="124"/>
                    </a:lnTo>
                    <a:lnTo>
                      <a:pt x="275" y="128"/>
                    </a:lnTo>
                    <a:lnTo>
                      <a:pt x="276" y="134"/>
                    </a:lnTo>
                    <a:lnTo>
                      <a:pt x="277" y="138"/>
                    </a:lnTo>
                    <a:lnTo>
                      <a:pt x="277" y="143"/>
                    </a:lnTo>
                    <a:lnTo>
                      <a:pt x="277" y="147"/>
                    </a:lnTo>
                    <a:lnTo>
                      <a:pt x="274" y="153"/>
                    </a:lnTo>
                    <a:lnTo>
                      <a:pt x="276" y="156"/>
                    </a:lnTo>
                    <a:lnTo>
                      <a:pt x="277" y="162"/>
                    </a:lnTo>
                    <a:lnTo>
                      <a:pt x="278" y="167"/>
                    </a:lnTo>
                    <a:lnTo>
                      <a:pt x="275" y="172"/>
                    </a:lnTo>
                    <a:lnTo>
                      <a:pt x="271" y="181"/>
                    </a:lnTo>
                    <a:lnTo>
                      <a:pt x="0" y="243"/>
                    </a:lnTo>
                  </a:path>
                </a:pathLst>
              </a:custGeom>
              <a:noFill/>
              <a:ln w="9525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73" name="Arc 24"/>
              <p:cNvSpPr>
                <a:spLocks/>
              </p:cNvSpPr>
              <p:nvPr/>
            </p:nvSpPr>
            <p:spPr bwMode="auto">
              <a:xfrm rot="720000">
                <a:off x="3984625" y="6105525"/>
                <a:ext cx="211138" cy="236538"/>
              </a:xfrm>
              <a:custGeom>
                <a:avLst/>
                <a:gdLst>
                  <a:gd name="T0" fmla="*/ 0 w 21745"/>
                  <a:gd name="T1" fmla="*/ 0 h 21600"/>
                  <a:gd name="T2" fmla="*/ 2147483647 w 21745"/>
                  <a:gd name="T3" fmla="*/ 2147483647 h 21600"/>
                  <a:gd name="T4" fmla="*/ 1179876122 w 21745"/>
                  <a:gd name="T5" fmla="*/ 2147483647 h 21600"/>
                  <a:gd name="T6" fmla="*/ 0 60000 65536"/>
                  <a:gd name="T7" fmla="*/ 0 60000 65536"/>
                  <a:gd name="T8" fmla="*/ 0 60000 65536"/>
                  <a:gd name="T9" fmla="*/ 0 w 21745"/>
                  <a:gd name="T10" fmla="*/ 0 h 21600"/>
                  <a:gd name="T11" fmla="*/ 21745 w 2174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45" h="21600" fill="none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</a:path>
                  <a:path w="21745" h="21600" stroke="0" extrusionOk="0">
                    <a:moveTo>
                      <a:pt x="0" y="0"/>
                    </a:moveTo>
                    <a:cubicBezTo>
                      <a:pt x="48" y="0"/>
                      <a:pt x="96" y="-1"/>
                      <a:pt x="145" y="0"/>
                    </a:cubicBezTo>
                    <a:cubicBezTo>
                      <a:pt x="12074" y="0"/>
                      <a:pt x="21745" y="9670"/>
                      <a:pt x="21745" y="21600"/>
                    </a:cubicBezTo>
                    <a:lnTo>
                      <a:pt x="145" y="2160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4" name="Line 25"/>
              <p:cNvSpPr>
                <a:spLocks noChangeShapeType="1"/>
              </p:cNvSpPr>
              <p:nvPr/>
            </p:nvSpPr>
            <p:spPr bwMode="auto">
              <a:xfrm flipH="1">
                <a:off x="3784600" y="5924550"/>
                <a:ext cx="303213" cy="550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5" name="Oval 26"/>
              <p:cNvSpPr>
                <a:spLocks noChangeArrowheads="1"/>
              </p:cNvSpPr>
              <p:nvPr/>
            </p:nvSpPr>
            <p:spPr bwMode="auto">
              <a:xfrm rot="19740000">
                <a:off x="4062413" y="6110288"/>
                <a:ext cx="100012" cy="19843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6" name="Line 27"/>
              <p:cNvSpPr>
                <a:spLocks noChangeShapeType="1"/>
              </p:cNvSpPr>
              <p:nvPr/>
            </p:nvSpPr>
            <p:spPr bwMode="auto">
              <a:xfrm flipV="1">
                <a:off x="3784600" y="6330950"/>
                <a:ext cx="555625" cy="1444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7" name="Oval 33"/>
              <p:cNvSpPr>
                <a:spLocks noChangeArrowheads="1"/>
              </p:cNvSpPr>
              <p:nvPr/>
            </p:nvSpPr>
            <p:spPr bwMode="auto">
              <a:xfrm>
                <a:off x="4079875" y="5081588"/>
                <a:ext cx="57150" cy="63500"/>
              </a:xfrm>
              <a:prstGeom prst="ellipse">
                <a:avLst/>
              </a:prstGeom>
              <a:solidFill>
                <a:srgbClr val="037C03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78" name="Oval 34"/>
              <p:cNvSpPr>
                <a:spLocks noChangeArrowheads="1"/>
              </p:cNvSpPr>
              <p:nvPr/>
            </p:nvSpPr>
            <p:spPr bwMode="auto">
              <a:xfrm>
                <a:off x="1504950" y="3649663"/>
                <a:ext cx="57150" cy="63500"/>
              </a:xfrm>
              <a:prstGeom prst="ellipse">
                <a:avLst/>
              </a:prstGeom>
              <a:solidFill>
                <a:srgbClr val="037C03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3657601" y="678584"/>
              <a:ext cx="809272" cy="6975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X</a:t>
              </a:r>
              <a:endParaRPr lang="en-US" sz="2000" baseline="-25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867126" y="3017171"/>
              <a:ext cx="809272" cy="6975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x</a:t>
              </a:r>
              <a:endParaRPr lang="en-US" sz="2000" baseline="-25000" dirty="0"/>
            </a:p>
          </p:txBody>
        </p:sp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3520189" y="4403761"/>
              <a:ext cx="809272" cy="6975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000" dirty="0"/>
                <a:t>x'</a:t>
              </a:r>
              <a:endParaRPr lang="en-US" sz="2000" baseline="-25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4171"/>
            <a:ext cx="10515600" cy="1325563"/>
          </a:xfrm>
        </p:spPr>
        <p:txBody>
          <a:bodyPr/>
          <a:lstStyle/>
          <a:p>
            <a:r>
              <a:rPr lang="en-US" dirty="0"/>
              <a:t>Correspondence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581401"/>
            <a:ext cx="8229600" cy="254476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We have two images taken from cameras with different intrinsic and extrinsic parameters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How do we match a point in the first image to a point in the second?  How can we constrain our search?</a:t>
            </a:r>
          </a:p>
        </p:txBody>
      </p:sp>
      <p:pic>
        <p:nvPicPr>
          <p:cNvPr id="4" name="Picture 13" descr="rect_006_007_lef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1" y="1066800"/>
            <a:ext cx="3321069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4" descr="rect_006_007_righ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005590"/>
            <a:ext cx="3429000" cy="251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177352" y="212863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1403" y="213277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4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idea: </a:t>
            </a:r>
            <a:r>
              <a:rPr lang="en-US" dirty="0" err="1"/>
              <a:t>Epipolar</a:t>
            </a:r>
            <a:r>
              <a:rPr lang="en-US" dirty="0"/>
              <a:t> constraint</a:t>
            </a:r>
          </a:p>
        </p:txBody>
      </p:sp>
    </p:spTree>
    <p:extLst>
      <p:ext uri="{BB962C8B-B14F-4D97-AF65-F5344CB8AC3E}">
        <p14:creationId xmlns:p14="http://schemas.microsoft.com/office/powerpoint/2010/main" val="396044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9338" y="901700"/>
            <a:ext cx="7662862" cy="321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1683" name="Text Box 3"/>
          <p:cNvSpPr txBox="1">
            <a:spLocks noChangeArrowheads="1"/>
          </p:cNvSpPr>
          <p:nvPr/>
        </p:nvSpPr>
        <p:spPr bwMode="auto">
          <a:xfrm>
            <a:off x="2981325" y="4579938"/>
            <a:ext cx="669382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Potential matches for </a:t>
            </a:r>
            <a:r>
              <a:rPr lang="en-US" sz="2000" i="1" dirty="0"/>
              <a:t>x</a:t>
            </a:r>
            <a:r>
              <a:rPr lang="en-US" sz="2000" dirty="0"/>
              <a:t> have to lie on the corresponding line </a:t>
            </a:r>
            <a:r>
              <a:rPr lang="en-US" sz="2000" i="1" dirty="0"/>
              <a:t>l’</a:t>
            </a:r>
            <a:r>
              <a:rPr lang="en-US" sz="2000" dirty="0"/>
              <a:t>.</a:t>
            </a:r>
          </a:p>
        </p:txBody>
      </p:sp>
      <p:sp>
        <p:nvSpPr>
          <p:cNvPr id="711684" name="Text Box 4"/>
          <p:cNvSpPr txBox="1">
            <a:spLocks noChangeArrowheads="1"/>
          </p:cNvSpPr>
          <p:nvPr/>
        </p:nvSpPr>
        <p:spPr bwMode="auto">
          <a:xfrm>
            <a:off x="2971800" y="5646738"/>
            <a:ext cx="67001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Potential matches for </a:t>
            </a:r>
            <a:r>
              <a:rPr lang="en-US" sz="2000" i="1" dirty="0"/>
              <a:t>x’</a:t>
            </a:r>
            <a:r>
              <a:rPr lang="en-US" sz="2000" dirty="0"/>
              <a:t> have to lie on the corresponding line </a:t>
            </a:r>
            <a:r>
              <a:rPr lang="en-US" sz="2000" i="1" dirty="0"/>
              <a:t>l</a:t>
            </a:r>
            <a:r>
              <a:rPr lang="en-US" sz="2000" dirty="0"/>
              <a:t>.</a:t>
            </a:r>
          </a:p>
        </p:txBody>
      </p:sp>
      <p:sp>
        <p:nvSpPr>
          <p:cNvPr id="711685" name="Oval 5"/>
          <p:cNvSpPr>
            <a:spLocks noChangeArrowheads="1"/>
          </p:cNvSpPr>
          <p:nvPr/>
        </p:nvSpPr>
        <p:spPr bwMode="auto">
          <a:xfrm>
            <a:off x="4408488" y="24066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1686" name="Line 6"/>
          <p:cNvSpPr>
            <a:spLocks noChangeShapeType="1"/>
          </p:cNvSpPr>
          <p:nvPr/>
        </p:nvSpPr>
        <p:spPr bwMode="auto">
          <a:xfrm flipH="1">
            <a:off x="7608888" y="2330450"/>
            <a:ext cx="254000" cy="158115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1687" name="Oval 7"/>
          <p:cNvSpPr>
            <a:spLocks noChangeArrowheads="1"/>
          </p:cNvSpPr>
          <p:nvPr/>
        </p:nvSpPr>
        <p:spPr bwMode="auto">
          <a:xfrm>
            <a:off x="7799388" y="2406650"/>
            <a:ext cx="76200" cy="762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Verdana" pitchFamily="34" charset="0"/>
            </a:endParaRPr>
          </a:p>
        </p:txBody>
      </p:sp>
      <p:sp>
        <p:nvSpPr>
          <p:cNvPr id="711688" name="Line 8"/>
          <p:cNvSpPr>
            <a:spLocks noChangeShapeType="1"/>
          </p:cNvSpPr>
          <p:nvPr/>
        </p:nvSpPr>
        <p:spPr bwMode="auto">
          <a:xfrm flipH="1" flipV="1">
            <a:off x="4433888" y="2311400"/>
            <a:ext cx="241300" cy="15621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1689" name="Oval 9"/>
          <p:cNvSpPr>
            <a:spLocks noChangeArrowheads="1"/>
          </p:cNvSpPr>
          <p:nvPr/>
        </p:nvSpPr>
        <p:spPr bwMode="auto">
          <a:xfrm>
            <a:off x="4840288" y="21018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1690" name="Oval 10"/>
          <p:cNvSpPr>
            <a:spLocks noChangeArrowheads="1"/>
          </p:cNvSpPr>
          <p:nvPr/>
        </p:nvSpPr>
        <p:spPr bwMode="auto">
          <a:xfrm>
            <a:off x="5494338" y="16573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1691" name="Oval 11"/>
          <p:cNvSpPr>
            <a:spLocks noChangeArrowheads="1"/>
          </p:cNvSpPr>
          <p:nvPr/>
        </p:nvSpPr>
        <p:spPr bwMode="auto">
          <a:xfrm>
            <a:off x="7799388" y="24003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1692" name="Oval 12"/>
          <p:cNvSpPr>
            <a:spLocks noChangeArrowheads="1"/>
          </p:cNvSpPr>
          <p:nvPr/>
        </p:nvSpPr>
        <p:spPr bwMode="auto">
          <a:xfrm>
            <a:off x="7748588" y="27559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1693" name="Oval 13"/>
          <p:cNvSpPr>
            <a:spLocks noChangeArrowheads="1"/>
          </p:cNvSpPr>
          <p:nvPr/>
        </p:nvSpPr>
        <p:spPr bwMode="auto">
          <a:xfrm>
            <a:off x="7691438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Rectangle 14"/>
          <p:cNvSpPr>
            <a:spLocks noGrp="1" noChangeArrowheads="1"/>
          </p:cNvSpPr>
          <p:nvPr>
            <p:ph type="title"/>
          </p:nvPr>
        </p:nvSpPr>
        <p:spPr>
          <a:xfrm>
            <a:off x="838200" y="-87313"/>
            <a:ext cx="10515600" cy="1325563"/>
          </a:xfrm>
        </p:spPr>
        <p:txBody>
          <a:bodyPr/>
          <a:lstStyle/>
          <a:p>
            <a:r>
              <a:rPr lang="en-US" dirty="0"/>
              <a:t>Key idea: </a:t>
            </a:r>
            <a:r>
              <a:rPr lang="en-US" dirty="0" err="1"/>
              <a:t>Epipolar</a:t>
            </a:r>
            <a:r>
              <a:rPr lang="en-US" dirty="0"/>
              <a:t> constraint</a:t>
            </a:r>
          </a:p>
        </p:txBody>
      </p:sp>
      <p:sp>
        <p:nvSpPr>
          <p:cNvPr id="20495" name="Freeform 15"/>
          <p:cNvSpPr>
            <a:spLocks/>
          </p:cNvSpPr>
          <p:nvPr/>
        </p:nvSpPr>
        <p:spPr bwMode="auto">
          <a:xfrm>
            <a:off x="4191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12" y="80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4191000" y="2209800"/>
            <a:ext cx="209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20497" name="Freeform 17"/>
          <p:cNvSpPr>
            <a:spLocks/>
          </p:cNvSpPr>
          <p:nvPr/>
        </p:nvSpPr>
        <p:spPr bwMode="auto">
          <a:xfrm>
            <a:off x="7543800" y="2336800"/>
            <a:ext cx="273050" cy="254000"/>
          </a:xfrm>
          <a:custGeom>
            <a:avLst/>
            <a:gdLst>
              <a:gd name="T0" fmla="*/ 2147483647 w 172"/>
              <a:gd name="T1" fmla="*/ 2147483647 h 160"/>
              <a:gd name="T2" fmla="*/ 0 w 172"/>
              <a:gd name="T3" fmla="*/ 2147483647 h 160"/>
              <a:gd name="T4" fmla="*/ 2147483647 w 172"/>
              <a:gd name="T5" fmla="*/ 2147483647 h 160"/>
              <a:gd name="T6" fmla="*/ 2147483647 w 172"/>
              <a:gd name="T7" fmla="*/ 2147483647 h 160"/>
              <a:gd name="T8" fmla="*/ 2147483647 w 172"/>
              <a:gd name="T9" fmla="*/ 0 h 160"/>
              <a:gd name="T10" fmla="*/ 2147483647 w 172"/>
              <a:gd name="T11" fmla="*/ 2147483647 h 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2"/>
              <a:gd name="T19" fmla="*/ 0 h 160"/>
              <a:gd name="T20" fmla="*/ 172 w 172"/>
              <a:gd name="T21" fmla="*/ 160 h 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2" h="160">
                <a:moveTo>
                  <a:pt x="48" y="16"/>
                </a:moveTo>
                <a:lnTo>
                  <a:pt x="0" y="112"/>
                </a:lnTo>
                <a:lnTo>
                  <a:pt x="48" y="160"/>
                </a:lnTo>
                <a:lnTo>
                  <a:pt x="144" y="112"/>
                </a:lnTo>
                <a:lnTo>
                  <a:pt x="172" y="0"/>
                </a:lnTo>
                <a:lnTo>
                  <a:pt x="48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1698" name="Text Box 18"/>
          <p:cNvSpPr txBox="1">
            <a:spLocks noChangeArrowheads="1"/>
          </p:cNvSpPr>
          <p:nvPr/>
        </p:nvSpPr>
        <p:spPr bwMode="auto">
          <a:xfrm>
            <a:off x="75438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20499" name="Freeform 19"/>
          <p:cNvSpPr>
            <a:spLocks/>
          </p:cNvSpPr>
          <p:nvPr/>
        </p:nvSpPr>
        <p:spPr bwMode="auto">
          <a:xfrm>
            <a:off x="9525000" y="1524000"/>
            <a:ext cx="381000" cy="304800"/>
          </a:xfrm>
          <a:custGeom>
            <a:avLst/>
            <a:gdLst>
              <a:gd name="T0" fmla="*/ 2147483647 w 240"/>
              <a:gd name="T1" fmla="*/ 2147483647 h 192"/>
              <a:gd name="T2" fmla="*/ 2147483647 w 240"/>
              <a:gd name="T3" fmla="*/ 0 h 192"/>
              <a:gd name="T4" fmla="*/ 2147483647 w 240"/>
              <a:gd name="T5" fmla="*/ 2147483647 h 192"/>
              <a:gd name="T6" fmla="*/ 0 w 240"/>
              <a:gd name="T7" fmla="*/ 2147483647 h 192"/>
              <a:gd name="T8" fmla="*/ 2147483647 w 240"/>
              <a:gd name="T9" fmla="*/ 2147483647 h 192"/>
              <a:gd name="T10" fmla="*/ 2147483647 w 240"/>
              <a:gd name="T11" fmla="*/ 2147483647 h 1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0"/>
              <a:gd name="T19" fmla="*/ 0 h 192"/>
              <a:gd name="T20" fmla="*/ 240 w 240"/>
              <a:gd name="T21" fmla="*/ 192 h 1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0" h="192">
                <a:moveTo>
                  <a:pt x="240" y="192"/>
                </a:moveTo>
                <a:lnTo>
                  <a:pt x="240" y="0"/>
                </a:lnTo>
                <a:lnTo>
                  <a:pt x="88" y="24"/>
                </a:lnTo>
                <a:lnTo>
                  <a:pt x="0" y="96"/>
                </a:lnTo>
                <a:lnTo>
                  <a:pt x="96" y="192"/>
                </a:lnTo>
                <a:lnTo>
                  <a:pt x="240" y="19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0" name="Freeform 20"/>
          <p:cNvSpPr>
            <a:spLocks/>
          </p:cNvSpPr>
          <p:nvPr/>
        </p:nvSpPr>
        <p:spPr bwMode="auto">
          <a:xfrm>
            <a:off x="2362200" y="1536700"/>
            <a:ext cx="260350" cy="292100"/>
          </a:xfrm>
          <a:custGeom>
            <a:avLst/>
            <a:gdLst>
              <a:gd name="T0" fmla="*/ 2147483647 w 164"/>
              <a:gd name="T1" fmla="*/ 0 h 184"/>
              <a:gd name="T2" fmla="*/ 0 w 164"/>
              <a:gd name="T3" fmla="*/ 2147483647 h 184"/>
              <a:gd name="T4" fmla="*/ 2147483647 w 164"/>
              <a:gd name="T5" fmla="*/ 2147483647 h 184"/>
              <a:gd name="T6" fmla="*/ 2147483647 w 164"/>
              <a:gd name="T7" fmla="*/ 2147483647 h 184"/>
              <a:gd name="T8" fmla="*/ 2147483647 w 164"/>
              <a:gd name="T9" fmla="*/ 2147483647 h 184"/>
              <a:gd name="T10" fmla="*/ 2147483647 w 164"/>
              <a:gd name="T11" fmla="*/ 0 h 1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4"/>
              <a:gd name="T19" fmla="*/ 0 h 184"/>
              <a:gd name="T20" fmla="*/ 164 w 164"/>
              <a:gd name="T21" fmla="*/ 184 h 1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4" h="184">
                <a:moveTo>
                  <a:pt x="32" y="0"/>
                </a:moveTo>
                <a:lnTo>
                  <a:pt x="0" y="136"/>
                </a:lnTo>
                <a:lnTo>
                  <a:pt x="48" y="184"/>
                </a:lnTo>
                <a:lnTo>
                  <a:pt x="148" y="176"/>
                </a:lnTo>
                <a:lnTo>
                  <a:pt x="164" y="36"/>
                </a:lnTo>
                <a:lnTo>
                  <a:pt x="32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1" name="Freeform 21"/>
          <p:cNvSpPr>
            <a:spLocks/>
          </p:cNvSpPr>
          <p:nvPr/>
        </p:nvSpPr>
        <p:spPr bwMode="auto">
          <a:xfrm>
            <a:off x="7429500" y="2667000"/>
            <a:ext cx="336550" cy="698500"/>
          </a:xfrm>
          <a:custGeom>
            <a:avLst/>
            <a:gdLst>
              <a:gd name="T0" fmla="*/ 2147483647 w 212"/>
              <a:gd name="T1" fmla="*/ 2147483647 h 440"/>
              <a:gd name="T2" fmla="*/ 2147483647 w 212"/>
              <a:gd name="T3" fmla="*/ 2147483647 h 440"/>
              <a:gd name="T4" fmla="*/ 0 w 212"/>
              <a:gd name="T5" fmla="*/ 2147483647 h 440"/>
              <a:gd name="T6" fmla="*/ 2147483647 w 212"/>
              <a:gd name="T7" fmla="*/ 2147483647 h 440"/>
              <a:gd name="T8" fmla="*/ 2147483647 w 212"/>
              <a:gd name="T9" fmla="*/ 0 h 440"/>
              <a:gd name="T10" fmla="*/ 2147483647 w 212"/>
              <a:gd name="T11" fmla="*/ 2147483647 h 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2"/>
              <a:gd name="T19" fmla="*/ 0 h 440"/>
              <a:gd name="T20" fmla="*/ 212 w 212"/>
              <a:gd name="T21" fmla="*/ 440 h 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2" h="440">
                <a:moveTo>
                  <a:pt x="72" y="16"/>
                </a:moveTo>
                <a:lnTo>
                  <a:pt x="24" y="112"/>
                </a:lnTo>
                <a:lnTo>
                  <a:pt x="0" y="400"/>
                </a:lnTo>
                <a:lnTo>
                  <a:pt x="132" y="440"/>
                </a:lnTo>
                <a:lnTo>
                  <a:pt x="212" y="0"/>
                </a:lnTo>
                <a:lnTo>
                  <a:pt x="72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2" name="Freeform 22"/>
          <p:cNvSpPr>
            <a:spLocks/>
          </p:cNvSpPr>
          <p:nvPr/>
        </p:nvSpPr>
        <p:spPr bwMode="auto">
          <a:xfrm>
            <a:off x="5378450" y="1371600"/>
            <a:ext cx="368300" cy="298450"/>
          </a:xfrm>
          <a:custGeom>
            <a:avLst/>
            <a:gdLst>
              <a:gd name="T0" fmla="*/ 2147483647 w 232"/>
              <a:gd name="T1" fmla="*/ 2147483647 h 188"/>
              <a:gd name="T2" fmla="*/ 2147483647 w 232"/>
              <a:gd name="T3" fmla="*/ 2147483647 h 188"/>
              <a:gd name="T4" fmla="*/ 0 w 232"/>
              <a:gd name="T5" fmla="*/ 2147483647 h 188"/>
              <a:gd name="T6" fmla="*/ 2147483647 w 232"/>
              <a:gd name="T7" fmla="*/ 2147483647 h 188"/>
              <a:gd name="T8" fmla="*/ 2147483647 w 232"/>
              <a:gd name="T9" fmla="*/ 2147483647 h 188"/>
              <a:gd name="T10" fmla="*/ 2147483647 w 232"/>
              <a:gd name="T11" fmla="*/ 2147483647 h 188"/>
              <a:gd name="T12" fmla="*/ 2147483647 w 232"/>
              <a:gd name="T13" fmla="*/ 0 h 188"/>
              <a:gd name="T14" fmla="*/ 2147483647 w 232"/>
              <a:gd name="T15" fmla="*/ 2147483647 h 1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32"/>
              <a:gd name="T25" fmla="*/ 0 h 188"/>
              <a:gd name="T26" fmla="*/ 232 w 232"/>
              <a:gd name="T27" fmla="*/ 188 h 1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32" h="188">
                <a:moveTo>
                  <a:pt x="68" y="16"/>
                </a:moveTo>
                <a:lnTo>
                  <a:pt x="20" y="112"/>
                </a:lnTo>
                <a:lnTo>
                  <a:pt x="0" y="164"/>
                </a:lnTo>
                <a:lnTo>
                  <a:pt x="56" y="188"/>
                </a:lnTo>
                <a:lnTo>
                  <a:pt x="136" y="148"/>
                </a:lnTo>
                <a:lnTo>
                  <a:pt x="232" y="80"/>
                </a:lnTo>
                <a:lnTo>
                  <a:pt x="192" y="0"/>
                </a:lnTo>
                <a:lnTo>
                  <a:pt x="68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3" name="Freeform 23"/>
          <p:cNvSpPr>
            <a:spLocks/>
          </p:cNvSpPr>
          <p:nvPr/>
        </p:nvSpPr>
        <p:spPr bwMode="auto">
          <a:xfrm>
            <a:off x="4724400" y="1828800"/>
            <a:ext cx="381000" cy="260350"/>
          </a:xfrm>
          <a:custGeom>
            <a:avLst/>
            <a:gdLst>
              <a:gd name="T0" fmla="*/ 2147483647 w 240"/>
              <a:gd name="T1" fmla="*/ 2147483647 h 164"/>
              <a:gd name="T2" fmla="*/ 2147483647 w 240"/>
              <a:gd name="T3" fmla="*/ 2147483647 h 164"/>
              <a:gd name="T4" fmla="*/ 0 w 240"/>
              <a:gd name="T5" fmla="*/ 2147483647 h 164"/>
              <a:gd name="T6" fmla="*/ 2147483647 w 240"/>
              <a:gd name="T7" fmla="*/ 2147483647 h 164"/>
              <a:gd name="T8" fmla="*/ 2147483647 w 240"/>
              <a:gd name="T9" fmla="*/ 2147483647 h 164"/>
              <a:gd name="T10" fmla="*/ 2147483647 w 240"/>
              <a:gd name="T11" fmla="*/ 0 h 164"/>
              <a:gd name="T12" fmla="*/ 2147483647 w 240"/>
              <a:gd name="T13" fmla="*/ 2147483647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64"/>
              <a:gd name="T23" fmla="*/ 240 w 240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64">
                <a:moveTo>
                  <a:pt x="76" y="16"/>
                </a:moveTo>
                <a:lnTo>
                  <a:pt x="28" y="112"/>
                </a:lnTo>
                <a:lnTo>
                  <a:pt x="0" y="156"/>
                </a:lnTo>
                <a:lnTo>
                  <a:pt x="104" y="164"/>
                </a:lnTo>
                <a:lnTo>
                  <a:pt x="240" y="80"/>
                </a:lnTo>
                <a:lnTo>
                  <a:pt x="200" y="0"/>
                </a:lnTo>
                <a:lnTo>
                  <a:pt x="76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1704" name="Text Box 24"/>
          <p:cNvSpPr txBox="1">
            <a:spLocks noChangeArrowheads="1"/>
          </p:cNvSpPr>
          <p:nvPr/>
        </p:nvSpPr>
        <p:spPr bwMode="auto">
          <a:xfrm>
            <a:off x="5257801" y="1349375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711705" name="Text Box 25"/>
          <p:cNvSpPr txBox="1">
            <a:spLocks noChangeArrowheads="1"/>
          </p:cNvSpPr>
          <p:nvPr/>
        </p:nvSpPr>
        <p:spPr bwMode="auto">
          <a:xfrm>
            <a:off x="7467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711706" name="Text Box 26"/>
          <p:cNvSpPr txBox="1">
            <a:spLocks noChangeArrowheads="1"/>
          </p:cNvSpPr>
          <p:nvPr/>
        </p:nvSpPr>
        <p:spPr bwMode="auto">
          <a:xfrm>
            <a:off x="4648201" y="1752600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711707" name="Text Box 27"/>
          <p:cNvSpPr txBox="1">
            <a:spLocks noChangeArrowheads="1"/>
          </p:cNvSpPr>
          <p:nvPr/>
        </p:nvSpPr>
        <p:spPr bwMode="auto">
          <a:xfrm>
            <a:off x="73914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711708" name="Oval 28"/>
          <p:cNvSpPr>
            <a:spLocks noChangeArrowheads="1"/>
          </p:cNvSpPr>
          <p:nvPr/>
        </p:nvSpPr>
        <p:spPr bwMode="auto">
          <a:xfrm>
            <a:off x="6116638" y="12255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5943600" y="914400"/>
            <a:ext cx="304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1710" name="Text Box 30"/>
          <p:cNvSpPr txBox="1">
            <a:spLocks noChangeArrowheads="1"/>
          </p:cNvSpPr>
          <p:nvPr/>
        </p:nvSpPr>
        <p:spPr bwMode="auto">
          <a:xfrm>
            <a:off x="5867400" y="914400"/>
            <a:ext cx="457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3" grpId="0" autoUpdateAnimBg="0"/>
      <p:bldP spid="711684" grpId="0" autoUpdateAnimBg="0"/>
      <p:bldP spid="711685" grpId="0" animBg="1"/>
      <p:bldP spid="711686" grpId="0" animBg="1"/>
      <p:bldP spid="711687" grpId="0" animBg="1" autoUpdateAnimBg="0"/>
      <p:bldP spid="711688" grpId="0" animBg="1"/>
      <p:bldP spid="711689" grpId="0" animBg="1"/>
      <p:bldP spid="711690" grpId="0" animBg="1"/>
      <p:bldP spid="711691" grpId="0" animBg="1"/>
      <p:bldP spid="711692" grpId="0" animBg="1"/>
      <p:bldP spid="711693" grpId="0" animBg="1"/>
      <p:bldP spid="711698" grpId="0"/>
      <p:bldP spid="711704" grpId="0" animBg="1"/>
      <p:bldP spid="711705" grpId="0"/>
      <p:bldP spid="711706" grpId="0" animBg="1"/>
      <p:bldP spid="711707" grpId="0"/>
      <p:bldP spid="711708" grpId="0" animBg="1"/>
      <p:bldP spid="7117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877888"/>
            <a:ext cx="7696200" cy="32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1876" name="Line 4"/>
          <p:cNvSpPr>
            <a:spLocks noChangeShapeType="1"/>
          </p:cNvSpPr>
          <p:nvPr/>
        </p:nvSpPr>
        <p:spPr bwMode="auto">
          <a:xfrm flipV="1">
            <a:off x="2597151" y="3741738"/>
            <a:ext cx="2098675" cy="127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77" name="Line 5"/>
          <p:cNvSpPr>
            <a:spLocks noChangeShapeType="1"/>
          </p:cNvSpPr>
          <p:nvPr/>
        </p:nvSpPr>
        <p:spPr bwMode="auto">
          <a:xfrm>
            <a:off x="5048250" y="3748088"/>
            <a:ext cx="23114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78" name="Line 6"/>
          <p:cNvSpPr>
            <a:spLocks noChangeShapeType="1"/>
          </p:cNvSpPr>
          <p:nvPr/>
        </p:nvSpPr>
        <p:spPr bwMode="auto">
          <a:xfrm>
            <a:off x="7734300" y="3748088"/>
            <a:ext cx="20955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79" name="Line 7"/>
          <p:cNvSpPr>
            <a:spLocks noChangeShapeType="1"/>
          </p:cNvSpPr>
          <p:nvPr/>
        </p:nvSpPr>
        <p:spPr bwMode="auto">
          <a:xfrm>
            <a:off x="7943850" y="2452688"/>
            <a:ext cx="1885950" cy="12890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80" name="Line 8"/>
          <p:cNvSpPr>
            <a:spLocks noChangeShapeType="1"/>
          </p:cNvSpPr>
          <p:nvPr/>
        </p:nvSpPr>
        <p:spPr bwMode="auto">
          <a:xfrm>
            <a:off x="6248400" y="1284288"/>
            <a:ext cx="1466850" cy="10033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81" name="Line 9"/>
          <p:cNvSpPr>
            <a:spLocks noChangeShapeType="1"/>
          </p:cNvSpPr>
          <p:nvPr/>
        </p:nvSpPr>
        <p:spPr bwMode="auto">
          <a:xfrm flipV="1">
            <a:off x="4711700" y="1271588"/>
            <a:ext cx="1473200" cy="10096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82" name="Line 10"/>
          <p:cNvSpPr>
            <a:spLocks noChangeShapeType="1"/>
          </p:cNvSpPr>
          <p:nvPr/>
        </p:nvSpPr>
        <p:spPr bwMode="auto">
          <a:xfrm flipV="1">
            <a:off x="2584450" y="2446338"/>
            <a:ext cx="1892300" cy="12827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83" name="Text Box 11"/>
          <p:cNvSpPr txBox="1">
            <a:spLocks noChangeArrowheads="1"/>
          </p:cNvSpPr>
          <p:nvPr/>
        </p:nvSpPr>
        <p:spPr bwMode="auto">
          <a:xfrm>
            <a:off x="2449776" y="5470525"/>
            <a:ext cx="59957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chemeClr val="folHlink"/>
                </a:solidFill>
              </a:rPr>
              <a:t> </a:t>
            </a:r>
            <a:r>
              <a:rPr lang="en-US" sz="2000" b="1" dirty="0" err="1">
                <a:solidFill>
                  <a:schemeClr val="folHlink"/>
                </a:solidFill>
              </a:rPr>
              <a:t>Epipolar</a:t>
            </a:r>
            <a:r>
              <a:rPr lang="en-US" sz="2000" b="1" dirty="0">
                <a:solidFill>
                  <a:schemeClr val="folHlink"/>
                </a:solidFill>
              </a:rPr>
              <a:t> Plane</a:t>
            </a:r>
            <a:r>
              <a:rPr lang="en-US" sz="2000" dirty="0">
                <a:solidFill>
                  <a:schemeClr val="folHlink"/>
                </a:solidFill>
              </a:rPr>
              <a:t> – plane containing baseline (1D family)</a:t>
            </a:r>
          </a:p>
        </p:txBody>
      </p:sp>
      <p:sp>
        <p:nvSpPr>
          <p:cNvPr id="591884" name="Oval 12"/>
          <p:cNvSpPr>
            <a:spLocks noChangeArrowheads="1"/>
          </p:cNvSpPr>
          <p:nvPr/>
        </p:nvSpPr>
        <p:spPr bwMode="auto">
          <a:xfrm>
            <a:off x="4629150" y="365918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85" name="Oval 13"/>
          <p:cNvSpPr>
            <a:spLocks noChangeArrowheads="1"/>
          </p:cNvSpPr>
          <p:nvPr/>
        </p:nvSpPr>
        <p:spPr bwMode="auto">
          <a:xfrm>
            <a:off x="7626350" y="369093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86" name="Text Box 14"/>
          <p:cNvSpPr txBox="1">
            <a:spLocks noChangeArrowheads="1"/>
          </p:cNvSpPr>
          <p:nvPr/>
        </p:nvSpPr>
        <p:spPr bwMode="auto">
          <a:xfrm>
            <a:off x="2444089" y="4419601"/>
            <a:ext cx="492115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rgbClr val="339966"/>
                </a:solidFill>
              </a:rPr>
              <a:t> </a:t>
            </a:r>
            <a:r>
              <a:rPr lang="en-US" sz="2000" b="1" dirty="0" err="1">
                <a:solidFill>
                  <a:srgbClr val="339966"/>
                </a:solidFill>
              </a:rPr>
              <a:t>Epipoles</a:t>
            </a:r>
            <a:r>
              <a:rPr lang="en-US" sz="2000" b="1" dirty="0">
                <a:solidFill>
                  <a:srgbClr val="339966"/>
                </a:solidFill>
              </a:rPr>
              <a:t> </a:t>
            </a:r>
          </a:p>
          <a:p>
            <a:r>
              <a:rPr lang="en-US" sz="2000" dirty="0">
                <a:solidFill>
                  <a:srgbClr val="339966"/>
                </a:solidFill>
              </a:rPr>
              <a:t>= intersections of baseline with image planes </a:t>
            </a:r>
          </a:p>
          <a:p>
            <a:r>
              <a:rPr lang="en-US" sz="2000" dirty="0">
                <a:solidFill>
                  <a:srgbClr val="339966"/>
                </a:solidFill>
              </a:rPr>
              <a:t>= projections of the other camera center</a:t>
            </a:r>
          </a:p>
        </p:txBody>
      </p:sp>
      <p:sp>
        <p:nvSpPr>
          <p:cNvPr id="591890" name="Text Box 18"/>
          <p:cNvSpPr txBox="1">
            <a:spLocks noChangeArrowheads="1"/>
          </p:cNvSpPr>
          <p:nvPr/>
        </p:nvSpPr>
        <p:spPr bwMode="auto">
          <a:xfrm>
            <a:off x="2438400" y="4010025"/>
            <a:ext cx="56199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rgbClr val="FF3399"/>
                </a:solidFill>
              </a:rPr>
              <a:t> </a:t>
            </a:r>
            <a:r>
              <a:rPr lang="en-US" sz="2000" b="1" dirty="0">
                <a:solidFill>
                  <a:srgbClr val="FF3399"/>
                </a:solidFill>
              </a:rPr>
              <a:t>Baseline</a:t>
            </a:r>
            <a:r>
              <a:rPr lang="en-US" sz="2000" dirty="0">
                <a:solidFill>
                  <a:srgbClr val="FF3399"/>
                </a:solidFill>
              </a:rPr>
              <a:t> – line connecting the two camera centers</a:t>
            </a:r>
          </a:p>
        </p:txBody>
      </p:sp>
      <p:sp>
        <p:nvSpPr>
          <p:cNvPr id="591891" name="Line 19"/>
          <p:cNvSpPr>
            <a:spLocks noChangeShapeType="1"/>
          </p:cNvSpPr>
          <p:nvPr/>
        </p:nvSpPr>
        <p:spPr bwMode="auto">
          <a:xfrm>
            <a:off x="2590800" y="3773488"/>
            <a:ext cx="20574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92" name="Line 20"/>
          <p:cNvSpPr>
            <a:spLocks noChangeShapeType="1"/>
          </p:cNvSpPr>
          <p:nvPr/>
        </p:nvSpPr>
        <p:spPr bwMode="auto">
          <a:xfrm>
            <a:off x="5029200" y="3773488"/>
            <a:ext cx="23622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1893" name="Line 21"/>
          <p:cNvSpPr>
            <a:spLocks noChangeShapeType="1"/>
          </p:cNvSpPr>
          <p:nvPr/>
        </p:nvSpPr>
        <p:spPr bwMode="auto">
          <a:xfrm>
            <a:off x="7772400" y="3773488"/>
            <a:ext cx="20574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2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geometry: notation</a:t>
            </a:r>
          </a:p>
        </p:txBody>
      </p:sp>
      <p:sp>
        <p:nvSpPr>
          <p:cNvPr id="13333" name="Rectangle 24"/>
          <p:cNvSpPr>
            <a:spLocks noChangeArrowheads="1"/>
          </p:cNvSpPr>
          <p:nvPr/>
        </p:nvSpPr>
        <p:spPr bwMode="auto">
          <a:xfrm>
            <a:off x="2438400" y="1552575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4" name="Rectangle 25"/>
          <p:cNvSpPr>
            <a:spLocks noChangeArrowheads="1"/>
          </p:cNvSpPr>
          <p:nvPr/>
        </p:nvSpPr>
        <p:spPr bwMode="auto">
          <a:xfrm>
            <a:off x="9694863" y="1562100"/>
            <a:ext cx="322262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5" name="Text Box 26"/>
          <p:cNvSpPr txBox="1">
            <a:spLocks noChangeArrowheads="1"/>
          </p:cNvSpPr>
          <p:nvPr/>
        </p:nvSpPr>
        <p:spPr bwMode="auto">
          <a:xfrm>
            <a:off x="6096001" y="892175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13336" name="Freeform 29"/>
          <p:cNvSpPr>
            <a:spLocks/>
          </p:cNvSpPr>
          <p:nvPr/>
        </p:nvSpPr>
        <p:spPr bwMode="auto">
          <a:xfrm>
            <a:off x="4191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7" name="Text Box 27"/>
          <p:cNvSpPr txBox="1">
            <a:spLocks noChangeArrowheads="1"/>
          </p:cNvSpPr>
          <p:nvPr/>
        </p:nvSpPr>
        <p:spPr bwMode="auto">
          <a:xfrm>
            <a:off x="4191000" y="2209800"/>
            <a:ext cx="209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13338" name="Freeform 30"/>
          <p:cNvSpPr>
            <a:spLocks/>
          </p:cNvSpPr>
          <p:nvPr/>
        </p:nvSpPr>
        <p:spPr bwMode="auto">
          <a:xfrm>
            <a:off x="8001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9" name="Text Box 31"/>
          <p:cNvSpPr txBox="1">
            <a:spLocks noChangeArrowheads="1"/>
          </p:cNvSpPr>
          <p:nvPr/>
        </p:nvSpPr>
        <p:spPr bwMode="auto">
          <a:xfrm>
            <a:off x="79248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76" grpId="0" animBg="1"/>
      <p:bldP spid="591877" grpId="0" animBg="1"/>
      <p:bldP spid="591878" grpId="0" animBg="1"/>
      <p:bldP spid="591879" grpId="0" animBg="1"/>
      <p:bldP spid="591880" grpId="0" animBg="1"/>
      <p:bldP spid="591881" grpId="0" animBg="1"/>
      <p:bldP spid="591882" grpId="0" animBg="1"/>
      <p:bldP spid="591883" grpId="0" autoUpdateAnimBg="0"/>
      <p:bldP spid="591884" grpId="0" animBg="1"/>
      <p:bldP spid="591885" grpId="0" animBg="1"/>
      <p:bldP spid="591886" grpId="0" autoUpdateAnimBg="0"/>
      <p:bldP spid="591890" grpId="0" autoUpdateAnimBg="0"/>
      <p:bldP spid="591891" grpId="0" animBg="1"/>
      <p:bldP spid="591892" grpId="0" animBg="1"/>
      <p:bldP spid="59189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877888"/>
            <a:ext cx="7696200" cy="32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Line 4"/>
          <p:cNvSpPr>
            <a:spLocks noChangeShapeType="1"/>
          </p:cNvSpPr>
          <p:nvPr/>
        </p:nvSpPr>
        <p:spPr bwMode="auto">
          <a:xfrm flipV="1">
            <a:off x="2597151" y="3741738"/>
            <a:ext cx="2098675" cy="127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Line 5"/>
          <p:cNvSpPr>
            <a:spLocks noChangeShapeType="1"/>
          </p:cNvSpPr>
          <p:nvPr/>
        </p:nvSpPr>
        <p:spPr bwMode="auto">
          <a:xfrm>
            <a:off x="5048250" y="3748088"/>
            <a:ext cx="23114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>
            <a:off x="7734300" y="3748088"/>
            <a:ext cx="20955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>
            <a:off x="7943850" y="2452688"/>
            <a:ext cx="1885950" cy="12890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>
            <a:off x="6248400" y="1284288"/>
            <a:ext cx="1466850" cy="10033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Line 9"/>
          <p:cNvSpPr>
            <a:spLocks noChangeShapeType="1"/>
          </p:cNvSpPr>
          <p:nvPr/>
        </p:nvSpPr>
        <p:spPr bwMode="auto">
          <a:xfrm flipV="1">
            <a:off x="4711700" y="1271588"/>
            <a:ext cx="1473200" cy="10096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Line 10"/>
          <p:cNvSpPr>
            <a:spLocks noChangeShapeType="1"/>
          </p:cNvSpPr>
          <p:nvPr/>
        </p:nvSpPr>
        <p:spPr bwMode="auto">
          <a:xfrm flipV="1">
            <a:off x="2584450" y="2446338"/>
            <a:ext cx="1892300" cy="12827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Oval 12"/>
          <p:cNvSpPr>
            <a:spLocks noChangeArrowheads="1"/>
          </p:cNvSpPr>
          <p:nvPr/>
        </p:nvSpPr>
        <p:spPr bwMode="auto">
          <a:xfrm>
            <a:off x="4629150" y="365918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Oval 13"/>
          <p:cNvSpPr>
            <a:spLocks noChangeArrowheads="1"/>
          </p:cNvSpPr>
          <p:nvPr/>
        </p:nvSpPr>
        <p:spPr bwMode="auto">
          <a:xfrm>
            <a:off x="7626350" y="369093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4476750" y="2300288"/>
            <a:ext cx="3460750" cy="1600200"/>
            <a:chOff x="2952750" y="2300288"/>
            <a:chExt cx="3460750" cy="1600200"/>
          </a:xfrm>
        </p:grpSpPr>
        <p:sp>
          <p:nvSpPr>
            <p:cNvPr id="591887" name="Line 15"/>
            <p:cNvSpPr>
              <a:spLocks noChangeShapeType="1"/>
            </p:cNvSpPr>
            <p:nvPr/>
          </p:nvSpPr>
          <p:spPr bwMode="auto">
            <a:xfrm flipH="1" flipV="1">
              <a:off x="2952750" y="2300288"/>
              <a:ext cx="260350" cy="158115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1888" name="Line 16"/>
            <p:cNvSpPr>
              <a:spLocks noChangeShapeType="1"/>
            </p:cNvSpPr>
            <p:nvPr/>
          </p:nvSpPr>
          <p:spPr bwMode="auto">
            <a:xfrm flipV="1">
              <a:off x="6159500" y="2312988"/>
              <a:ext cx="254000" cy="15875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91889" name="Text Box 17"/>
          <p:cNvSpPr txBox="1">
            <a:spLocks noChangeArrowheads="1"/>
          </p:cNvSpPr>
          <p:nvPr/>
        </p:nvSpPr>
        <p:spPr bwMode="auto">
          <a:xfrm>
            <a:off x="2438400" y="5804849"/>
            <a:ext cx="74676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rgbClr val="A50021"/>
                </a:solidFill>
              </a:rPr>
              <a:t> </a:t>
            </a:r>
            <a:r>
              <a:rPr lang="en-US" sz="2000" b="1" dirty="0" err="1">
                <a:solidFill>
                  <a:srgbClr val="A50021"/>
                </a:solidFill>
              </a:rPr>
              <a:t>Epipolar</a:t>
            </a:r>
            <a:r>
              <a:rPr lang="en-US" sz="2000" b="1" dirty="0">
                <a:solidFill>
                  <a:srgbClr val="A50021"/>
                </a:solidFill>
              </a:rPr>
              <a:t> Lines</a:t>
            </a:r>
            <a:r>
              <a:rPr lang="en-US" sz="2000" dirty="0">
                <a:solidFill>
                  <a:srgbClr val="A50021"/>
                </a:solidFill>
              </a:rPr>
              <a:t> - intersections of </a:t>
            </a:r>
            <a:r>
              <a:rPr lang="en-US" sz="2000" dirty="0" err="1">
                <a:solidFill>
                  <a:srgbClr val="A50021"/>
                </a:solidFill>
              </a:rPr>
              <a:t>epipolar</a:t>
            </a:r>
            <a:r>
              <a:rPr lang="en-US" sz="2000" dirty="0">
                <a:solidFill>
                  <a:srgbClr val="A50021"/>
                </a:solidFill>
              </a:rPr>
              <a:t> plane with image</a:t>
            </a:r>
            <a:br>
              <a:rPr lang="en-US" sz="2000" dirty="0">
                <a:solidFill>
                  <a:srgbClr val="A50021"/>
                </a:solidFill>
              </a:rPr>
            </a:br>
            <a:r>
              <a:rPr lang="en-US" sz="2000" dirty="0">
                <a:solidFill>
                  <a:srgbClr val="A50021"/>
                </a:solidFill>
              </a:rPr>
              <a:t>  planes (always come in corresponding pairs)</a:t>
            </a:r>
          </a:p>
          <a:p>
            <a:pPr eaLnBrk="1" hangingPunct="1">
              <a:buFontTx/>
              <a:buChar char="•"/>
            </a:pPr>
            <a:endParaRPr lang="en-US" sz="2000" dirty="0">
              <a:solidFill>
                <a:srgbClr val="A50021"/>
              </a:solidFill>
            </a:endParaRPr>
          </a:p>
        </p:txBody>
      </p:sp>
      <p:sp>
        <p:nvSpPr>
          <p:cNvPr id="15378" name="Line 19"/>
          <p:cNvSpPr>
            <a:spLocks noChangeShapeType="1"/>
          </p:cNvSpPr>
          <p:nvPr/>
        </p:nvSpPr>
        <p:spPr bwMode="auto">
          <a:xfrm>
            <a:off x="2590800" y="3773488"/>
            <a:ext cx="20574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Line 20"/>
          <p:cNvSpPr>
            <a:spLocks noChangeShapeType="1"/>
          </p:cNvSpPr>
          <p:nvPr/>
        </p:nvSpPr>
        <p:spPr bwMode="auto">
          <a:xfrm>
            <a:off x="5029200" y="3773488"/>
            <a:ext cx="23622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Line 21"/>
          <p:cNvSpPr>
            <a:spLocks noChangeShapeType="1"/>
          </p:cNvSpPr>
          <p:nvPr/>
        </p:nvSpPr>
        <p:spPr bwMode="auto">
          <a:xfrm>
            <a:off x="7772400" y="3773488"/>
            <a:ext cx="2057400" cy="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geometry: notation</a:t>
            </a:r>
          </a:p>
        </p:txBody>
      </p:sp>
      <p:sp>
        <p:nvSpPr>
          <p:cNvPr id="15382" name="Rectangle 24"/>
          <p:cNvSpPr>
            <a:spLocks noChangeArrowheads="1"/>
          </p:cNvSpPr>
          <p:nvPr/>
        </p:nvSpPr>
        <p:spPr bwMode="auto">
          <a:xfrm>
            <a:off x="2438400" y="1552575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Rectangle 25"/>
          <p:cNvSpPr>
            <a:spLocks noChangeArrowheads="1"/>
          </p:cNvSpPr>
          <p:nvPr/>
        </p:nvSpPr>
        <p:spPr bwMode="auto">
          <a:xfrm>
            <a:off x="9694863" y="1562100"/>
            <a:ext cx="322262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Text Box 26"/>
          <p:cNvSpPr txBox="1">
            <a:spLocks noChangeArrowheads="1"/>
          </p:cNvSpPr>
          <p:nvPr/>
        </p:nvSpPr>
        <p:spPr bwMode="auto">
          <a:xfrm>
            <a:off x="6096001" y="892175"/>
            <a:ext cx="30321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15385" name="Freeform 29"/>
          <p:cNvSpPr>
            <a:spLocks/>
          </p:cNvSpPr>
          <p:nvPr/>
        </p:nvSpPr>
        <p:spPr bwMode="auto">
          <a:xfrm>
            <a:off x="4191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6" name="Text Box 27"/>
          <p:cNvSpPr txBox="1">
            <a:spLocks noChangeArrowheads="1"/>
          </p:cNvSpPr>
          <p:nvPr/>
        </p:nvSpPr>
        <p:spPr bwMode="auto">
          <a:xfrm>
            <a:off x="4191000" y="2209800"/>
            <a:ext cx="209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15387" name="Freeform 30"/>
          <p:cNvSpPr>
            <a:spLocks/>
          </p:cNvSpPr>
          <p:nvPr/>
        </p:nvSpPr>
        <p:spPr bwMode="auto">
          <a:xfrm>
            <a:off x="8001000" y="2286000"/>
            <a:ext cx="228600" cy="228600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8" name="Text Box 31"/>
          <p:cNvSpPr txBox="1">
            <a:spLocks noChangeArrowheads="1"/>
          </p:cNvSpPr>
          <p:nvPr/>
        </p:nvSpPr>
        <p:spPr bwMode="auto">
          <a:xfrm>
            <a:off x="79248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2449776" y="5470525"/>
            <a:ext cx="59957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chemeClr val="folHlink"/>
                </a:solidFill>
              </a:rPr>
              <a:t> </a:t>
            </a:r>
            <a:r>
              <a:rPr lang="en-US" sz="2000" b="1" dirty="0" err="1">
                <a:solidFill>
                  <a:schemeClr val="folHlink"/>
                </a:solidFill>
              </a:rPr>
              <a:t>Epipolar</a:t>
            </a:r>
            <a:r>
              <a:rPr lang="en-US" sz="2000" b="1" dirty="0">
                <a:solidFill>
                  <a:schemeClr val="folHlink"/>
                </a:solidFill>
              </a:rPr>
              <a:t> Plane</a:t>
            </a:r>
            <a:r>
              <a:rPr lang="en-US" sz="2000" dirty="0">
                <a:solidFill>
                  <a:schemeClr val="folHlink"/>
                </a:solidFill>
              </a:rPr>
              <a:t> – plane containing baseline (1D family)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2444089" y="4419601"/>
            <a:ext cx="492115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rgbClr val="339966"/>
                </a:solidFill>
              </a:rPr>
              <a:t> </a:t>
            </a:r>
            <a:r>
              <a:rPr lang="en-US" sz="2000" b="1" dirty="0" err="1">
                <a:solidFill>
                  <a:srgbClr val="339966"/>
                </a:solidFill>
              </a:rPr>
              <a:t>Epipoles</a:t>
            </a:r>
            <a:r>
              <a:rPr lang="en-US" sz="2000" b="1" dirty="0">
                <a:solidFill>
                  <a:srgbClr val="339966"/>
                </a:solidFill>
              </a:rPr>
              <a:t> </a:t>
            </a:r>
          </a:p>
          <a:p>
            <a:r>
              <a:rPr lang="en-US" sz="2000" dirty="0">
                <a:solidFill>
                  <a:srgbClr val="339966"/>
                </a:solidFill>
              </a:rPr>
              <a:t>= intersections of baseline with image planes </a:t>
            </a:r>
          </a:p>
          <a:p>
            <a:r>
              <a:rPr lang="en-US" sz="2000" dirty="0">
                <a:solidFill>
                  <a:srgbClr val="339966"/>
                </a:solidFill>
              </a:rPr>
              <a:t>= projections of the other camera center</a:t>
            </a: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2438400" y="4010025"/>
            <a:ext cx="56199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rgbClr val="FF3399"/>
                </a:solidFill>
              </a:rPr>
              <a:t> </a:t>
            </a:r>
            <a:r>
              <a:rPr lang="en-US" sz="2000" b="1" dirty="0">
                <a:solidFill>
                  <a:srgbClr val="FF3399"/>
                </a:solidFill>
              </a:rPr>
              <a:t>Baseline</a:t>
            </a:r>
            <a:r>
              <a:rPr lang="en-US" sz="2000" dirty="0">
                <a:solidFill>
                  <a:srgbClr val="FF3399"/>
                </a:solidFill>
              </a:rPr>
              <a:t> – line connecting the two camera centers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fig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0751" y="3255963"/>
            <a:ext cx="3876675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 descr="fig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1" y="3255963"/>
            <a:ext cx="3876675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4" descr="fig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56064" y="914400"/>
            <a:ext cx="370522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Converging cameras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 descr="fig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5551" y="3905250"/>
            <a:ext cx="3370263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1" name="Picture 4" descr="fig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28976" y="1536701"/>
            <a:ext cx="555307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Picture 5" descr="fig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43201" y="3917951"/>
            <a:ext cx="3332163" cy="178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Rectangle 6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924800" cy="838200"/>
          </a:xfrm>
        </p:spPr>
        <p:txBody>
          <a:bodyPr>
            <a:normAutofit fontScale="90000"/>
          </a:bodyPr>
          <a:lstStyle/>
          <a:p>
            <a:r>
              <a:rPr lang="en-US"/>
              <a:t>Example: Motion parallel to image plane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2" name="Rectangle 2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Forward motion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	What would the </a:t>
            </a:r>
            <a:r>
              <a:rPr lang="en-US" dirty="0" err="1"/>
              <a:t>epipolar</a:t>
            </a:r>
            <a:r>
              <a:rPr lang="en-US" dirty="0"/>
              <a:t> lines look like if the camera moves directly forward?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 descr="fig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1" y="3941763"/>
            <a:ext cx="2682875" cy="272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4" descr="fig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52689" y="1066801"/>
            <a:ext cx="2682875" cy="272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6865938" y="2435225"/>
            <a:ext cx="2049462" cy="17224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7229475" y="1524001"/>
            <a:ext cx="1282700" cy="11350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Freeform 7"/>
          <p:cNvSpPr>
            <a:spLocks/>
          </p:cNvSpPr>
          <p:nvPr/>
        </p:nvSpPr>
        <p:spPr bwMode="auto">
          <a:xfrm>
            <a:off x="6948488" y="1798638"/>
            <a:ext cx="914400" cy="1935162"/>
          </a:xfrm>
          <a:custGeom>
            <a:avLst/>
            <a:gdLst>
              <a:gd name="T0" fmla="*/ 2147483647 w 576"/>
              <a:gd name="T1" fmla="*/ 2147483647 h 1219"/>
              <a:gd name="T2" fmla="*/ 2147483647 w 576"/>
              <a:gd name="T3" fmla="*/ 2147483647 h 1219"/>
              <a:gd name="T4" fmla="*/ 2147483647 w 576"/>
              <a:gd name="T5" fmla="*/ 0 h 1219"/>
              <a:gd name="T6" fmla="*/ 0 w 576"/>
              <a:gd name="T7" fmla="*/ 2147483647 h 1219"/>
              <a:gd name="T8" fmla="*/ 2147483647 w 576"/>
              <a:gd name="T9" fmla="*/ 2147483647 h 12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1219"/>
              <a:gd name="T17" fmla="*/ 576 w 576"/>
              <a:gd name="T18" fmla="*/ 1219 h 12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1219">
                <a:moveTo>
                  <a:pt x="576" y="1219"/>
                </a:moveTo>
                <a:lnTo>
                  <a:pt x="571" y="108"/>
                </a:lnTo>
                <a:lnTo>
                  <a:pt x="266" y="0"/>
                </a:lnTo>
                <a:lnTo>
                  <a:pt x="0" y="1003"/>
                </a:lnTo>
                <a:lnTo>
                  <a:pt x="576" y="121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Freeform 8"/>
          <p:cNvSpPr>
            <a:spLocks/>
          </p:cNvSpPr>
          <p:nvPr/>
        </p:nvSpPr>
        <p:spPr bwMode="auto">
          <a:xfrm flipH="1">
            <a:off x="7858125" y="1793876"/>
            <a:ext cx="914400" cy="1935163"/>
          </a:xfrm>
          <a:custGeom>
            <a:avLst/>
            <a:gdLst>
              <a:gd name="T0" fmla="*/ 2147483647 w 576"/>
              <a:gd name="T1" fmla="*/ 2147483647 h 1219"/>
              <a:gd name="T2" fmla="*/ 2147483647 w 576"/>
              <a:gd name="T3" fmla="*/ 2147483647 h 1219"/>
              <a:gd name="T4" fmla="*/ 2147483647 w 576"/>
              <a:gd name="T5" fmla="*/ 0 h 1219"/>
              <a:gd name="T6" fmla="*/ 0 w 576"/>
              <a:gd name="T7" fmla="*/ 2147483647 h 1219"/>
              <a:gd name="T8" fmla="*/ 2147483647 w 576"/>
              <a:gd name="T9" fmla="*/ 2147483647 h 12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1219"/>
              <a:gd name="T17" fmla="*/ 576 w 576"/>
              <a:gd name="T18" fmla="*/ 1219 h 12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1219">
                <a:moveTo>
                  <a:pt x="576" y="1219"/>
                </a:moveTo>
                <a:lnTo>
                  <a:pt x="571" y="108"/>
                </a:lnTo>
                <a:lnTo>
                  <a:pt x="266" y="0"/>
                </a:lnTo>
                <a:lnTo>
                  <a:pt x="0" y="1003"/>
                </a:lnTo>
                <a:lnTo>
                  <a:pt x="576" y="121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Freeform 9"/>
          <p:cNvSpPr>
            <a:spLocks/>
          </p:cNvSpPr>
          <p:nvPr/>
        </p:nvSpPr>
        <p:spPr bwMode="auto">
          <a:xfrm>
            <a:off x="7861301" y="1984375"/>
            <a:ext cx="923925" cy="2001838"/>
          </a:xfrm>
          <a:custGeom>
            <a:avLst/>
            <a:gdLst>
              <a:gd name="T0" fmla="*/ 0 w 582"/>
              <a:gd name="T1" fmla="*/ 2147483647 h 1261"/>
              <a:gd name="T2" fmla="*/ 2147483647 w 582"/>
              <a:gd name="T3" fmla="*/ 0 h 1261"/>
              <a:gd name="T4" fmla="*/ 2147483647 w 582"/>
              <a:gd name="T5" fmla="*/ 2147483647 h 1261"/>
              <a:gd name="T6" fmla="*/ 2147483647 w 582"/>
              <a:gd name="T7" fmla="*/ 2147483647 h 1261"/>
              <a:gd name="T8" fmla="*/ 0 w 582"/>
              <a:gd name="T9" fmla="*/ 2147483647 h 1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2"/>
              <a:gd name="T16" fmla="*/ 0 h 1261"/>
              <a:gd name="T17" fmla="*/ 582 w 582"/>
              <a:gd name="T18" fmla="*/ 1261 h 1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2" h="1261">
                <a:moveTo>
                  <a:pt x="0" y="1111"/>
                </a:moveTo>
                <a:lnTo>
                  <a:pt x="5" y="0"/>
                </a:lnTo>
                <a:lnTo>
                  <a:pt x="269" y="68"/>
                </a:lnTo>
                <a:lnTo>
                  <a:pt x="582" y="1261"/>
                </a:lnTo>
                <a:lnTo>
                  <a:pt x="0" y="111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Freeform 10"/>
          <p:cNvSpPr>
            <a:spLocks/>
          </p:cNvSpPr>
          <p:nvPr/>
        </p:nvSpPr>
        <p:spPr bwMode="auto">
          <a:xfrm flipH="1">
            <a:off x="6932614" y="1978025"/>
            <a:ext cx="923925" cy="2001838"/>
          </a:xfrm>
          <a:custGeom>
            <a:avLst/>
            <a:gdLst>
              <a:gd name="T0" fmla="*/ 0 w 582"/>
              <a:gd name="T1" fmla="*/ 2147483647 h 1261"/>
              <a:gd name="T2" fmla="*/ 2147483647 w 582"/>
              <a:gd name="T3" fmla="*/ 0 h 1261"/>
              <a:gd name="T4" fmla="*/ 2147483647 w 582"/>
              <a:gd name="T5" fmla="*/ 2147483647 h 1261"/>
              <a:gd name="T6" fmla="*/ 2147483647 w 582"/>
              <a:gd name="T7" fmla="*/ 2147483647 h 1261"/>
              <a:gd name="T8" fmla="*/ 0 w 582"/>
              <a:gd name="T9" fmla="*/ 2147483647 h 1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2"/>
              <a:gd name="T16" fmla="*/ 0 h 1261"/>
              <a:gd name="T17" fmla="*/ 582 w 582"/>
              <a:gd name="T18" fmla="*/ 1261 h 1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2" h="1261">
                <a:moveTo>
                  <a:pt x="0" y="1111"/>
                </a:moveTo>
                <a:lnTo>
                  <a:pt x="5" y="0"/>
                </a:lnTo>
                <a:lnTo>
                  <a:pt x="269" y="68"/>
                </a:lnTo>
                <a:lnTo>
                  <a:pt x="582" y="1261"/>
                </a:lnTo>
                <a:lnTo>
                  <a:pt x="0" y="111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2" name="Line 11"/>
          <p:cNvSpPr>
            <a:spLocks noChangeShapeType="1"/>
          </p:cNvSpPr>
          <p:nvPr/>
        </p:nvSpPr>
        <p:spPr bwMode="auto">
          <a:xfrm>
            <a:off x="7062788" y="2982914"/>
            <a:ext cx="792162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Line 12"/>
          <p:cNvSpPr>
            <a:spLocks noChangeShapeType="1"/>
          </p:cNvSpPr>
          <p:nvPr/>
        </p:nvSpPr>
        <p:spPr bwMode="auto">
          <a:xfrm flipV="1">
            <a:off x="7874000" y="3001963"/>
            <a:ext cx="800100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4" name="Line 13"/>
          <p:cNvSpPr>
            <a:spLocks noChangeShapeType="1"/>
          </p:cNvSpPr>
          <p:nvPr/>
        </p:nvSpPr>
        <p:spPr bwMode="auto">
          <a:xfrm>
            <a:off x="7869239" y="3290889"/>
            <a:ext cx="784225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5" name="Line 14"/>
          <p:cNvSpPr>
            <a:spLocks noChangeShapeType="1"/>
          </p:cNvSpPr>
          <p:nvPr/>
        </p:nvSpPr>
        <p:spPr bwMode="auto">
          <a:xfrm flipH="1">
            <a:off x="7064375" y="3276601"/>
            <a:ext cx="808038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Oval 15"/>
          <p:cNvSpPr>
            <a:spLocks noChangeArrowheads="1"/>
          </p:cNvSpPr>
          <p:nvPr/>
        </p:nvSpPr>
        <p:spPr bwMode="auto">
          <a:xfrm>
            <a:off x="7831139" y="3709988"/>
            <a:ext cx="65087" cy="55562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Oval 16"/>
          <p:cNvSpPr>
            <a:spLocks noChangeArrowheads="1"/>
          </p:cNvSpPr>
          <p:nvPr/>
        </p:nvSpPr>
        <p:spPr bwMode="auto">
          <a:xfrm>
            <a:off x="7826375" y="2178051"/>
            <a:ext cx="65088" cy="55563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Oval 17"/>
          <p:cNvSpPr>
            <a:spLocks noChangeArrowheads="1"/>
          </p:cNvSpPr>
          <p:nvPr/>
        </p:nvSpPr>
        <p:spPr bwMode="auto">
          <a:xfrm>
            <a:off x="7834314" y="3248026"/>
            <a:ext cx="65087" cy="55563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9" name="Oval 18"/>
          <p:cNvSpPr>
            <a:spLocks noChangeArrowheads="1"/>
          </p:cNvSpPr>
          <p:nvPr/>
        </p:nvSpPr>
        <p:spPr bwMode="auto">
          <a:xfrm>
            <a:off x="7829550" y="1944688"/>
            <a:ext cx="65088" cy="55562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0" name="Text Box 19"/>
          <p:cNvSpPr txBox="1">
            <a:spLocks noChangeArrowheads="1"/>
          </p:cNvSpPr>
          <p:nvPr/>
        </p:nvSpPr>
        <p:spPr bwMode="auto">
          <a:xfrm>
            <a:off x="7788191" y="3668713"/>
            <a:ext cx="312906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/>
              <a:t>e</a:t>
            </a:r>
          </a:p>
        </p:txBody>
      </p:sp>
      <p:sp>
        <p:nvSpPr>
          <p:cNvPr id="18451" name="Text Box 20"/>
          <p:cNvSpPr txBox="1">
            <a:spLocks noChangeArrowheads="1"/>
          </p:cNvSpPr>
          <p:nvPr/>
        </p:nvSpPr>
        <p:spPr bwMode="auto">
          <a:xfrm>
            <a:off x="7708900" y="1606551"/>
            <a:ext cx="3825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/>
              <a:t>e’</a:t>
            </a:r>
          </a:p>
        </p:txBody>
      </p:sp>
      <p:sp>
        <p:nvSpPr>
          <p:cNvPr id="18452" name="Rectangle 21"/>
          <p:cNvSpPr>
            <a:spLocks noGrp="1" noChangeArrowheads="1"/>
          </p:cNvSpPr>
          <p:nvPr>
            <p:ph type="title"/>
          </p:nvPr>
        </p:nvSpPr>
        <p:spPr>
          <a:xfrm>
            <a:off x="838200" y="88105"/>
            <a:ext cx="10515600" cy="1325563"/>
          </a:xfrm>
        </p:spPr>
        <p:txBody>
          <a:bodyPr/>
          <a:lstStyle/>
          <a:p>
            <a:r>
              <a:rPr lang="en-US" dirty="0"/>
              <a:t>Example: Forward motion</a:t>
            </a:r>
          </a:p>
        </p:txBody>
      </p:sp>
      <p:sp>
        <p:nvSpPr>
          <p:cNvPr id="18453" name="Rectangle 22"/>
          <p:cNvSpPr>
            <a:spLocks noChangeArrowheads="1"/>
          </p:cNvSpPr>
          <p:nvPr/>
        </p:nvSpPr>
        <p:spPr bwMode="auto">
          <a:xfrm>
            <a:off x="6096000" y="4330700"/>
            <a:ext cx="45720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Epipole has same coordinates in both images.</a:t>
            </a:r>
          </a:p>
          <a:p>
            <a:r>
              <a:rPr lang="en-US"/>
              <a:t>Points move along lines radiating from e: “Focus of expansion”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27"/>
          <p:cNvSpPr>
            <a:spLocks noChangeArrowheads="1"/>
          </p:cNvSpPr>
          <p:nvPr/>
        </p:nvSpPr>
        <p:spPr bwMode="auto">
          <a:xfrm>
            <a:off x="2584451" y="1806576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Rectangle 28"/>
          <p:cNvSpPr>
            <a:spLocks noChangeArrowheads="1"/>
          </p:cNvSpPr>
          <p:nvPr/>
        </p:nvSpPr>
        <p:spPr bwMode="auto">
          <a:xfrm>
            <a:off x="9193214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Text Box 29"/>
          <p:cNvSpPr txBox="1">
            <a:spLocks noChangeArrowheads="1"/>
          </p:cNvSpPr>
          <p:nvPr/>
        </p:nvSpPr>
        <p:spPr bwMode="auto">
          <a:xfrm>
            <a:off x="5915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X</a:t>
            </a:r>
          </a:p>
        </p:txBody>
      </p:sp>
      <p:sp>
        <p:nvSpPr>
          <p:cNvPr id="22534" name="Freeform 30"/>
          <p:cNvSpPr>
            <a:spLocks/>
          </p:cNvSpPr>
          <p:nvPr/>
        </p:nvSpPr>
        <p:spPr bwMode="auto">
          <a:xfrm>
            <a:off x="4179888" y="2468564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5" name="Text Box 31"/>
          <p:cNvSpPr txBox="1">
            <a:spLocks noChangeArrowheads="1"/>
          </p:cNvSpPr>
          <p:nvPr/>
        </p:nvSpPr>
        <p:spPr bwMode="auto">
          <a:xfrm>
            <a:off x="4179889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 dirty="0">
                <a:latin typeface="Times New Roman" pitchFamily="18" charset="0"/>
              </a:rPr>
              <a:t>x</a:t>
            </a:r>
          </a:p>
        </p:txBody>
      </p:sp>
      <p:sp>
        <p:nvSpPr>
          <p:cNvPr id="22536" name="Freeform 32"/>
          <p:cNvSpPr>
            <a:spLocks/>
          </p:cNvSpPr>
          <p:nvPr/>
        </p:nvSpPr>
        <p:spPr bwMode="auto">
          <a:xfrm>
            <a:off x="7650163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7" name="Text Box 33"/>
          <p:cNvSpPr txBox="1">
            <a:spLocks noChangeArrowheads="1"/>
          </p:cNvSpPr>
          <p:nvPr/>
        </p:nvSpPr>
        <p:spPr bwMode="auto">
          <a:xfrm>
            <a:off x="7581901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22538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Epipolar constraint: Calibrated case</a:t>
            </a:r>
          </a:p>
        </p:txBody>
      </p:sp>
      <p:sp>
        <p:nvSpPr>
          <p:cNvPr id="22539" name="Rectangle 55"/>
          <p:cNvSpPr>
            <a:spLocks noGrp="1" noChangeArrowheads="1"/>
          </p:cNvSpPr>
          <p:nvPr>
            <p:ph type="body" idx="1"/>
          </p:nvPr>
        </p:nvSpPr>
        <p:spPr>
          <a:xfrm>
            <a:off x="2209800" y="4038600"/>
            <a:ext cx="7772400" cy="2514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 dirty="0"/>
              <a:t>	Given the intrinsic parameters of the cameras: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Convert to normalized coordinates by pre-multiplying all points with the inverse of the calibration matrix; set first camera’s coordinate system to world coordinates 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048001" y="5410201"/>
          <a:ext cx="20415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203040" progId="Equation.3">
                  <p:embed/>
                </p:oleObj>
              </mc:Choice>
              <mc:Fallback>
                <p:oleObj name="Equation" r:id="rId4" imgW="888840" imgH="20304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5410201"/>
                        <a:ext cx="2041525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27" name="Object 3"/>
          <p:cNvGraphicFramePr>
            <a:graphicFrameLocks noChangeAspect="1"/>
          </p:cNvGraphicFramePr>
          <p:nvPr/>
        </p:nvGraphicFramePr>
        <p:xfrm>
          <a:off x="7229476" y="5440363"/>
          <a:ext cx="23082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253800" progId="Equation.3">
                  <p:embed/>
                </p:oleObj>
              </mc:Choice>
              <mc:Fallback>
                <p:oleObj name="Equation" r:id="rId6" imgW="1028520" imgH="253800" progId="Equation.3">
                  <p:embed/>
                  <p:pic>
                    <p:nvPicPr>
                      <p:cNvPr id="154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5440363"/>
                        <a:ext cx="230822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592241" y="5908345"/>
            <a:ext cx="2293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Homogeneous 2d point (3D ray towards X)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647157" y="5805501"/>
            <a:ext cx="331787" cy="1640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4284664" y="5887535"/>
            <a:ext cx="211137" cy="3164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54441" y="6135470"/>
            <a:ext cx="2503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2D pixel coordinate (homogeneous)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5105402" y="5729301"/>
            <a:ext cx="361662" cy="1201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06291" y="5770265"/>
            <a:ext cx="2503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3D scene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8318" y="6232268"/>
            <a:ext cx="280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3D scene point in 2</a:t>
            </a:r>
            <a:r>
              <a:rPr lang="en-US" sz="1600" baseline="30000" dirty="0"/>
              <a:t>nd</a:t>
            </a:r>
            <a:r>
              <a:rPr lang="en-US" sz="1600" dirty="0"/>
              <a:t> camera’s 3D coordinates</a:t>
            </a:r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flipH="1" flipV="1">
            <a:off x="9296401" y="5865505"/>
            <a:ext cx="122958" cy="366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956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27"/>
          <p:cNvSpPr>
            <a:spLocks noChangeArrowheads="1"/>
          </p:cNvSpPr>
          <p:nvPr/>
        </p:nvSpPr>
        <p:spPr bwMode="auto">
          <a:xfrm>
            <a:off x="2584451" y="1806576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Rectangle 28"/>
          <p:cNvSpPr>
            <a:spLocks noChangeArrowheads="1"/>
          </p:cNvSpPr>
          <p:nvPr/>
        </p:nvSpPr>
        <p:spPr bwMode="auto">
          <a:xfrm>
            <a:off x="9193214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Text Box 29"/>
          <p:cNvSpPr txBox="1">
            <a:spLocks noChangeArrowheads="1"/>
          </p:cNvSpPr>
          <p:nvPr/>
        </p:nvSpPr>
        <p:spPr bwMode="auto">
          <a:xfrm>
            <a:off x="5915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 dirty="0">
                <a:latin typeface="Times New Roman" pitchFamily="18" charset="0"/>
              </a:rPr>
              <a:t>X</a:t>
            </a:r>
          </a:p>
        </p:txBody>
      </p:sp>
      <p:sp>
        <p:nvSpPr>
          <p:cNvPr id="22534" name="Freeform 30"/>
          <p:cNvSpPr>
            <a:spLocks/>
          </p:cNvSpPr>
          <p:nvPr/>
        </p:nvSpPr>
        <p:spPr bwMode="auto">
          <a:xfrm>
            <a:off x="4179888" y="2468564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5" name="Text Box 31"/>
          <p:cNvSpPr txBox="1">
            <a:spLocks noChangeArrowheads="1"/>
          </p:cNvSpPr>
          <p:nvPr/>
        </p:nvSpPr>
        <p:spPr bwMode="auto">
          <a:xfrm>
            <a:off x="4179889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 dirty="0">
                <a:latin typeface="Times New Roman" pitchFamily="18" charset="0"/>
              </a:rPr>
              <a:t>x</a:t>
            </a:r>
          </a:p>
        </p:txBody>
      </p:sp>
      <p:sp>
        <p:nvSpPr>
          <p:cNvPr id="22536" name="Freeform 32"/>
          <p:cNvSpPr>
            <a:spLocks/>
          </p:cNvSpPr>
          <p:nvPr/>
        </p:nvSpPr>
        <p:spPr bwMode="auto">
          <a:xfrm>
            <a:off x="7650163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7" name="Text Box 33"/>
          <p:cNvSpPr txBox="1">
            <a:spLocks noChangeArrowheads="1"/>
          </p:cNvSpPr>
          <p:nvPr/>
        </p:nvSpPr>
        <p:spPr bwMode="auto">
          <a:xfrm>
            <a:off x="7581901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22538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Epipolar constraint: Calibrated case</a:t>
            </a:r>
          </a:p>
        </p:txBody>
      </p:sp>
      <p:sp>
        <p:nvSpPr>
          <p:cNvPr id="22539" name="Rectangle 55"/>
          <p:cNvSpPr>
            <a:spLocks noGrp="1" noChangeArrowheads="1"/>
          </p:cNvSpPr>
          <p:nvPr>
            <p:ph type="body" idx="1"/>
          </p:nvPr>
        </p:nvSpPr>
        <p:spPr>
          <a:xfrm>
            <a:off x="2209800" y="4038600"/>
            <a:ext cx="7772400" cy="2514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 dirty="0"/>
              <a:t>	Given the intrinsic parameters of the cameras:</a:t>
            </a:r>
            <a:endParaRPr lang="en-US" sz="12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Convert to normalized coordinates by pre-multiplying all points with the inverse of the calibration matrix; set first camera’s coordinate system to world coordinates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Define some </a:t>
            </a:r>
            <a:r>
              <a:rPr lang="en-US" sz="1800" i="1" dirty="0"/>
              <a:t>R</a:t>
            </a:r>
            <a:r>
              <a:rPr lang="en-US" sz="1800" dirty="0"/>
              <a:t> and </a:t>
            </a:r>
            <a:r>
              <a:rPr lang="en-US" sz="1800" i="1" dirty="0"/>
              <a:t>t</a:t>
            </a:r>
            <a:r>
              <a:rPr lang="en-US" sz="1800" dirty="0"/>
              <a:t> that relate X to X’ as below</a:t>
            </a:r>
          </a:p>
        </p:txBody>
      </p:sp>
      <p:graphicFrame>
        <p:nvGraphicFramePr>
          <p:cNvPr id="154630" name="Object 6"/>
          <p:cNvGraphicFramePr>
            <a:graphicFrameLocks noChangeAspect="1"/>
          </p:cNvGraphicFramePr>
          <p:nvPr/>
        </p:nvGraphicFramePr>
        <p:xfrm>
          <a:off x="4857751" y="6200775"/>
          <a:ext cx="15097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40" imgH="177480" progId="Equation.3">
                  <p:embed/>
                </p:oleObj>
              </mc:Choice>
              <mc:Fallback>
                <p:oleObj name="Equation" r:id="rId4" imgW="672840" imgH="177480" progId="Equation.3">
                  <p:embed/>
                  <p:pic>
                    <p:nvPicPr>
                      <p:cNvPr id="154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1" y="6200775"/>
                        <a:ext cx="1509713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2676525" y="5819776"/>
          <a:ext cx="20399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03040" progId="Equation.3">
                  <p:embed/>
                </p:oleObj>
              </mc:Choice>
              <mc:Fallback>
                <p:oleObj name="Equation" r:id="rId6" imgW="888840" imgH="20304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5819776"/>
                        <a:ext cx="203993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854826" y="5849938"/>
          <a:ext cx="2309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253800" progId="Equation.3">
                  <p:embed/>
                </p:oleObj>
              </mc:Choice>
              <mc:Fallback>
                <p:oleObj name="Equation" r:id="rId8" imgW="1028520" imgH="2538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4826" y="5849938"/>
                        <a:ext cx="23098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2584451" y="1806576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9193214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Freeform 7"/>
          <p:cNvSpPr>
            <a:spLocks/>
          </p:cNvSpPr>
          <p:nvPr/>
        </p:nvSpPr>
        <p:spPr bwMode="auto">
          <a:xfrm>
            <a:off x="4179888" y="4832351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0" name="Freeform 9"/>
          <p:cNvSpPr>
            <a:spLocks/>
          </p:cNvSpPr>
          <p:nvPr/>
        </p:nvSpPr>
        <p:spPr bwMode="auto">
          <a:xfrm>
            <a:off x="7650163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1995" name="Line 11"/>
          <p:cNvSpPr>
            <a:spLocks noChangeShapeType="1"/>
          </p:cNvSpPr>
          <p:nvPr/>
        </p:nvSpPr>
        <p:spPr bwMode="auto">
          <a:xfrm flipV="1">
            <a:off x="2728913" y="3713163"/>
            <a:ext cx="1911350" cy="1111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1996" name="Line 12"/>
          <p:cNvSpPr>
            <a:spLocks noChangeShapeType="1"/>
          </p:cNvSpPr>
          <p:nvPr/>
        </p:nvSpPr>
        <p:spPr bwMode="auto">
          <a:xfrm>
            <a:off x="4960939" y="3719514"/>
            <a:ext cx="2105025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1997" name="Line 13"/>
          <p:cNvSpPr>
            <a:spLocks noChangeShapeType="1"/>
          </p:cNvSpPr>
          <p:nvPr/>
        </p:nvSpPr>
        <p:spPr bwMode="auto">
          <a:xfrm>
            <a:off x="7407276" y="3719514"/>
            <a:ext cx="1909763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1998" name="Line 14"/>
          <p:cNvSpPr>
            <a:spLocks noChangeShapeType="1"/>
          </p:cNvSpPr>
          <p:nvPr/>
        </p:nvSpPr>
        <p:spPr bwMode="auto">
          <a:xfrm>
            <a:off x="7599364" y="2590801"/>
            <a:ext cx="1717675" cy="1122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1999" name="Line 15"/>
          <p:cNvSpPr>
            <a:spLocks noChangeShapeType="1"/>
          </p:cNvSpPr>
          <p:nvPr/>
        </p:nvSpPr>
        <p:spPr bwMode="auto">
          <a:xfrm flipV="1">
            <a:off x="2717800" y="2586038"/>
            <a:ext cx="1722438" cy="11160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7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Epipolar constraint: Calibrated case</a:t>
            </a:r>
          </a:p>
        </p:txBody>
      </p:sp>
      <p:sp>
        <p:nvSpPr>
          <p:cNvPr id="22550" name="Line 23"/>
          <p:cNvSpPr>
            <a:spLocks noChangeShapeType="1"/>
          </p:cNvSpPr>
          <p:nvPr/>
        </p:nvSpPr>
        <p:spPr bwMode="auto">
          <a:xfrm>
            <a:off x="5119676" y="4191000"/>
            <a:ext cx="159069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220980" y="2453390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4179889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 dirty="0">
                <a:latin typeface="Times New Roman" pitchFamily="18" charset="0"/>
              </a:rPr>
              <a:t>x</a:t>
            </a:r>
          </a:p>
        </p:txBody>
      </p:sp>
      <p:sp>
        <p:nvSpPr>
          <p:cNvPr id="30" name="Text Box 33"/>
          <p:cNvSpPr txBox="1">
            <a:spLocks noChangeArrowheads="1"/>
          </p:cNvSpPr>
          <p:nvPr/>
        </p:nvSpPr>
        <p:spPr bwMode="auto">
          <a:xfrm>
            <a:off x="7581901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5915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 dirty="0">
                <a:latin typeface="Times New Roman" pitchFamily="18" charset="0"/>
              </a:rPr>
              <a:t>X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929314" y="3765551"/>
          <a:ext cx="22542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90440" progId="Equation.3">
                  <p:embed/>
                </p:oleObj>
              </mc:Choice>
              <mc:Fallback>
                <p:oleObj name="Equation" r:id="rId4" imgW="139680" imgH="19044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4" y="3765551"/>
                        <a:ext cx="22542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42983" y="4520185"/>
          <a:ext cx="20399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03040" progId="Equation.3">
                  <p:embed/>
                </p:oleObj>
              </mc:Choice>
              <mc:Fallback>
                <p:oleObj name="Equation" r:id="rId6" imgW="888840" imgH="20304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983" y="4520185"/>
                        <a:ext cx="203993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021284" y="4550347"/>
          <a:ext cx="2309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253800" progId="Equation.3">
                  <p:embed/>
                </p:oleObj>
              </mc:Choice>
              <mc:Fallback>
                <p:oleObj name="Equation" r:id="rId8" imgW="1028520" imgH="2538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284" y="4550347"/>
                        <a:ext cx="23098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3394076" y="5581650"/>
          <a:ext cx="15097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40" imgH="177480" progId="Equation.3">
                  <p:embed/>
                </p:oleObj>
              </mc:Choice>
              <mc:Fallback>
                <p:oleObj name="Equation" r:id="rId10" imgW="672840" imgH="177480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6" y="5581650"/>
                        <a:ext cx="15097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Grp="1" noChangeAspect="1"/>
          </p:cNvGraphicFramePr>
          <p:nvPr/>
        </p:nvGraphicFramePr>
        <p:xfrm>
          <a:off x="6165851" y="5638800"/>
          <a:ext cx="21685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02960" imgH="203040" progId="Equation.3">
                  <p:embed/>
                </p:oleObj>
              </mc:Choice>
              <mc:Fallback>
                <p:oleObj name="Equation" r:id="rId12" imgW="1002960" imgH="203040" progId="Equation.3">
                  <p:embed/>
                  <p:pic>
                    <p:nvPicPr>
                      <p:cNvPr id="16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1" y="5638800"/>
                        <a:ext cx="216852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ight Arrow 16"/>
          <p:cNvSpPr/>
          <p:nvPr/>
        </p:nvSpPr>
        <p:spPr>
          <a:xfrm>
            <a:off x="5105400" y="5642781"/>
            <a:ext cx="533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95" grpId="0" animBg="1"/>
      <p:bldP spid="681996" grpId="0" animBg="1"/>
      <p:bldP spid="681997" grpId="0" animBg="1"/>
      <p:bldP spid="681998" grpId="0" animBg="1"/>
      <p:bldP spid="681999" grpId="0" animBg="1"/>
      <p:bldP spid="22550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2" name="AutoShape 22"/>
          <p:cNvSpPr>
            <a:spLocks noChangeArrowheads="1"/>
          </p:cNvSpPr>
          <p:nvPr/>
        </p:nvSpPr>
        <p:spPr bwMode="auto">
          <a:xfrm>
            <a:off x="8305800" y="4681538"/>
            <a:ext cx="4572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863" name="Text Box 23"/>
          <p:cNvSpPr txBox="1">
            <a:spLocks noChangeArrowheads="1"/>
          </p:cNvSpPr>
          <p:nvPr/>
        </p:nvSpPr>
        <p:spPr bwMode="auto">
          <a:xfrm>
            <a:off x="7303278" y="5222876"/>
            <a:ext cx="241303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b="1"/>
              <a:t>Essential Matrix</a:t>
            </a:r>
          </a:p>
          <a:p>
            <a:pPr algn="ctr"/>
            <a:r>
              <a:rPr lang="en-US"/>
              <a:t>(Longuet-Higgins, 1981)</a:t>
            </a:r>
          </a:p>
        </p:txBody>
      </p:sp>
      <p:sp>
        <p:nvSpPr>
          <p:cNvPr id="675864" name="Rectangle 24"/>
          <p:cNvSpPr>
            <a:spLocks noChangeArrowheads="1"/>
          </p:cNvSpPr>
          <p:nvPr/>
        </p:nvSpPr>
        <p:spPr bwMode="auto">
          <a:xfrm>
            <a:off x="6705600" y="5138738"/>
            <a:ext cx="3581400" cy="1033462"/>
          </a:xfrm>
          <a:prstGeom prst="rect">
            <a:avLst/>
          </a:prstGeom>
          <a:noFill/>
          <a:ln w="2857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matrix</a:t>
            </a:r>
          </a:p>
        </p:txBody>
      </p:sp>
      <p:graphicFrame>
        <p:nvGraphicFramePr>
          <p:cNvPr id="675866" name="Object 26"/>
          <p:cNvGraphicFramePr>
            <a:graphicFrameLocks noGrp="1" noChangeAspect="1"/>
          </p:cNvGraphicFramePr>
          <p:nvPr>
            <p:ph sz="half" idx="1"/>
          </p:nvPr>
        </p:nvGraphicFramePr>
        <p:xfrm>
          <a:off x="2282826" y="4156076"/>
          <a:ext cx="192087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03040" progId="Equation.3">
                  <p:embed/>
                </p:oleObj>
              </mc:Choice>
              <mc:Fallback>
                <p:oleObj name="Equation" r:id="rId3" imgW="1028520" imgH="203040" progId="Equation.3">
                  <p:embed/>
                  <p:pic>
                    <p:nvPicPr>
                      <p:cNvPr id="67586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6" y="4156076"/>
                        <a:ext cx="1920875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4686301" y="4041776"/>
            <a:ext cx="5097463" cy="542925"/>
            <a:chOff x="1992" y="2546"/>
            <a:chExt cx="3211" cy="342"/>
          </a:xfrm>
        </p:grpSpPr>
        <p:graphicFrame>
          <p:nvGraphicFramePr>
            <p:cNvPr id="1027" name="Object 27"/>
            <p:cNvGraphicFramePr>
              <a:graphicFrameLocks noChangeAspect="1"/>
            </p:cNvGraphicFramePr>
            <p:nvPr/>
          </p:nvGraphicFramePr>
          <p:xfrm>
            <a:off x="2525" y="2546"/>
            <a:ext cx="267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90640" imgH="228600" progId="Equation.3">
                    <p:embed/>
                  </p:oleObj>
                </mc:Choice>
                <mc:Fallback>
                  <p:oleObj name="Equation" r:id="rId5" imgW="1790640" imgH="228600" progId="Equation.3">
                    <p:embed/>
                    <p:pic>
                      <p:nvPicPr>
                        <p:cNvPr id="1027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5" y="2546"/>
                          <a:ext cx="2678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7" name="AutoShape 28"/>
            <p:cNvSpPr>
              <a:spLocks noChangeArrowheads="1"/>
            </p:cNvSpPr>
            <p:nvPr/>
          </p:nvSpPr>
          <p:spPr bwMode="auto">
            <a:xfrm>
              <a:off x="1992" y="2592"/>
              <a:ext cx="336" cy="24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033" name="Picture 3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4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Rectangle 31"/>
          <p:cNvSpPr>
            <a:spLocks noChangeArrowheads="1"/>
          </p:cNvSpPr>
          <p:nvPr/>
        </p:nvSpPr>
        <p:spPr bwMode="auto">
          <a:xfrm>
            <a:off x="2584451" y="1806576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5" name="Rectangle 32"/>
          <p:cNvSpPr>
            <a:spLocks noChangeArrowheads="1"/>
          </p:cNvSpPr>
          <p:nvPr/>
        </p:nvSpPr>
        <p:spPr bwMode="auto">
          <a:xfrm>
            <a:off x="9193214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6" name="Text Box 33"/>
          <p:cNvSpPr txBox="1">
            <a:spLocks noChangeArrowheads="1"/>
          </p:cNvSpPr>
          <p:nvPr/>
        </p:nvSpPr>
        <p:spPr bwMode="auto">
          <a:xfrm>
            <a:off x="5915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X</a:t>
            </a:r>
          </a:p>
        </p:txBody>
      </p:sp>
      <p:sp>
        <p:nvSpPr>
          <p:cNvPr id="1037" name="Freeform 34"/>
          <p:cNvSpPr>
            <a:spLocks/>
          </p:cNvSpPr>
          <p:nvPr/>
        </p:nvSpPr>
        <p:spPr bwMode="auto">
          <a:xfrm>
            <a:off x="4179888" y="2468564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8" name="Text Box 35"/>
          <p:cNvSpPr txBox="1">
            <a:spLocks noChangeArrowheads="1"/>
          </p:cNvSpPr>
          <p:nvPr/>
        </p:nvSpPr>
        <p:spPr bwMode="auto">
          <a:xfrm>
            <a:off x="4179889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1039" name="Freeform 36"/>
          <p:cNvSpPr>
            <a:spLocks/>
          </p:cNvSpPr>
          <p:nvPr/>
        </p:nvSpPr>
        <p:spPr bwMode="auto">
          <a:xfrm>
            <a:off x="7650163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0" name="Text Box 37"/>
          <p:cNvSpPr txBox="1">
            <a:spLocks noChangeArrowheads="1"/>
          </p:cNvSpPr>
          <p:nvPr/>
        </p:nvSpPr>
        <p:spPr bwMode="auto">
          <a:xfrm>
            <a:off x="7581901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1041" name="Line 38"/>
          <p:cNvSpPr>
            <a:spLocks noChangeShapeType="1"/>
          </p:cNvSpPr>
          <p:nvPr/>
        </p:nvSpPr>
        <p:spPr bwMode="auto">
          <a:xfrm flipV="1">
            <a:off x="2728913" y="3713163"/>
            <a:ext cx="1911350" cy="1111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2" name="Line 39"/>
          <p:cNvSpPr>
            <a:spLocks noChangeShapeType="1"/>
          </p:cNvSpPr>
          <p:nvPr/>
        </p:nvSpPr>
        <p:spPr bwMode="auto">
          <a:xfrm>
            <a:off x="4960939" y="3719514"/>
            <a:ext cx="2105025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3" name="Line 40"/>
          <p:cNvSpPr>
            <a:spLocks noChangeShapeType="1"/>
          </p:cNvSpPr>
          <p:nvPr/>
        </p:nvSpPr>
        <p:spPr bwMode="auto">
          <a:xfrm>
            <a:off x="7407276" y="3719514"/>
            <a:ext cx="1909763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4" name="Line 41"/>
          <p:cNvSpPr>
            <a:spLocks noChangeShapeType="1"/>
          </p:cNvSpPr>
          <p:nvPr/>
        </p:nvSpPr>
        <p:spPr bwMode="auto">
          <a:xfrm>
            <a:off x="7599364" y="2590801"/>
            <a:ext cx="1717675" cy="1122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5" name="Line 42"/>
          <p:cNvSpPr>
            <a:spLocks noChangeShapeType="1"/>
          </p:cNvSpPr>
          <p:nvPr/>
        </p:nvSpPr>
        <p:spPr bwMode="auto">
          <a:xfrm flipV="1">
            <a:off x="2717800" y="2586038"/>
            <a:ext cx="1722438" cy="11160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2" grpId="0" animBg="1"/>
      <p:bldP spid="675863" grpId="0" autoUpdateAnimBg="0"/>
      <p:bldP spid="67586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2584451" y="1806576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9193214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5915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X</a:t>
            </a:r>
          </a:p>
        </p:txBody>
      </p:sp>
      <p:sp>
        <p:nvSpPr>
          <p:cNvPr id="2056" name="Freeform 7"/>
          <p:cNvSpPr>
            <a:spLocks/>
          </p:cNvSpPr>
          <p:nvPr/>
        </p:nvSpPr>
        <p:spPr bwMode="auto">
          <a:xfrm>
            <a:off x="4179888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7" name="Text Box 8"/>
          <p:cNvSpPr txBox="1">
            <a:spLocks noChangeArrowheads="1"/>
          </p:cNvSpPr>
          <p:nvPr/>
        </p:nvSpPr>
        <p:spPr bwMode="auto">
          <a:xfrm>
            <a:off x="4179889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2058" name="Freeform 9"/>
          <p:cNvSpPr>
            <a:spLocks/>
          </p:cNvSpPr>
          <p:nvPr/>
        </p:nvSpPr>
        <p:spPr bwMode="auto">
          <a:xfrm>
            <a:off x="7650163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9" name="Text Box 10"/>
          <p:cNvSpPr txBox="1">
            <a:spLocks noChangeArrowheads="1"/>
          </p:cNvSpPr>
          <p:nvPr/>
        </p:nvSpPr>
        <p:spPr bwMode="auto">
          <a:xfrm>
            <a:off x="7581901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660500" name="Line 20"/>
          <p:cNvSpPr>
            <a:spLocks noChangeShapeType="1"/>
          </p:cNvSpPr>
          <p:nvPr/>
        </p:nvSpPr>
        <p:spPr bwMode="auto">
          <a:xfrm flipH="1" flipV="1">
            <a:off x="4440239" y="2457450"/>
            <a:ext cx="238125" cy="137795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0501" name="Line 21"/>
          <p:cNvSpPr>
            <a:spLocks noChangeShapeType="1"/>
          </p:cNvSpPr>
          <p:nvPr/>
        </p:nvSpPr>
        <p:spPr bwMode="auto">
          <a:xfrm flipV="1">
            <a:off x="7361239" y="2468563"/>
            <a:ext cx="231775" cy="1382712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2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Essential matrix</a:t>
            </a:r>
          </a:p>
        </p:txBody>
      </p:sp>
      <p:sp>
        <p:nvSpPr>
          <p:cNvPr id="660510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1905000" y="5029200"/>
            <a:ext cx="8534400" cy="1981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Char char="•"/>
            </a:pPr>
            <a:r>
              <a:rPr lang="en-US" sz="2400" i="1" dirty="0"/>
              <a:t>E x’</a:t>
            </a:r>
            <a:r>
              <a:rPr lang="en-US" sz="2400" dirty="0"/>
              <a:t>  is the </a:t>
            </a:r>
            <a:r>
              <a:rPr lang="en-US" sz="2400" dirty="0" err="1"/>
              <a:t>epipolar</a:t>
            </a:r>
            <a:r>
              <a:rPr lang="en-US" sz="2400" dirty="0"/>
              <a:t> line associated with </a:t>
            </a:r>
            <a:r>
              <a:rPr lang="en-US" sz="2400" i="1" dirty="0"/>
              <a:t>x’ </a:t>
            </a:r>
            <a:r>
              <a:rPr lang="en-US" sz="2400" dirty="0"/>
              <a:t>(</a:t>
            </a:r>
            <a:r>
              <a:rPr lang="en-US" sz="2400" i="1" dirty="0"/>
              <a:t>l = E x’</a:t>
            </a:r>
            <a:r>
              <a:rPr lang="en-US" sz="2400" dirty="0"/>
              <a:t>)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400" i="1" dirty="0" err="1"/>
              <a:t>E</a:t>
            </a:r>
            <a:r>
              <a:rPr lang="en-US" sz="2400" i="1" baseline="30000" dirty="0" err="1"/>
              <a:t>T</a:t>
            </a:r>
            <a:r>
              <a:rPr lang="en-US" sz="2400" i="1" dirty="0" err="1"/>
              <a:t>x</a:t>
            </a:r>
            <a:r>
              <a:rPr lang="en-US" sz="2400" dirty="0"/>
              <a:t>  is the </a:t>
            </a:r>
            <a:r>
              <a:rPr lang="en-US" sz="2400" dirty="0" err="1"/>
              <a:t>epipolar</a:t>
            </a:r>
            <a:r>
              <a:rPr lang="en-US" sz="2400" dirty="0"/>
              <a:t> line associated with </a:t>
            </a:r>
            <a:r>
              <a:rPr lang="en-US" sz="2400" i="1" dirty="0"/>
              <a:t>x </a:t>
            </a:r>
            <a:r>
              <a:rPr lang="en-US" sz="2400" dirty="0"/>
              <a:t>(</a:t>
            </a:r>
            <a:r>
              <a:rPr lang="en-US" sz="2400" i="1" dirty="0"/>
              <a:t>l’ = </a:t>
            </a:r>
            <a:r>
              <a:rPr lang="en-US" sz="2400" i="1" dirty="0" err="1"/>
              <a:t>E</a:t>
            </a:r>
            <a:r>
              <a:rPr lang="en-US" sz="2400" i="1" baseline="30000" dirty="0" err="1"/>
              <a:t>T</a:t>
            </a:r>
            <a:r>
              <a:rPr lang="en-US" sz="2400" i="1" dirty="0" err="1"/>
              <a:t>x</a:t>
            </a:r>
            <a:r>
              <a:rPr lang="en-US" sz="2400" dirty="0"/>
              <a:t>)</a:t>
            </a:r>
            <a:endParaRPr lang="en-US" sz="2400" i="1" dirty="0"/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400" i="1" dirty="0"/>
              <a:t>E </a:t>
            </a:r>
            <a:r>
              <a:rPr lang="en-US" sz="2400" i="1" dirty="0" err="1"/>
              <a:t>e</a:t>
            </a:r>
            <a:r>
              <a:rPr lang="en-US" sz="2400" i="1" dirty="0"/>
              <a:t>’ </a:t>
            </a:r>
            <a:r>
              <a:rPr lang="en-US" sz="2400" dirty="0"/>
              <a:t>= 0   and   </a:t>
            </a:r>
            <a:r>
              <a:rPr lang="en-US" sz="2400" i="1" dirty="0" err="1"/>
              <a:t>E</a:t>
            </a:r>
            <a:r>
              <a:rPr lang="en-US" sz="2400" i="1" baseline="30000" dirty="0" err="1"/>
              <a:t>T</a:t>
            </a:r>
            <a:r>
              <a:rPr lang="en-US" sz="2400" i="1" dirty="0" err="1"/>
              <a:t>e</a:t>
            </a:r>
            <a:r>
              <a:rPr lang="en-US" sz="2400" i="1" dirty="0"/>
              <a:t> = 0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400" i="1" dirty="0"/>
              <a:t>E </a:t>
            </a:r>
            <a:r>
              <a:rPr lang="en-US" sz="2400" dirty="0"/>
              <a:t>is singular (rank two)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400" i="1" dirty="0"/>
              <a:t>E</a:t>
            </a:r>
            <a:r>
              <a:rPr lang="en-US" sz="2400" dirty="0"/>
              <a:t> has five degrees of freedom </a:t>
            </a:r>
          </a:p>
          <a:p>
            <a:pPr lvl="1">
              <a:lnSpc>
                <a:spcPct val="80000"/>
              </a:lnSpc>
              <a:buFont typeface="Calibri" pitchFamily="34" charset="0"/>
              <a:buChar char="–"/>
            </a:pPr>
            <a:r>
              <a:rPr lang="en-US" sz="2000" dirty="0"/>
              <a:t>(3 for R, 2 for t because it’s up to a scale) </a:t>
            </a:r>
          </a:p>
        </p:txBody>
      </p:sp>
      <p:sp>
        <p:nvSpPr>
          <p:cNvPr id="660498" name="Oval 18"/>
          <p:cNvSpPr>
            <a:spLocks noChangeArrowheads="1"/>
          </p:cNvSpPr>
          <p:nvPr/>
        </p:nvSpPr>
        <p:spPr bwMode="auto">
          <a:xfrm>
            <a:off x="4579938" y="3641725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0499" name="Oval 19"/>
          <p:cNvSpPr>
            <a:spLocks noChangeArrowheads="1"/>
          </p:cNvSpPr>
          <p:nvPr/>
        </p:nvSpPr>
        <p:spPr bwMode="auto">
          <a:xfrm>
            <a:off x="7310438" y="3668713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2133600" y="4114800"/>
            <a:ext cx="3086100" cy="450850"/>
            <a:chOff x="609600" y="4114800"/>
            <a:chExt cx="3086100" cy="450850"/>
          </a:xfrm>
        </p:grpSpPr>
        <p:graphicFrame>
          <p:nvGraphicFramePr>
            <p:cNvPr id="23" name="Object 26"/>
            <p:cNvGraphicFramePr>
              <a:graphicFrameLocks noChangeAspect="1"/>
            </p:cNvGraphicFramePr>
            <p:nvPr/>
          </p:nvGraphicFramePr>
          <p:xfrm>
            <a:off x="609600" y="4125913"/>
            <a:ext cx="2222500" cy="439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28520" imgH="203040" progId="Equation.3">
                    <p:embed/>
                  </p:oleObj>
                </mc:Choice>
                <mc:Fallback>
                  <p:oleObj name="Equation" r:id="rId4" imgW="1028520" imgH="203040" progId="Equation.3">
                    <p:embed/>
                    <p:pic>
                      <p:nvPicPr>
                        <p:cNvPr id="23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4125913"/>
                          <a:ext cx="2222500" cy="4397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AutoShape 28"/>
            <p:cNvSpPr>
              <a:spLocks noChangeArrowheads="1"/>
            </p:cNvSpPr>
            <p:nvPr/>
          </p:nvSpPr>
          <p:spPr bwMode="auto">
            <a:xfrm>
              <a:off x="3162300" y="4114800"/>
              <a:ext cx="533400" cy="3810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276600" y="4604085"/>
            <a:ext cx="3733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Drop ^ below to simplify notation</a:t>
            </a:r>
          </a:p>
        </p:txBody>
      </p:sp>
      <p:graphicFrame>
        <p:nvGraphicFramePr>
          <p:cNvPr id="30" name="Object 27"/>
          <p:cNvGraphicFramePr>
            <a:graphicFrameLocks noChangeAspect="1"/>
          </p:cNvGraphicFramePr>
          <p:nvPr/>
        </p:nvGraphicFramePr>
        <p:xfrm>
          <a:off x="5532439" y="4041776"/>
          <a:ext cx="42513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640" imgH="228600" progId="Equation.3">
                  <p:embed/>
                </p:oleObj>
              </mc:Choice>
              <mc:Fallback>
                <p:oleObj name="Equation" r:id="rId6" imgW="1790640" imgH="228600" progId="Equation.3">
                  <p:embed/>
                  <p:pic>
                    <p:nvPicPr>
                      <p:cNvPr id="3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9" y="4041776"/>
                        <a:ext cx="42513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500" grpId="0" uiExpand="1" animBg="1"/>
      <p:bldP spid="660501" grpId="0" uiExpand="1" animBg="1"/>
      <p:bldP spid="660510" grpId="0" uiExpand="1" build="p"/>
      <p:bldP spid="660498" grpId="0" uiExpand="1" animBg="1"/>
      <p:bldP spid="660499" grpId="0" uiExpan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Epipolar constraint: Uncalibrated case</a:t>
            </a:r>
          </a:p>
        </p:txBody>
      </p:sp>
      <p:sp>
        <p:nvSpPr>
          <p:cNvPr id="679971" name="Rectangle 35"/>
          <p:cNvSpPr>
            <a:spLocks noGrp="1" noChangeArrowheads="1"/>
          </p:cNvSpPr>
          <p:nvPr>
            <p:ph type="body" idx="1"/>
          </p:nvPr>
        </p:nvSpPr>
        <p:spPr>
          <a:xfrm>
            <a:off x="2209800" y="4114800"/>
            <a:ext cx="7772400" cy="1752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dirty="0"/>
              <a:t>If we don’t know </a:t>
            </a:r>
            <a:r>
              <a:rPr lang="en-US" i="1" dirty="0"/>
              <a:t>K</a:t>
            </a:r>
            <a:r>
              <a:rPr lang="en-US" dirty="0"/>
              <a:t> and </a:t>
            </a:r>
            <a:r>
              <a:rPr lang="en-US" i="1" dirty="0"/>
              <a:t>K’</a:t>
            </a:r>
            <a:r>
              <a:rPr lang="en-US" dirty="0"/>
              <a:t>, then we can write the </a:t>
            </a:r>
            <a:r>
              <a:rPr lang="en-US" dirty="0" err="1"/>
              <a:t>epipolar</a:t>
            </a:r>
            <a:r>
              <a:rPr lang="en-US" dirty="0"/>
              <a:t> constraint in terms of </a:t>
            </a:r>
            <a:r>
              <a:rPr lang="en-US" i="1" dirty="0"/>
              <a:t>unknown</a:t>
            </a:r>
            <a:r>
              <a:rPr lang="en-US" dirty="0"/>
              <a:t> normalized coordinates:</a:t>
            </a:r>
          </a:p>
        </p:txBody>
      </p:sp>
      <p:pic>
        <p:nvPicPr>
          <p:cNvPr id="3078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9" name="Rectangle 11"/>
          <p:cNvSpPr>
            <a:spLocks noChangeArrowheads="1"/>
          </p:cNvSpPr>
          <p:nvPr/>
        </p:nvSpPr>
        <p:spPr bwMode="auto">
          <a:xfrm>
            <a:off x="2584451" y="1806576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Rectangle 12"/>
          <p:cNvSpPr>
            <a:spLocks noChangeArrowheads="1"/>
          </p:cNvSpPr>
          <p:nvPr/>
        </p:nvSpPr>
        <p:spPr bwMode="auto">
          <a:xfrm>
            <a:off x="9193214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Text Box 13"/>
          <p:cNvSpPr txBox="1">
            <a:spLocks noChangeArrowheads="1"/>
          </p:cNvSpPr>
          <p:nvPr/>
        </p:nvSpPr>
        <p:spPr bwMode="auto">
          <a:xfrm>
            <a:off x="5915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X</a:t>
            </a:r>
          </a:p>
        </p:txBody>
      </p:sp>
      <p:sp>
        <p:nvSpPr>
          <p:cNvPr id="3082" name="Freeform 14"/>
          <p:cNvSpPr>
            <a:spLocks/>
          </p:cNvSpPr>
          <p:nvPr/>
        </p:nvSpPr>
        <p:spPr bwMode="auto">
          <a:xfrm>
            <a:off x="4179888" y="2468564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3" name="Text Box 15"/>
          <p:cNvSpPr txBox="1">
            <a:spLocks noChangeArrowheads="1"/>
          </p:cNvSpPr>
          <p:nvPr/>
        </p:nvSpPr>
        <p:spPr bwMode="auto">
          <a:xfrm>
            <a:off x="4179889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3084" name="Freeform 16"/>
          <p:cNvSpPr>
            <a:spLocks/>
          </p:cNvSpPr>
          <p:nvPr/>
        </p:nvSpPr>
        <p:spPr bwMode="auto">
          <a:xfrm>
            <a:off x="7650163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5" name="Text Box 17"/>
          <p:cNvSpPr txBox="1">
            <a:spLocks noChangeArrowheads="1"/>
          </p:cNvSpPr>
          <p:nvPr/>
        </p:nvSpPr>
        <p:spPr bwMode="auto">
          <a:xfrm>
            <a:off x="7581901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graphicFrame>
        <p:nvGraphicFramePr>
          <p:cNvPr id="679972" name="Object 36"/>
          <p:cNvGraphicFramePr>
            <a:graphicFrameLocks noChangeAspect="1"/>
          </p:cNvGraphicFramePr>
          <p:nvPr/>
        </p:nvGraphicFramePr>
        <p:xfrm>
          <a:off x="2819400" y="5943601"/>
          <a:ext cx="18288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228600" progId="Equation.3">
                  <p:embed/>
                </p:oleObj>
              </mc:Choice>
              <mc:Fallback>
                <p:oleObj name="Equation" r:id="rId4" imgW="647640" imgH="228600" progId="Equation.3">
                  <p:embed/>
                  <p:pic>
                    <p:nvPicPr>
                      <p:cNvPr id="67997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943601"/>
                        <a:ext cx="1828800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73" name="Object 37"/>
          <p:cNvGraphicFramePr>
            <a:graphicFrameLocks noChangeAspect="1"/>
          </p:cNvGraphicFramePr>
          <p:nvPr/>
        </p:nvGraphicFramePr>
        <p:xfrm>
          <a:off x="6172200" y="5943600"/>
          <a:ext cx="339248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203040" progId="Equation.3">
                  <p:embed/>
                </p:oleObj>
              </mc:Choice>
              <mc:Fallback>
                <p:oleObj name="Equation" r:id="rId6" imgW="1168200" imgH="203040" progId="Equation.3">
                  <p:embed/>
                  <p:pic>
                    <p:nvPicPr>
                      <p:cNvPr id="67997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943600"/>
                        <a:ext cx="3392488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Line 38"/>
          <p:cNvSpPr>
            <a:spLocks noChangeShapeType="1"/>
          </p:cNvSpPr>
          <p:nvPr/>
        </p:nvSpPr>
        <p:spPr bwMode="auto">
          <a:xfrm flipV="1">
            <a:off x="2728914" y="3713163"/>
            <a:ext cx="1919287" cy="1111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7" name="Line 39"/>
          <p:cNvSpPr>
            <a:spLocks noChangeShapeType="1"/>
          </p:cNvSpPr>
          <p:nvPr/>
        </p:nvSpPr>
        <p:spPr bwMode="auto">
          <a:xfrm>
            <a:off x="4960939" y="3719514"/>
            <a:ext cx="2105025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8" name="Line 40"/>
          <p:cNvSpPr>
            <a:spLocks noChangeShapeType="1"/>
          </p:cNvSpPr>
          <p:nvPr/>
        </p:nvSpPr>
        <p:spPr bwMode="auto">
          <a:xfrm>
            <a:off x="7407276" y="3719514"/>
            <a:ext cx="1909763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Line 41"/>
          <p:cNvSpPr>
            <a:spLocks noChangeShapeType="1"/>
          </p:cNvSpPr>
          <p:nvPr/>
        </p:nvSpPr>
        <p:spPr bwMode="auto">
          <a:xfrm>
            <a:off x="7599364" y="2590801"/>
            <a:ext cx="1717675" cy="1122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0" name="Line 42"/>
          <p:cNvSpPr>
            <a:spLocks noChangeShapeType="1"/>
          </p:cNvSpPr>
          <p:nvPr/>
        </p:nvSpPr>
        <p:spPr bwMode="auto">
          <a:xfrm flipV="1">
            <a:off x="2717800" y="2586038"/>
            <a:ext cx="1722438" cy="11160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Oval 43"/>
          <p:cNvSpPr>
            <a:spLocks noChangeArrowheads="1"/>
          </p:cNvSpPr>
          <p:nvPr/>
        </p:nvSpPr>
        <p:spPr bwMode="auto">
          <a:xfrm>
            <a:off x="4579938" y="3641725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2" name="Oval 44"/>
          <p:cNvSpPr>
            <a:spLocks noChangeArrowheads="1"/>
          </p:cNvSpPr>
          <p:nvPr/>
        </p:nvSpPr>
        <p:spPr bwMode="auto">
          <a:xfrm>
            <a:off x="7310438" y="3668713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7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The Fundamental Matrix</a:t>
            </a:r>
          </a:p>
        </p:txBody>
      </p:sp>
      <p:sp>
        <p:nvSpPr>
          <p:cNvPr id="685074" name="Text Box 18"/>
          <p:cNvSpPr txBox="1">
            <a:spLocks noChangeArrowheads="1"/>
          </p:cNvSpPr>
          <p:nvPr/>
        </p:nvSpPr>
        <p:spPr bwMode="auto">
          <a:xfrm>
            <a:off x="6477000" y="5189539"/>
            <a:ext cx="276960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Fundamental Matrix</a:t>
            </a:r>
          </a:p>
          <a:p>
            <a:r>
              <a:rPr lang="en-US" dirty="0"/>
              <a:t>(</a:t>
            </a:r>
            <a:r>
              <a:rPr lang="en-US" dirty="0" err="1"/>
              <a:t>Faugeras</a:t>
            </a:r>
            <a:r>
              <a:rPr lang="en-US" dirty="0"/>
              <a:t> and </a:t>
            </a:r>
            <a:r>
              <a:rPr lang="en-US" dirty="0" err="1"/>
              <a:t>Luong</a:t>
            </a:r>
            <a:r>
              <a:rPr lang="en-US" dirty="0"/>
              <a:t>, 1992)</a:t>
            </a:r>
          </a:p>
        </p:txBody>
      </p:sp>
      <p:sp>
        <p:nvSpPr>
          <p:cNvPr id="685075" name="Rectangle 19"/>
          <p:cNvSpPr>
            <a:spLocks noChangeArrowheads="1"/>
          </p:cNvSpPr>
          <p:nvPr/>
        </p:nvSpPr>
        <p:spPr bwMode="auto">
          <a:xfrm>
            <a:off x="6172200" y="5105400"/>
            <a:ext cx="3657600" cy="914400"/>
          </a:xfrm>
          <a:prstGeom prst="rect">
            <a:avLst/>
          </a:prstGeom>
          <a:noFill/>
          <a:ln w="2857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5076" name="AutoShape 20"/>
          <p:cNvSpPr>
            <a:spLocks noChangeArrowheads="1"/>
          </p:cNvSpPr>
          <p:nvPr/>
        </p:nvSpPr>
        <p:spPr bwMode="auto">
          <a:xfrm>
            <a:off x="7772400" y="449580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8" name="Object 21"/>
          <p:cNvGraphicFramePr>
            <a:graphicFrameLocks noGrp="1" noChangeAspect="1"/>
          </p:cNvGraphicFramePr>
          <p:nvPr>
            <p:ph sz="half" idx="1"/>
          </p:nvPr>
        </p:nvGraphicFramePr>
        <p:xfrm>
          <a:off x="1981200" y="3470276"/>
          <a:ext cx="18288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28600" progId="Equation.3">
                  <p:embed/>
                </p:oleObj>
              </mc:Choice>
              <mc:Fallback>
                <p:oleObj name="Equation" r:id="rId3" imgW="647640" imgH="228600" progId="Equation.3">
                  <p:embed/>
                  <p:pic>
                    <p:nvPicPr>
                      <p:cNvPr id="409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70276"/>
                        <a:ext cx="1828800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14800" y="3953206"/>
            <a:ext cx="6019800" cy="565150"/>
            <a:chOff x="1728" y="2560"/>
            <a:chExt cx="3792" cy="356"/>
          </a:xfrm>
        </p:grpSpPr>
        <p:sp>
          <p:nvSpPr>
            <p:cNvPr id="4121" name="AutoShape 24"/>
            <p:cNvSpPr>
              <a:spLocks noChangeArrowheads="1"/>
            </p:cNvSpPr>
            <p:nvPr/>
          </p:nvSpPr>
          <p:spPr bwMode="auto">
            <a:xfrm>
              <a:off x="1728" y="2628"/>
              <a:ext cx="432" cy="240"/>
            </a:xfrm>
            <a:prstGeom prst="rightArrow">
              <a:avLst>
                <a:gd name="adj1" fmla="val 50000"/>
                <a:gd name="adj2" fmla="val 4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100" name="Object 25"/>
            <p:cNvGraphicFramePr>
              <a:graphicFrameLocks noChangeAspect="1"/>
            </p:cNvGraphicFramePr>
            <p:nvPr/>
          </p:nvGraphicFramePr>
          <p:xfrm>
            <a:off x="2256" y="2560"/>
            <a:ext cx="3264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095200" imgH="228600" progId="Equation.3">
                    <p:embed/>
                  </p:oleObj>
                </mc:Choice>
                <mc:Fallback>
                  <p:oleObj name="Equation" r:id="rId5" imgW="2095200" imgH="228600" progId="Equation.3">
                    <p:embed/>
                    <p:pic>
                      <p:nvPicPr>
                        <p:cNvPr id="410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560"/>
                          <a:ext cx="3264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2262187" y="1585913"/>
            <a:ext cx="716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Without knowing K and K’, we can define a similar relation using </a:t>
            </a:r>
            <a:r>
              <a:rPr lang="en-US" sz="2400" i="1" dirty="0"/>
              <a:t>unknown</a:t>
            </a:r>
            <a:r>
              <a:rPr lang="en-US" sz="2400" dirty="0"/>
              <a:t> normalized coordinates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981200" y="4208794"/>
          <a:ext cx="13700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6880" imgH="203040" progId="Equation.3">
                  <p:embed/>
                </p:oleObj>
              </mc:Choice>
              <mc:Fallback>
                <p:oleObj name="Equation" r:id="rId7" imgW="596880" imgH="2030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208794"/>
                        <a:ext cx="13700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981201" y="4819650"/>
          <a:ext cx="15970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253800" progId="Equation.3">
                  <p:embed/>
                </p:oleObj>
              </mc:Choice>
              <mc:Fallback>
                <p:oleObj name="Equation" r:id="rId9" imgW="711000" imgH="2538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4819650"/>
                        <a:ext cx="15970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74" grpId="0" autoUpdateAnimBg="0"/>
      <p:bldP spid="685075" grpId="0" animBg="1"/>
      <p:bldP spid="68507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6"/>
          <p:cNvSpPr>
            <a:spLocks noGrp="1" noChangeArrowheads="1"/>
          </p:cNvSpPr>
          <p:nvPr>
            <p:ph type="title"/>
          </p:nvPr>
        </p:nvSpPr>
        <p:spPr>
          <a:xfrm>
            <a:off x="2224088" y="0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the Fundamental matrix</a:t>
            </a:r>
          </a:p>
        </p:txBody>
      </p:sp>
      <p:graphicFrame>
        <p:nvGraphicFramePr>
          <p:cNvPr id="5123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5105400" y="4064000"/>
          <a:ext cx="51816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200" imgH="228600" progId="Equation.3">
                  <p:embed/>
                </p:oleObj>
              </mc:Choice>
              <mc:Fallback>
                <p:oleObj name="Equation" r:id="rId3" imgW="2095200" imgH="228600" progId="Equation.3">
                  <p:embed/>
                  <p:pic>
                    <p:nvPicPr>
                      <p:cNvPr id="512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064000"/>
                        <a:ext cx="518160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74" name="Rectangle 30"/>
          <p:cNvSpPr>
            <a:spLocks noChangeArrowheads="1"/>
          </p:cNvSpPr>
          <p:nvPr/>
        </p:nvSpPr>
        <p:spPr bwMode="auto">
          <a:xfrm>
            <a:off x="2209800" y="4800600"/>
            <a:ext cx="8229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i="1" dirty="0"/>
              <a:t>F x’</a:t>
            </a:r>
            <a:r>
              <a:rPr lang="en-US" dirty="0"/>
              <a:t>  is the </a:t>
            </a:r>
            <a:r>
              <a:rPr lang="en-US" dirty="0" err="1"/>
              <a:t>epipolar</a:t>
            </a:r>
            <a:r>
              <a:rPr lang="en-US" dirty="0"/>
              <a:t> line associated with </a:t>
            </a:r>
            <a:r>
              <a:rPr lang="en-US" i="1" dirty="0"/>
              <a:t>x’ </a:t>
            </a:r>
            <a:r>
              <a:rPr lang="en-US" sz="2800" dirty="0"/>
              <a:t>(</a:t>
            </a:r>
            <a:r>
              <a:rPr lang="en-US" sz="2800" i="1" dirty="0"/>
              <a:t>l = F x’</a:t>
            </a:r>
            <a:r>
              <a:rPr lang="en-US" sz="2800" dirty="0"/>
              <a:t>)</a:t>
            </a:r>
            <a:endParaRPr lang="en-US" i="1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i="1" dirty="0" err="1"/>
              <a:t>F</a:t>
            </a:r>
            <a:r>
              <a:rPr lang="en-US" i="1" baseline="30000" dirty="0" err="1"/>
              <a:t>T</a:t>
            </a:r>
            <a:r>
              <a:rPr lang="en-US" i="1" dirty="0" err="1"/>
              <a:t>x</a:t>
            </a:r>
            <a:r>
              <a:rPr lang="en-US" dirty="0"/>
              <a:t>  is the </a:t>
            </a:r>
            <a:r>
              <a:rPr lang="en-US" dirty="0" err="1"/>
              <a:t>epipolar</a:t>
            </a:r>
            <a:r>
              <a:rPr lang="en-US" dirty="0"/>
              <a:t> line associated with </a:t>
            </a:r>
            <a:r>
              <a:rPr lang="en-US" i="1" dirty="0"/>
              <a:t>x </a:t>
            </a:r>
            <a:r>
              <a:rPr lang="en-US" sz="2800" dirty="0"/>
              <a:t>(</a:t>
            </a:r>
            <a:r>
              <a:rPr lang="en-US" sz="2800" i="1" dirty="0"/>
              <a:t>l’ = </a:t>
            </a:r>
            <a:r>
              <a:rPr lang="en-US" sz="2800" i="1" dirty="0" err="1"/>
              <a:t>F</a:t>
            </a:r>
            <a:r>
              <a:rPr lang="en-US" sz="2800" i="1" baseline="30000" dirty="0" err="1"/>
              <a:t>T</a:t>
            </a:r>
            <a:r>
              <a:rPr lang="en-US" sz="2800" i="1" dirty="0" err="1"/>
              <a:t>x</a:t>
            </a:r>
            <a:r>
              <a:rPr lang="en-US" sz="2800" dirty="0"/>
              <a:t>)</a:t>
            </a:r>
            <a:endParaRPr lang="en-US" i="1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i="1" dirty="0"/>
              <a:t>F e’ </a:t>
            </a:r>
            <a:r>
              <a:rPr lang="en-US" dirty="0"/>
              <a:t>= 0   and   </a:t>
            </a:r>
            <a:r>
              <a:rPr lang="en-US" i="1" dirty="0" err="1"/>
              <a:t>F</a:t>
            </a:r>
            <a:r>
              <a:rPr lang="en-US" i="1" baseline="30000" dirty="0" err="1"/>
              <a:t>T</a:t>
            </a:r>
            <a:r>
              <a:rPr lang="en-US" i="1" dirty="0" err="1"/>
              <a:t>e</a:t>
            </a:r>
            <a:r>
              <a:rPr lang="en-US" i="1" dirty="0"/>
              <a:t> = 0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i="1" dirty="0"/>
              <a:t>F </a:t>
            </a:r>
            <a:r>
              <a:rPr lang="en-US" dirty="0"/>
              <a:t>is singular (rank two): </a:t>
            </a:r>
            <a:r>
              <a:rPr lang="en-US" dirty="0" err="1"/>
              <a:t>det</a:t>
            </a:r>
            <a:r>
              <a:rPr lang="en-US" dirty="0"/>
              <a:t>(F)=0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i="1" dirty="0"/>
              <a:t>F</a:t>
            </a:r>
            <a:r>
              <a:rPr lang="en-US" dirty="0"/>
              <a:t> has seven degrees of freedom: 9 entries but defined up to scale, </a:t>
            </a:r>
            <a:r>
              <a:rPr lang="en-US" dirty="0" err="1"/>
              <a:t>det</a:t>
            </a:r>
            <a:r>
              <a:rPr lang="en-US" dirty="0"/>
              <a:t>(F)=0</a:t>
            </a:r>
          </a:p>
        </p:txBody>
      </p:sp>
      <p:pic>
        <p:nvPicPr>
          <p:cNvPr id="5127" name="Picture 4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4600" y="1219200"/>
            <a:ext cx="701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8" name="Rectangle 47"/>
          <p:cNvSpPr>
            <a:spLocks noChangeArrowheads="1"/>
          </p:cNvSpPr>
          <p:nvPr/>
        </p:nvSpPr>
        <p:spPr bwMode="auto">
          <a:xfrm>
            <a:off x="2584451" y="1806576"/>
            <a:ext cx="207963" cy="265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Rectangle 48"/>
          <p:cNvSpPr>
            <a:spLocks noChangeArrowheads="1"/>
          </p:cNvSpPr>
          <p:nvPr/>
        </p:nvSpPr>
        <p:spPr bwMode="auto">
          <a:xfrm>
            <a:off x="9193214" y="1814513"/>
            <a:ext cx="293687" cy="266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Text Box 49"/>
          <p:cNvSpPr txBox="1">
            <a:spLocks noChangeArrowheads="1"/>
          </p:cNvSpPr>
          <p:nvPr/>
        </p:nvSpPr>
        <p:spPr bwMode="auto">
          <a:xfrm>
            <a:off x="5915025" y="1143000"/>
            <a:ext cx="338138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X</a:t>
            </a:r>
          </a:p>
        </p:txBody>
      </p:sp>
      <p:sp>
        <p:nvSpPr>
          <p:cNvPr id="5131" name="Freeform 50"/>
          <p:cNvSpPr>
            <a:spLocks/>
          </p:cNvSpPr>
          <p:nvPr/>
        </p:nvSpPr>
        <p:spPr bwMode="auto">
          <a:xfrm>
            <a:off x="4179888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2" name="Text Box 51"/>
          <p:cNvSpPr txBox="1">
            <a:spLocks noChangeArrowheads="1"/>
          </p:cNvSpPr>
          <p:nvPr/>
        </p:nvSpPr>
        <p:spPr bwMode="auto">
          <a:xfrm>
            <a:off x="4179889" y="2286000"/>
            <a:ext cx="192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</a:t>
            </a:r>
          </a:p>
        </p:txBody>
      </p:sp>
      <p:sp>
        <p:nvSpPr>
          <p:cNvPr id="5133" name="Freeform 52"/>
          <p:cNvSpPr>
            <a:spLocks/>
          </p:cNvSpPr>
          <p:nvPr/>
        </p:nvSpPr>
        <p:spPr bwMode="auto">
          <a:xfrm>
            <a:off x="7650163" y="2446339"/>
            <a:ext cx="209550" cy="198437"/>
          </a:xfrm>
          <a:custGeom>
            <a:avLst/>
            <a:gdLst>
              <a:gd name="T0" fmla="*/ 2147483647 w 144"/>
              <a:gd name="T1" fmla="*/ 0 h 144"/>
              <a:gd name="T2" fmla="*/ 0 w 144"/>
              <a:gd name="T3" fmla="*/ 2147483647 h 144"/>
              <a:gd name="T4" fmla="*/ 2147483647 w 144"/>
              <a:gd name="T5" fmla="*/ 2147483647 h 144"/>
              <a:gd name="T6" fmla="*/ 2147483647 w 144"/>
              <a:gd name="T7" fmla="*/ 2147483647 h 144"/>
              <a:gd name="T8" fmla="*/ 2147483647 w 144"/>
              <a:gd name="T9" fmla="*/ 0 h 144"/>
              <a:gd name="T10" fmla="*/ 2147483647 w 144"/>
              <a:gd name="T11" fmla="*/ 0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"/>
              <a:gd name="T19" fmla="*/ 0 h 144"/>
              <a:gd name="T20" fmla="*/ 144 w 144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" h="144">
                <a:moveTo>
                  <a:pt x="48" y="0"/>
                </a:moveTo>
                <a:lnTo>
                  <a:pt x="0" y="96"/>
                </a:lnTo>
                <a:lnTo>
                  <a:pt x="48" y="144"/>
                </a:lnTo>
                <a:lnTo>
                  <a:pt x="144" y="96"/>
                </a:lnTo>
                <a:lnTo>
                  <a:pt x="144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4" name="Text Box 53"/>
          <p:cNvSpPr txBox="1">
            <a:spLocks noChangeArrowheads="1"/>
          </p:cNvSpPr>
          <p:nvPr/>
        </p:nvSpPr>
        <p:spPr bwMode="auto">
          <a:xfrm>
            <a:off x="7581901" y="228600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 i="1">
                <a:latin typeface="Times New Roman" pitchFamily="18" charset="0"/>
              </a:rPr>
              <a:t>x’</a:t>
            </a:r>
          </a:p>
        </p:txBody>
      </p:sp>
      <p:sp>
        <p:nvSpPr>
          <p:cNvPr id="671798" name="Line 54"/>
          <p:cNvSpPr>
            <a:spLocks noChangeShapeType="1"/>
          </p:cNvSpPr>
          <p:nvPr/>
        </p:nvSpPr>
        <p:spPr bwMode="auto">
          <a:xfrm flipH="1" flipV="1">
            <a:off x="4440239" y="2457450"/>
            <a:ext cx="238125" cy="137795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1799" name="Line 55"/>
          <p:cNvSpPr>
            <a:spLocks noChangeShapeType="1"/>
          </p:cNvSpPr>
          <p:nvPr/>
        </p:nvSpPr>
        <p:spPr bwMode="auto">
          <a:xfrm flipV="1">
            <a:off x="7361239" y="2468563"/>
            <a:ext cx="231775" cy="1382712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1800" name="Oval 56"/>
          <p:cNvSpPr>
            <a:spLocks noChangeArrowheads="1"/>
          </p:cNvSpPr>
          <p:nvPr/>
        </p:nvSpPr>
        <p:spPr bwMode="auto">
          <a:xfrm>
            <a:off x="4579938" y="3641725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1801" name="Oval 57"/>
          <p:cNvSpPr>
            <a:spLocks noChangeArrowheads="1"/>
          </p:cNvSpPr>
          <p:nvPr/>
        </p:nvSpPr>
        <p:spPr bwMode="auto">
          <a:xfrm>
            <a:off x="7310438" y="3668713"/>
            <a:ext cx="138112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74" grpId="0" uiExpand="1" build="p"/>
      <p:bldP spid="671798" grpId="0" uiExpand="1" animBg="1"/>
      <p:bldP spid="671799" grpId="0" uiExpand="1" animBg="1"/>
      <p:bldP spid="671800" grpId="0" uiExpand="1" animBg="1"/>
      <p:bldP spid="671801" grpId="0" uiExpan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Estimating the Fundamental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8-point algorithm</a:t>
            </a:r>
          </a:p>
          <a:p>
            <a:pPr lvl="1"/>
            <a:r>
              <a:rPr lang="en-US" dirty="0"/>
              <a:t>Least squares solution using SVD on equations from 8 pairs of correspondences</a:t>
            </a:r>
          </a:p>
          <a:p>
            <a:pPr lvl="1"/>
            <a:r>
              <a:rPr lang="en-US" dirty="0"/>
              <a:t>Enforce </a:t>
            </a:r>
            <a:r>
              <a:rPr lang="en-US" dirty="0" err="1"/>
              <a:t>det</a:t>
            </a:r>
            <a:r>
              <a:rPr lang="en-US" dirty="0"/>
              <a:t>(F)=0 constraint using SVD on F</a:t>
            </a:r>
          </a:p>
          <a:p>
            <a:endParaRPr lang="en-US" dirty="0"/>
          </a:p>
          <a:p>
            <a:r>
              <a:rPr lang="en-US" dirty="0"/>
              <a:t>7-point algorithm</a:t>
            </a:r>
          </a:p>
          <a:p>
            <a:pPr lvl="1"/>
            <a:r>
              <a:rPr lang="en-US" dirty="0"/>
              <a:t>Use least squares to solve for null space (two vectors) using SVD and 7 pairs of correspondences</a:t>
            </a:r>
          </a:p>
          <a:p>
            <a:pPr lvl="1"/>
            <a:r>
              <a:rPr lang="en-US" dirty="0"/>
              <a:t>Solve for linear combination of null space vectors that satisfies </a:t>
            </a:r>
            <a:r>
              <a:rPr lang="en-US" dirty="0" err="1"/>
              <a:t>det</a:t>
            </a:r>
            <a:r>
              <a:rPr lang="en-US" dirty="0"/>
              <a:t>(F)=0</a:t>
            </a:r>
          </a:p>
          <a:p>
            <a:endParaRPr lang="en-US" dirty="0"/>
          </a:p>
          <a:p>
            <a:r>
              <a:rPr lang="en-US" dirty="0"/>
              <a:t>Minimize </a:t>
            </a:r>
            <a:r>
              <a:rPr lang="en-US" dirty="0" err="1"/>
              <a:t>reprojection</a:t>
            </a:r>
            <a:r>
              <a:rPr lang="en-US" dirty="0"/>
              <a:t> error</a:t>
            </a:r>
          </a:p>
          <a:p>
            <a:pPr lvl="1"/>
            <a:r>
              <a:rPr lang="en-US" dirty="0"/>
              <a:t>Non-linear least squares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6160871"/>
            <a:ext cx="7687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Note: estimation of F (or E) is degenerate for a planar scene.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4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487976"/>
            <a:ext cx="6096000" cy="33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Solve a system of homogeneous linear equations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Write down the system of equations</a:t>
            </a:r>
          </a:p>
        </p:txBody>
      </p:sp>
      <p:pic>
        <p:nvPicPr>
          <p:cNvPr id="1935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1" y="3276600"/>
            <a:ext cx="763417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3539" name="Object 29"/>
          <p:cNvGraphicFramePr>
            <a:graphicFrameLocks noChangeAspect="1"/>
          </p:cNvGraphicFramePr>
          <p:nvPr/>
        </p:nvGraphicFramePr>
        <p:xfrm>
          <a:off x="5105401" y="2635250"/>
          <a:ext cx="20415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228600" progId="Equation.3">
                  <p:embed/>
                </p:oleObj>
              </mc:Choice>
              <mc:Fallback>
                <p:oleObj name="Equation" r:id="rId4" imgW="825480" imgH="228600" progId="Equation.3">
                  <p:embed/>
                  <p:pic>
                    <p:nvPicPr>
                      <p:cNvPr id="19353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1" y="2635250"/>
                        <a:ext cx="20415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Solve a system of homogeneous linear equations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Write down the system of equations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Solve </a:t>
            </a:r>
            <a:r>
              <a:rPr lang="en-US" b="1" dirty="0"/>
              <a:t>f</a:t>
            </a:r>
            <a:r>
              <a:rPr lang="en-US" dirty="0"/>
              <a:t> from  </a:t>
            </a:r>
            <a:r>
              <a:rPr lang="en-US" dirty="0" err="1"/>
              <a:t>A</a:t>
            </a:r>
            <a:r>
              <a:rPr lang="en-US" b="1" dirty="0" err="1"/>
              <a:t>f</a:t>
            </a:r>
            <a:r>
              <a:rPr lang="en-US" dirty="0"/>
              <a:t>=</a:t>
            </a:r>
            <a:r>
              <a:rPr lang="en-US" b="1" dirty="0"/>
              <a:t>0 </a:t>
            </a:r>
            <a:r>
              <a:rPr lang="en-US" dirty="0"/>
              <a:t>using SVD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895600" y="3124200"/>
            <a:ext cx="335540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Matlab</a:t>
            </a:r>
            <a:r>
              <a:rPr lang="en-US" sz="2000" dirty="0"/>
              <a:t>: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[U, S, V]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svd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 = V(:, end);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 = reshape(f, [3 3])’;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enforce singularity constraint</a:t>
            </a:r>
          </a:p>
        </p:txBody>
      </p:sp>
      <p:pic>
        <p:nvPicPr>
          <p:cNvPr id="316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1" y="1524000"/>
            <a:ext cx="816292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Solve a system of homogeneous linear equations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Write down the system of equations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Solve </a:t>
            </a:r>
            <a:r>
              <a:rPr lang="en-US" b="1" dirty="0"/>
              <a:t>f</a:t>
            </a:r>
            <a:r>
              <a:rPr lang="en-US" dirty="0"/>
              <a:t> from  </a:t>
            </a:r>
            <a:r>
              <a:rPr lang="en-US" dirty="0" err="1"/>
              <a:t>A</a:t>
            </a:r>
            <a:r>
              <a:rPr lang="en-US" b="1" dirty="0" err="1"/>
              <a:t>f</a:t>
            </a:r>
            <a:r>
              <a:rPr lang="en-US" dirty="0"/>
              <a:t>=</a:t>
            </a:r>
            <a:r>
              <a:rPr lang="en-US" b="1" dirty="0"/>
              <a:t>0 </a:t>
            </a:r>
            <a:r>
              <a:rPr lang="en-US" dirty="0"/>
              <a:t>using SVD</a:t>
            </a:r>
          </a:p>
          <a:p>
            <a:pPr marL="914400" lvl="1" indent="-514350">
              <a:buFont typeface="+mj-lt"/>
              <a:buAutoNum type="alphaLcPeriod"/>
            </a:pPr>
            <a:endParaRPr lang="en-US" b="1" dirty="0"/>
          </a:p>
          <a:p>
            <a:pPr marL="914400" lvl="1" indent="-514350">
              <a:buFont typeface="+mj-lt"/>
              <a:buAutoNum type="alphaL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sz="12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Resolve </a:t>
            </a:r>
            <a:r>
              <a:rPr lang="en-US" dirty="0" err="1"/>
              <a:t>det</a:t>
            </a:r>
            <a:r>
              <a:rPr lang="en-US" dirty="0"/>
              <a:t>(F) = 0 constraint using SVD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600" y="3124200"/>
            <a:ext cx="335540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Matlab</a:t>
            </a:r>
            <a:r>
              <a:rPr lang="en-US" sz="2000" dirty="0"/>
              <a:t>: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[U, S, V]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svd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 = V(:, end);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 = reshape(f, [3 3])’;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95601" y="4876800"/>
            <a:ext cx="280397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Matlab</a:t>
            </a:r>
            <a:r>
              <a:rPr lang="en-US" sz="2000" dirty="0"/>
              <a:t>: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[U, S, V]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svd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(F);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S(3,3) = 0;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 = U*S*V’;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Solve a system of homogeneous linear equations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Write down the system of equations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Solve </a:t>
            </a:r>
            <a:r>
              <a:rPr lang="en-US" b="1" dirty="0"/>
              <a:t>f</a:t>
            </a:r>
            <a:r>
              <a:rPr lang="en-US" dirty="0"/>
              <a:t> from  </a:t>
            </a:r>
            <a:r>
              <a:rPr lang="en-US" dirty="0" err="1"/>
              <a:t>A</a:t>
            </a:r>
            <a:r>
              <a:rPr lang="en-US" b="1" dirty="0" err="1"/>
              <a:t>f</a:t>
            </a:r>
            <a:r>
              <a:rPr lang="en-US" dirty="0"/>
              <a:t>=</a:t>
            </a:r>
            <a:r>
              <a:rPr lang="en-US" b="1" dirty="0"/>
              <a:t>0 </a:t>
            </a:r>
            <a:r>
              <a:rPr lang="en-US" dirty="0"/>
              <a:t>using SVD</a:t>
            </a:r>
            <a:endParaRPr lang="en-US" sz="12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Resolve </a:t>
            </a:r>
            <a:r>
              <a:rPr lang="en-US" dirty="0" err="1"/>
              <a:t>det</a:t>
            </a:r>
            <a:r>
              <a:rPr lang="en-US" dirty="0"/>
              <a:t>(F) = 0 constraint by SVD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None/>
            </a:pPr>
            <a:r>
              <a:rPr lang="en-US" dirty="0"/>
              <a:t>Notes:</a:t>
            </a:r>
          </a:p>
          <a:p>
            <a:pPr marL="514350" indent="-514350"/>
            <a:r>
              <a:rPr lang="en-US" dirty="0"/>
              <a:t>Use RANSAC to deal with outliers (sample 8 points)</a:t>
            </a:r>
          </a:p>
          <a:p>
            <a:pPr marL="914400" lvl="1" indent="-514350"/>
            <a:r>
              <a:rPr lang="en-US" dirty="0"/>
              <a:t>How to test for outliers?</a:t>
            </a:r>
          </a:p>
          <a:p>
            <a:pPr marL="514350" indent="-514350"/>
            <a:r>
              <a:rPr lang="en-US" dirty="0"/>
              <a:t>Solve in normalized coordinates</a:t>
            </a:r>
          </a:p>
          <a:p>
            <a:pPr marL="914400" lvl="1" indent="-514350"/>
            <a:r>
              <a:rPr lang="en-US" dirty="0"/>
              <a:t>mean=0</a:t>
            </a:r>
          </a:p>
          <a:p>
            <a:pPr marL="914400" lvl="1" indent="-514350"/>
            <a:r>
              <a:rPr lang="en-US" dirty="0"/>
              <a:t>standard deviation ~= (1,1,1)</a:t>
            </a:r>
          </a:p>
          <a:p>
            <a:pPr marL="914400" lvl="1" indent="-514350"/>
            <a:r>
              <a:rPr lang="en-US" dirty="0"/>
              <a:t>just like with estimating the </a:t>
            </a:r>
            <a:r>
              <a:rPr lang="en-US" dirty="0" err="1"/>
              <a:t>homography</a:t>
            </a:r>
            <a:r>
              <a:rPr lang="en-US" dirty="0"/>
              <a:t> for stitching</a:t>
            </a:r>
          </a:p>
          <a:p>
            <a:pPr marL="514350" indent="-514350"/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Comparison of </a:t>
            </a:r>
            <a:r>
              <a:rPr lang="en-US" sz="3200" dirty="0" err="1"/>
              <a:t>homography</a:t>
            </a:r>
            <a:r>
              <a:rPr lang="en-US" sz="3200" dirty="0"/>
              <a:t> estimation and the 8-point algorithm</a:t>
            </a:r>
          </a:p>
        </p:txBody>
      </p:sp>
      <p:sp>
        <p:nvSpPr>
          <p:cNvPr id="26627" name="Text Placeholder 3"/>
          <p:cNvSpPr>
            <a:spLocks noGrp="1"/>
          </p:cNvSpPr>
          <p:nvPr>
            <p:ph type="body" idx="1"/>
          </p:nvPr>
        </p:nvSpPr>
        <p:spPr>
          <a:xfrm>
            <a:off x="1981200" y="1600201"/>
            <a:ext cx="4040188" cy="639763"/>
          </a:xfrm>
        </p:spPr>
        <p:txBody>
          <a:bodyPr anchor="ctr"/>
          <a:lstStyle/>
          <a:p>
            <a:r>
              <a:rPr lang="en-US"/>
              <a:t>Homography (No Translation)</a:t>
            </a:r>
          </a:p>
        </p:txBody>
      </p:sp>
      <p:sp>
        <p:nvSpPr>
          <p:cNvPr id="26628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169026" y="1600201"/>
            <a:ext cx="4498975" cy="639763"/>
          </a:xfrm>
        </p:spPr>
        <p:txBody>
          <a:bodyPr anchor="ctr"/>
          <a:lstStyle/>
          <a:p>
            <a:r>
              <a:rPr lang="en-US"/>
              <a:t>Fundamental Matrix (Translation)</a:t>
            </a:r>
          </a:p>
        </p:txBody>
      </p:sp>
      <p:sp>
        <p:nvSpPr>
          <p:cNvPr id="26629" name="TextBox 8"/>
          <p:cNvSpPr txBox="1">
            <a:spLocks noChangeArrowheads="1"/>
          </p:cNvSpPr>
          <p:nvPr/>
        </p:nvSpPr>
        <p:spPr bwMode="auto">
          <a:xfrm>
            <a:off x="2514600" y="990601"/>
            <a:ext cx="65402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Assume we have matched points x   </a:t>
            </a:r>
            <a:r>
              <a:rPr lang="en-US" sz="2400" dirty="0" err="1"/>
              <a:t>x</a:t>
            </a:r>
            <a:r>
              <a:rPr lang="en-US" sz="2400" dirty="0"/>
              <a:t>’ with outliers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7315200" y="1219200"/>
            <a:ext cx="152400" cy="76200"/>
          </a:xfrm>
          <a:prstGeom prst="left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1" name="Content Placeholder 2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632" name="Content Placeholder 2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ext Placeholder 3"/>
          <p:cNvSpPr>
            <a:spLocks noGrp="1"/>
          </p:cNvSpPr>
          <p:nvPr>
            <p:ph type="body" idx="1"/>
          </p:nvPr>
        </p:nvSpPr>
        <p:spPr>
          <a:xfrm>
            <a:off x="1981200" y="1600201"/>
            <a:ext cx="4040188" cy="639763"/>
          </a:xfrm>
        </p:spPr>
        <p:txBody>
          <a:bodyPr anchor="ctr"/>
          <a:lstStyle/>
          <a:p>
            <a:r>
              <a:rPr lang="en-US"/>
              <a:t>Homography (No Translation)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7359650" y="1219200"/>
            <a:ext cx="152400" cy="76200"/>
          </a:xfrm>
          <a:prstGeom prst="left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9" name="Content Placeholder 1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60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169026" y="1600201"/>
            <a:ext cx="4498975" cy="639763"/>
          </a:xfrm>
        </p:spPr>
        <p:txBody>
          <a:bodyPr anchor="ctr"/>
          <a:lstStyle/>
          <a:p>
            <a:r>
              <a:rPr lang="en-US"/>
              <a:t>Fundamental Matrix (Translation)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Comparison of </a:t>
            </a:r>
            <a:r>
              <a:rPr lang="en-US" sz="3200" dirty="0" err="1"/>
              <a:t>homography</a:t>
            </a:r>
            <a:r>
              <a:rPr lang="en-US" sz="3200" dirty="0"/>
              <a:t> estimation and the 8-point algorithm</a:t>
            </a:r>
          </a:p>
        </p:txBody>
      </p:sp>
      <p:sp>
        <p:nvSpPr>
          <p:cNvPr id="17" name="TextBox 8"/>
          <p:cNvSpPr txBox="1">
            <a:spLocks noChangeArrowheads="1"/>
          </p:cNvSpPr>
          <p:nvPr/>
        </p:nvSpPr>
        <p:spPr bwMode="auto">
          <a:xfrm>
            <a:off x="2514600" y="990601"/>
            <a:ext cx="65402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Assume we have matched points x   </a:t>
            </a:r>
            <a:r>
              <a:rPr lang="en-US" sz="2400" dirty="0" err="1"/>
              <a:t>x</a:t>
            </a:r>
            <a:r>
              <a:rPr lang="en-US" sz="2400" dirty="0"/>
              <a:t>’ with outliers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981200" y="2239964"/>
            <a:ext cx="4040188" cy="3951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defRPr/>
            </a:pPr>
            <a:r>
              <a:rPr lang="en-US"/>
              <a:t>Correspondence Relation</a:t>
            </a:r>
          </a:p>
          <a:p>
            <a:pPr marL="514350" indent="-514350">
              <a:defRPr/>
            </a:pPr>
            <a:endParaRPr lang="en-US"/>
          </a:p>
          <a:p>
            <a:pPr marL="514350" indent="-514350">
              <a:buFont typeface="+mj-lt"/>
              <a:buAutoNum type="arabicPeriod"/>
              <a:defRPr/>
            </a:pPr>
            <a:r>
              <a:rPr lang="en-US"/>
              <a:t>Normalize image coordinates</a:t>
            </a:r>
          </a:p>
          <a:p>
            <a:pPr marL="514350" indent="-514350">
              <a:buNone/>
              <a:defRPr/>
            </a:pPr>
            <a:endParaRPr lang="en-US" i="1"/>
          </a:p>
          <a:p>
            <a:pPr marL="514350" indent="-514350">
              <a:buFont typeface="Arial" charset="0"/>
              <a:buAutoNum type="arabicPeriod" startAt="2"/>
              <a:defRPr/>
            </a:pPr>
            <a:r>
              <a:rPr lang="en-US"/>
              <a:t>RANSAC with 4 points</a:t>
            </a:r>
          </a:p>
          <a:p>
            <a:pPr marL="914400" lvl="1" indent="-514350">
              <a:defRPr/>
            </a:pPr>
            <a:r>
              <a:rPr lang="en-US"/>
              <a:t>Solution via SVD</a:t>
            </a:r>
          </a:p>
          <a:p>
            <a:pPr marL="514350" indent="-514350">
              <a:buFont typeface="Arial" charset="0"/>
              <a:buAutoNum type="arabicPeriod" startAt="2"/>
              <a:defRPr/>
            </a:pPr>
            <a:r>
              <a:rPr lang="en-US"/>
              <a:t>De-normalize: </a:t>
            </a:r>
          </a:p>
          <a:p>
            <a:pPr marL="514350" indent="-514350">
              <a:buFont typeface="Arial" charset="0"/>
              <a:buAutoNum type="arabicPeriod" startAt="2"/>
              <a:defRPr/>
            </a:pPr>
            <a:endParaRPr lang="en-US"/>
          </a:p>
          <a:p>
            <a:pPr>
              <a:buFont typeface="Arial" charset="0"/>
              <a:buNone/>
              <a:defRPr/>
            </a:pPr>
            <a:endParaRPr lang="en-US"/>
          </a:p>
          <a:p>
            <a:pPr>
              <a:buFont typeface="Arial" charset="0"/>
              <a:buNone/>
              <a:defRPr/>
            </a:pPr>
            <a:endParaRPr lang="en-US"/>
          </a:p>
          <a:p>
            <a:pPr>
              <a:buFont typeface="Arial" charset="0"/>
              <a:buNone/>
              <a:defRPr/>
            </a:pPr>
            <a:endParaRPr lang="en-US"/>
          </a:p>
          <a:p>
            <a:pPr marL="514350" indent="-514350">
              <a:buNone/>
              <a:defRPr/>
            </a:pPr>
            <a:endParaRPr lang="en-US"/>
          </a:p>
          <a:p>
            <a:pPr marL="514350" indent="-514350">
              <a:buFont typeface="+mj-lt"/>
              <a:buAutoNum type="arabicPeriod"/>
              <a:defRPr/>
            </a:pPr>
            <a:endParaRPr lang="en-US"/>
          </a:p>
          <a:p>
            <a:pPr marL="914400" lvl="1" indent="-514350">
              <a:buFont typeface="Calibri" pitchFamily="34" charset="0"/>
              <a:buChar char="–"/>
              <a:defRPr/>
            </a:pPr>
            <a:endParaRPr lang="en-US" dirty="0"/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/>
        </p:nvGraphicFramePr>
        <p:xfrm>
          <a:off x="2743200" y="2667000"/>
          <a:ext cx="23622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177480" progId="Equation.3">
                  <p:embed/>
                </p:oleObj>
              </mc:Choice>
              <mc:Fallback>
                <p:oleObj name="Equation" r:id="rId2" imgW="1346040" imgH="177480" progId="Equation.3">
                  <p:embed/>
                  <p:pic>
                    <p:nvPicPr>
                      <p:cNvPr id="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667000"/>
                        <a:ext cx="236220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2655888" y="4029075"/>
          <a:ext cx="9144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164880" progId="Equation.3">
                  <p:embed/>
                </p:oleObj>
              </mc:Choice>
              <mc:Fallback>
                <p:oleObj name="Equation" r:id="rId4" imgW="482400" imgH="164880" progId="Equation.3">
                  <p:embed/>
                  <p:pic>
                    <p:nvPicPr>
                      <p:cNvPr id="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4029075"/>
                        <a:ext cx="91440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/>
          <p:cNvGraphicFramePr>
            <a:graphicFrameLocks noChangeAspect="1"/>
          </p:cNvGraphicFramePr>
          <p:nvPr/>
        </p:nvGraphicFramePr>
        <p:xfrm>
          <a:off x="3657601" y="4011614"/>
          <a:ext cx="10318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164880" progId="Equation.3">
                  <p:embed/>
                </p:oleObj>
              </mc:Choice>
              <mc:Fallback>
                <p:oleObj name="Equation" r:id="rId6" imgW="583920" imgH="164880" progId="Equation.3">
                  <p:embed/>
                  <p:pic>
                    <p:nvPicPr>
                      <p:cNvPr id="2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4011614"/>
                        <a:ext cx="1031875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4343400" y="5208897"/>
          <a:ext cx="14478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190440" progId="Equation.3">
                  <p:embed/>
                </p:oleObj>
              </mc:Choice>
              <mc:Fallback>
                <p:oleObj name="Equation" r:id="rId8" imgW="799920" imgH="190440" progId="Equation.3">
                  <p:embed/>
                  <p:pic>
                    <p:nvPicPr>
                      <p:cNvPr id="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208897"/>
                        <a:ext cx="1447800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Comparison of </a:t>
            </a:r>
            <a:r>
              <a:rPr lang="en-US" sz="3200" dirty="0" err="1"/>
              <a:t>homography</a:t>
            </a:r>
            <a:r>
              <a:rPr lang="en-US" sz="3200" dirty="0"/>
              <a:t> estimation and the 8-point algorithm</a:t>
            </a:r>
          </a:p>
        </p:txBody>
      </p:sp>
      <p:sp>
        <p:nvSpPr>
          <p:cNvPr id="3084" name="Text Placeholder 3"/>
          <p:cNvSpPr>
            <a:spLocks noGrp="1"/>
          </p:cNvSpPr>
          <p:nvPr>
            <p:ph type="body" idx="1"/>
          </p:nvPr>
        </p:nvSpPr>
        <p:spPr>
          <a:xfrm>
            <a:off x="1981200" y="1600201"/>
            <a:ext cx="4040188" cy="639763"/>
          </a:xfrm>
        </p:spPr>
        <p:txBody>
          <a:bodyPr anchor="ctr"/>
          <a:lstStyle/>
          <a:p>
            <a:r>
              <a:rPr lang="en-US"/>
              <a:t>Homography (No Translation)</a:t>
            </a:r>
          </a:p>
        </p:txBody>
      </p:sp>
      <p:sp>
        <p:nvSpPr>
          <p:cNvPr id="3085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169026" y="1600201"/>
            <a:ext cx="4498975" cy="639763"/>
          </a:xfrm>
        </p:spPr>
        <p:txBody>
          <a:bodyPr anchor="ctr"/>
          <a:lstStyle/>
          <a:p>
            <a:r>
              <a:rPr lang="en-US"/>
              <a:t>Fundamental Matrix (Translation)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69026" y="2239964"/>
            <a:ext cx="4041775" cy="395128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Correspondence Relation</a:t>
            </a:r>
          </a:p>
          <a:p>
            <a:pPr>
              <a:defRPr/>
            </a:pPr>
            <a:endParaRPr lang="en-US" dirty="0"/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/>
              <a:t>Normalize image coordinates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dirty="0"/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/>
              <a:t>RANSAC with 8 points</a:t>
            </a:r>
          </a:p>
          <a:p>
            <a:pPr marL="857250" lvl="1" indent="-457200">
              <a:defRPr/>
            </a:pPr>
            <a:r>
              <a:rPr lang="en-US" dirty="0"/>
              <a:t>Initial solution via SVD</a:t>
            </a:r>
          </a:p>
          <a:p>
            <a:pPr marL="857250" lvl="1" indent="-457200">
              <a:defRPr/>
            </a:pPr>
            <a:r>
              <a:rPr lang="en-US" dirty="0"/>
              <a:t>Enforce 		   by SVD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/>
              <a:t>De-normalize: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2"/>
          </p:nvPr>
        </p:nvSpPr>
        <p:spPr>
          <a:xfrm>
            <a:off x="1981200" y="2239964"/>
            <a:ext cx="4040188" cy="395128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defRPr/>
            </a:pPr>
            <a:r>
              <a:rPr lang="en-US" dirty="0"/>
              <a:t>Correspondence Relation</a:t>
            </a:r>
          </a:p>
          <a:p>
            <a:pPr marL="514350" indent="-514350">
              <a:defRPr/>
            </a:pP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Normalize image coordinates</a:t>
            </a:r>
          </a:p>
          <a:p>
            <a:pPr marL="514350" indent="-514350">
              <a:buNone/>
              <a:defRPr/>
            </a:pPr>
            <a:endParaRPr lang="en-US" i="1" dirty="0"/>
          </a:p>
          <a:p>
            <a:pPr marL="514350" indent="-514350">
              <a:buFont typeface="Arial" charset="0"/>
              <a:buAutoNum type="arabicPeriod" startAt="2"/>
              <a:defRPr/>
            </a:pPr>
            <a:r>
              <a:rPr lang="en-US" dirty="0"/>
              <a:t>RANSAC with 4 points</a:t>
            </a:r>
          </a:p>
          <a:p>
            <a:pPr marL="914400" lvl="1" indent="-514350">
              <a:defRPr/>
            </a:pPr>
            <a:r>
              <a:rPr lang="en-US" dirty="0"/>
              <a:t>Solution via SVD</a:t>
            </a:r>
          </a:p>
          <a:p>
            <a:pPr marL="514350" indent="-514350">
              <a:buFont typeface="Arial" charset="0"/>
              <a:buAutoNum type="arabicPeriod" startAt="2"/>
              <a:defRPr/>
            </a:pPr>
            <a:r>
              <a:rPr lang="en-US" dirty="0"/>
              <a:t>De-normalize: </a:t>
            </a:r>
          </a:p>
          <a:p>
            <a:pPr marL="514350" indent="-514350">
              <a:buFont typeface="Arial" charset="0"/>
              <a:buAutoNum type="arabicPeriod" startAt="2"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  <a:p>
            <a:pPr marL="514350" indent="-514350">
              <a:buNone/>
              <a:defRPr/>
            </a:pP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endParaRPr lang="en-US" dirty="0"/>
          </a:p>
          <a:p>
            <a:pPr marL="914400" lvl="1" indent="-514350">
              <a:buFont typeface="Calibri" pitchFamily="34" charset="0"/>
              <a:buChar char="–"/>
              <a:defRPr/>
            </a:pPr>
            <a:endParaRPr lang="en-US" dirty="0"/>
          </a:p>
        </p:txBody>
      </p:sp>
      <p:sp>
        <p:nvSpPr>
          <p:cNvPr id="3088" name="TextBox 8"/>
          <p:cNvSpPr txBox="1">
            <a:spLocks noChangeArrowheads="1"/>
          </p:cNvSpPr>
          <p:nvPr/>
        </p:nvSpPr>
        <p:spPr bwMode="auto">
          <a:xfrm>
            <a:off x="2514600" y="990601"/>
            <a:ext cx="65402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Assume we have matched points x   x’ with outliers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7315200" y="1219200"/>
            <a:ext cx="152400" cy="76200"/>
          </a:xfrm>
          <a:prstGeom prst="left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478365"/>
              </p:ext>
            </p:extLst>
          </p:nvPr>
        </p:nvGraphicFramePr>
        <p:xfrm>
          <a:off x="2717574" y="2941342"/>
          <a:ext cx="23622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177480" progId="Equation.3">
                  <p:embed/>
                </p:oleObj>
              </mc:Choice>
              <mc:Fallback>
                <p:oleObj name="Equation" r:id="rId2" imgW="1346040" imgH="177480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574" y="2941342"/>
                        <a:ext cx="236220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767284"/>
              </p:ext>
            </p:extLst>
          </p:nvPr>
        </p:nvGraphicFramePr>
        <p:xfrm>
          <a:off x="2655888" y="4116159"/>
          <a:ext cx="9144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164880" progId="Equation.3">
                  <p:embed/>
                </p:oleObj>
              </mc:Choice>
              <mc:Fallback>
                <p:oleObj name="Equation" r:id="rId4" imgW="482400" imgH="164880" progId="Equation.3">
                  <p:embed/>
                  <p:pic>
                    <p:nvPicPr>
                      <p:cNvPr id="30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4116159"/>
                        <a:ext cx="91440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886995"/>
              </p:ext>
            </p:extLst>
          </p:nvPr>
        </p:nvGraphicFramePr>
        <p:xfrm>
          <a:off x="3657601" y="4116159"/>
          <a:ext cx="10318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164880" progId="Equation.3">
                  <p:embed/>
                </p:oleObj>
              </mc:Choice>
              <mc:Fallback>
                <p:oleObj name="Equation" r:id="rId6" imgW="583920" imgH="164880" progId="Equation.3">
                  <p:embed/>
                  <p:pic>
                    <p:nvPicPr>
                      <p:cNvPr id="307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4116159"/>
                        <a:ext cx="1031875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467980"/>
              </p:ext>
            </p:extLst>
          </p:nvPr>
        </p:nvGraphicFramePr>
        <p:xfrm>
          <a:off x="4078288" y="5789614"/>
          <a:ext cx="14478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190440" progId="Equation.3">
                  <p:embed/>
                </p:oleObj>
              </mc:Choice>
              <mc:Fallback>
                <p:oleObj name="Equation" r:id="rId8" imgW="799920" imgH="190440" progId="Equation.3">
                  <p:embed/>
                  <p:pic>
                    <p:nvPicPr>
                      <p:cNvPr id="1536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5789614"/>
                        <a:ext cx="1447800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789153"/>
              </p:ext>
            </p:extLst>
          </p:nvPr>
        </p:nvGraphicFramePr>
        <p:xfrm>
          <a:off x="7238772" y="3921808"/>
          <a:ext cx="9144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164880" progId="Equation.3">
                  <p:embed/>
                </p:oleObj>
              </mc:Choice>
              <mc:Fallback>
                <p:oleObj name="Equation" r:id="rId4" imgW="482400" imgH="164880" progId="Equation.3">
                  <p:embed/>
                  <p:pic>
                    <p:nvPicPr>
                      <p:cNvPr id="307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8772" y="3921808"/>
                        <a:ext cx="914400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096739"/>
              </p:ext>
            </p:extLst>
          </p:nvPr>
        </p:nvGraphicFramePr>
        <p:xfrm>
          <a:off x="8240485" y="3904345"/>
          <a:ext cx="10318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164880" progId="Equation.3">
                  <p:embed/>
                </p:oleObj>
              </mc:Choice>
              <mc:Fallback>
                <p:oleObj name="Equation" r:id="rId6" imgW="583920" imgH="164880" progId="Equation.3">
                  <p:embed/>
                  <p:pic>
                    <p:nvPicPr>
                      <p:cNvPr id="30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485" y="3904345"/>
                        <a:ext cx="1031875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8556625" y="5562601"/>
          <a:ext cx="12636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203040" progId="Equation.3">
                  <p:embed/>
                </p:oleObj>
              </mc:Choice>
              <mc:Fallback>
                <p:oleObj name="Equation" r:id="rId10" imgW="698400" imgH="203040" progId="Equation.3">
                  <p:embed/>
                  <p:pic>
                    <p:nvPicPr>
                      <p:cNvPr id="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25" y="5562601"/>
                        <a:ext cx="1263650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181699"/>
              </p:ext>
            </p:extLst>
          </p:nvPr>
        </p:nvGraphicFramePr>
        <p:xfrm>
          <a:off x="8040688" y="4959126"/>
          <a:ext cx="11477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34680" imgH="241200" progId="Equation.3">
                  <p:embed/>
                </p:oleObj>
              </mc:Choice>
              <mc:Fallback>
                <p:oleObj name="Equation" r:id="rId12" imgW="634680" imgH="241200" progId="Equation.3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8" y="4959126"/>
                        <a:ext cx="1147762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3"/>
          <p:cNvGraphicFramePr>
            <a:graphicFrameLocks noChangeAspect="1"/>
          </p:cNvGraphicFramePr>
          <p:nvPr/>
        </p:nvGraphicFramePr>
        <p:xfrm>
          <a:off x="7467601" y="2590801"/>
          <a:ext cx="12033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4680" imgH="203040" progId="Equation.3">
                  <p:embed/>
                </p:oleObj>
              </mc:Choice>
              <mc:Fallback>
                <p:oleObj name="Equation" r:id="rId14" imgW="634680" imgH="203040" progId="Equation.3">
                  <p:embed/>
                  <p:pic>
                    <p:nvPicPr>
                      <p:cNvPr id="308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2590801"/>
                        <a:ext cx="1203325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“Gold standard”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8-point algorithm to get initial value of F</a:t>
            </a:r>
          </a:p>
          <a:p>
            <a:r>
              <a:rPr lang="en-US" dirty="0"/>
              <a:t>Use F to solve for P and P’ (discussed later)</a:t>
            </a:r>
          </a:p>
          <a:p>
            <a:r>
              <a:rPr lang="en-US" dirty="0"/>
              <a:t>Jointly solve for 3d points </a:t>
            </a:r>
            <a:r>
              <a:rPr lang="en-US" b="1" dirty="0"/>
              <a:t>X</a:t>
            </a:r>
            <a:r>
              <a:rPr lang="en-US" dirty="0"/>
              <a:t> and </a:t>
            </a:r>
            <a:r>
              <a:rPr lang="en-US" b="1" dirty="0"/>
              <a:t>F </a:t>
            </a:r>
            <a:r>
              <a:rPr lang="en-US" dirty="0"/>
              <a:t>that minimize the squared re-projection error</a:t>
            </a:r>
          </a:p>
          <a:p>
            <a:endParaRPr lang="en-US" dirty="0"/>
          </a:p>
        </p:txBody>
      </p:sp>
      <p:grpSp>
        <p:nvGrpSpPr>
          <p:cNvPr id="4" name="Group 14"/>
          <p:cNvGrpSpPr>
            <a:grpSpLocks noChangeAspect="1"/>
          </p:cNvGrpSpPr>
          <p:nvPr/>
        </p:nvGrpSpPr>
        <p:grpSpPr bwMode="auto">
          <a:xfrm>
            <a:off x="3962400" y="3352800"/>
            <a:ext cx="4495800" cy="2604896"/>
            <a:chOff x="1676400" y="762000"/>
            <a:chExt cx="5457825" cy="3162300"/>
          </a:xfrm>
        </p:grpSpPr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1676400" y="762000"/>
              <a:ext cx="5457825" cy="3162300"/>
              <a:chOff x="1676400" y="762000"/>
              <a:chExt cx="5457825" cy="3162300"/>
            </a:xfrm>
          </p:grpSpPr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676400" y="762000"/>
                <a:ext cx="5457825" cy="3162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" name="TextBox 4"/>
              <p:cNvSpPr txBox="1">
                <a:spLocks noChangeArrowheads="1"/>
              </p:cNvSpPr>
              <p:nvPr/>
            </p:nvSpPr>
            <p:spPr bwMode="auto">
              <a:xfrm>
                <a:off x="4597051" y="951977"/>
                <a:ext cx="370134" cy="448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X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2870200" y="2400300"/>
                <a:ext cx="152400" cy="1524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5778500" y="2387600"/>
                <a:ext cx="152400" cy="1524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TextBox 5"/>
              <p:cNvSpPr txBox="1">
                <a:spLocks noChangeArrowheads="1"/>
              </p:cNvSpPr>
              <p:nvPr/>
            </p:nvSpPr>
            <p:spPr bwMode="auto">
              <a:xfrm>
                <a:off x="2819400" y="2286001"/>
                <a:ext cx="331213" cy="410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x</a:t>
                </a:r>
              </a:p>
            </p:txBody>
          </p:sp>
          <p:sp>
            <p:nvSpPr>
              <p:cNvPr id="12" name="TextBox 9"/>
              <p:cNvSpPr txBox="1">
                <a:spLocks noChangeArrowheads="1"/>
              </p:cNvSpPr>
              <p:nvPr/>
            </p:nvSpPr>
            <p:spPr bwMode="auto">
              <a:xfrm>
                <a:off x="5740052" y="2286001"/>
                <a:ext cx="385702" cy="410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x'</a:t>
                </a:r>
              </a:p>
            </p:txBody>
          </p:sp>
        </p:grpSp>
        <p:sp>
          <p:nvSpPr>
            <p:cNvPr id="6" name="Rounded Rectangle 5"/>
            <p:cNvSpPr/>
            <p:nvPr/>
          </p:nvSpPr>
          <p:spPr>
            <a:xfrm>
              <a:off x="2819400" y="2400300"/>
              <a:ext cx="76200" cy="1524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estimation algorithms</a:t>
            </a:r>
          </a:p>
        </p:txBody>
      </p:sp>
      <p:graphicFrame>
        <p:nvGraphicFramePr>
          <p:cNvPr id="10242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3848100" y="914400"/>
          <a:ext cx="4533900" cy="453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250794" imgH="7250794" progId="">
                  <p:embed/>
                </p:oleObj>
              </mc:Choice>
              <mc:Fallback>
                <p:oleObj name="Image" r:id="rId3" imgW="7250794" imgH="7250794" progId="">
                  <p:embed/>
                  <p:pic>
                    <p:nvPicPr>
                      <p:cNvPr id="1024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914400"/>
                        <a:ext cx="4533900" cy="453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34" name="Group 114"/>
          <p:cNvGraphicFramePr>
            <a:graphicFrameLocks noGrp="1"/>
          </p:cNvGraphicFramePr>
          <p:nvPr/>
        </p:nvGraphicFramePr>
        <p:xfrm>
          <a:off x="1981200" y="5638800"/>
          <a:ext cx="8229600" cy="102711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8-point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Normalized 8-point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Nonlinear least squares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Av. Dist.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2.33 pixels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 pixel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0.86 pixel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Av. Dist.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2.18 pixels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0.85 pixel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0.80 pixel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 can get projection matrices P and P’ up to a projective ambiguity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>
              <a:hlinkClick r:id="rId2"/>
            </a:endParaRPr>
          </a:p>
          <a:p>
            <a:pPr>
              <a:buNone/>
              <a:defRPr/>
            </a:pPr>
            <a:r>
              <a:rPr lang="en-US" dirty="0"/>
              <a:t>	</a:t>
            </a:r>
            <a:r>
              <a:rPr lang="en-US" dirty="0">
                <a:hlinkClick r:id="rId2"/>
              </a:rPr>
              <a:t>Code</a:t>
            </a:r>
            <a:r>
              <a:rPr lang="en-US" dirty="0"/>
              <a:t>:</a:t>
            </a:r>
          </a:p>
          <a:p>
            <a:pPr>
              <a:buFont typeface="Arial" charset="0"/>
              <a:buNone/>
              <a:defRPr/>
            </a:pPr>
            <a:r>
              <a:rPr lang="en-US" sz="2200" dirty="0"/>
              <a:t>	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function P =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vgg_P_from_F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(F)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	[U,S,V] =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svd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(F);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	e = U(:,3);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	P = [-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vgg_contreps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(e)*F e];</a:t>
            </a:r>
          </a:p>
          <a:p>
            <a:pPr>
              <a:defRPr/>
            </a:pPr>
            <a:endParaRPr lang="en-US" dirty="0"/>
          </a:p>
        </p:txBody>
      </p:sp>
      <p:graphicFrame>
        <p:nvGraphicFramePr>
          <p:cNvPr id="15366" name="Object 3"/>
          <p:cNvGraphicFramePr>
            <a:graphicFrameLocks noChangeAspect="1"/>
          </p:cNvGraphicFramePr>
          <p:nvPr/>
        </p:nvGraphicFramePr>
        <p:xfrm>
          <a:off x="2438401" y="2514601"/>
          <a:ext cx="16351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15640" progId="Equation.3">
                  <p:embed/>
                </p:oleObj>
              </mc:Choice>
              <mc:Fallback>
                <p:oleObj name="Equation" r:id="rId3" imgW="596880" imgH="215640" progId="Equation.3">
                  <p:embed/>
                  <p:pic>
                    <p:nvPicPr>
                      <p:cNvPr id="1536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2514601"/>
                        <a:ext cx="1635125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4419601" y="2514600"/>
          <a:ext cx="26257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15640" progId="Equation.3">
                  <p:embed/>
                </p:oleObj>
              </mc:Choice>
              <mc:Fallback>
                <p:oleObj name="Equation" r:id="rId5" imgW="914400" imgH="215640" progId="Equation.3">
                  <p:embed/>
                  <p:pic>
                    <p:nvPicPr>
                      <p:cNvPr id="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2514600"/>
                        <a:ext cx="2625725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7315200" y="2514601"/>
          <a:ext cx="1447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160" imgH="203040" progId="Equation.3">
                  <p:embed/>
                </p:oleObj>
              </mc:Choice>
              <mc:Fallback>
                <p:oleObj name="Equation" r:id="rId7" imgW="533160" imgH="203040" progId="Equation.3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514601"/>
                        <a:ext cx="1447800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TextBox 14"/>
          <p:cNvSpPr txBox="1">
            <a:spLocks noChangeArrowheads="1"/>
          </p:cNvSpPr>
          <p:nvPr/>
        </p:nvSpPr>
        <p:spPr bwMode="auto">
          <a:xfrm>
            <a:off x="3886201" y="3200401"/>
            <a:ext cx="320472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/>
              <a:t>See HZ p. 255-256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1600200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K’*translation</a:t>
            </a:r>
          </a:p>
        </p:txBody>
      </p:sp>
      <p:cxnSp>
        <p:nvCxnSpPr>
          <p:cNvPr id="11" name="Straight Arrow Connector 10"/>
          <p:cNvCxnSpPr>
            <a:stCxn id="9" idx="2"/>
          </p:cNvCxnSpPr>
          <p:nvPr/>
        </p:nvCxnSpPr>
        <p:spPr>
          <a:xfrm rot="5400000">
            <a:off x="6817066" y="2010468"/>
            <a:ext cx="545068" cy="4631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5747266" y="2253734"/>
            <a:ext cx="39266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34001" y="167640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K’*rotation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0939" y="6248400"/>
            <a:ext cx="7791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we know the intrinsic matrices (K and K’), we can resolve the ambiguity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8077200" cy="838200"/>
          </a:xfrm>
        </p:spPr>
        <p:txBody>
          <a:bodyPr>
            <a:noAutofit/>
          </a:bodyPr>
          <a:lstStyle/>
          <a:p>
            <a:r>
              <a:rPr lang="en-US" sz="3600" dirty="0"/>
              <a:t>From </a:t>
            </a:r>
            <a:r>
              <a:rPr lang="en-US" sz="3600" dirty="0" err="1"/>
              <a:t>epipolar</a:t>
            </a:r>
            <a:r>
              <a:rPr lang="en-US" sz="3600" dirty="0"/>
              <a:t> geometry to camera calibration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•"/>
            </a:pPr>
            <a:endParaRPr lang="en-US" sz="2400" dirty="0"/>
          </a:p>
          <a:p>
            <a:pPr>
              <a:buFontTx/>
              <a:buChar char="•"/>
            </a:pPr>
            <a:r>
              <a:rPr lang="en-US" sz="2400" dirty="0"/>
              <a:t>Estimating the fundamental matrix is known as “weak calibration”</a:t>
            </a:r>
          </a:p>
          <a:p>
            <a:pPr>
              <a:buFontTx/>
              <a:buChar char="•"/>
            </a:pPr>
            <a:endParaRPr lang="en-US" sz="2400" dirty="0"/>
          </a:p>
          <a:p>
            <a:pPr>
              <a:buFontTx/>
              <a:buChar char="•"/>
            </a:pPr>
            <a:r>
              <a:rPr lang="en-US" sz="2400" dirty="0"/>
              <a:t>We </a:t>
            </a:r>
            <a:r>
              <a:rPr lang="en-US" sz="2400" dirty="0" err="1"/>
              <a:t>cIf</a:t>
            </a:r>
            <a:r>
              <a:rPr lang="en-US" sz="2400" dirty="0"/>
              <a:t> we know the calibration matrices of the two cameras, we can estimate the essential matrix: </a:t>
            </a:r>
            <a:r>
              <a:rPr lang="en-US" sz="2400" i="1" dirty="0"/>
              <a:t>E = K</a:t>
            </a:r>
            <a:r>
              <a:rPr lang="en-US" sz="2400" i="1" baseline="30000" dirty="0"/>
              <a:t>T</a:t>
            </a:r>
            <a:r>
              <a:rPr lang="en-US" sz="2400" i="1" dirty="0"/>
              <a:t>FK’</a:t>
            </a:r>
          </a:p>
          <a:p>
            <a:pPr>
              <a:buFontTx/>
              <a:buChar char="•"/>
            </a:pPr>
            <a:endParaRPr lang="en-US" sz="2400" dirty="0"/>
          </a:p>
          <a:p>
            <a:pPr>
              <a:buFontTx/>
              <a:buChar char="•"/>
            </a:pPr>
            <a:r>
              <a:rPr lang="en-US" sz="2400" dirty="0"/>
              <a:t>The essential matrix gives us the relative rotation and translation between the cameras, or their extrinsic parameters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recap…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Fundamental matrix song</a:t>
            </a:r>
            <a:endParaRPr lang="en-US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on to stereo…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Fuse a calibrated binocular stereo pair to produce a depth image</a:t>
            </a:r>
          </a:p>
        </p:txBody>
      </p:sp>
      <p:sp>
        <p:nvSpPr>
          <p:cNvPr id="38916" name="Text Box 10"/>
          <p:cNvSpPr txBox="1">
            <a:spLocks noChangeArrowheads="1"/>
          </p:cNvSpPr>
          <p:nvPr/>
        </p:nvSpPr>
        <p:spPr bwMode="auto">
          <a:xfrm>
            <a:off x="3956051" y="1919288"/>
            <a:ext cx="9249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image 1</a:t>
            </a:r>
            <a:endParaRPr lang="en-GB"/>
          </a:p>
        </p:txBody>
      </p:sp>
      <p:sp>
        <p:nvSpPr>
          <p:cNvPr id="38917" name="Text Box 11"/>
          <p:cNvSpPr txBox="1">
            <a:spLocks noChangeArrowheads="1"/>
          </p:cNvSpPr>
          <p:nvPr/>
        </p:nvSpPr>
        <p:spPr bwMode="auto">
          <a:xfrm>
            <a:off x="7080251" y="1919288"/>
            <a:ext cx="9249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image 2</a:t>
            </a:r>
            <a:endParaRPr lang="en-GB"/>
          </a:p>
        </p:txBody>
      </p:sp>
      <p:sp>
        <p:nvSpPr>
          <p:cNvPr id="38918" name="Text Box 12"/>
          <p:cNvSpPr txBox="1">
            <a:spLocks noChangeArrowheads="1"/>
          </p:cNvSpPr>
          <p:nvPr/>
        </p:nvSpPr>
        <p:spPr bwMode="auto">
          <a:xfrm>
            <a:off x="4957764" y="4357688"/>
            <a:ext cx="18491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Dense depth map</a:t>
            </a:r>
            <a:endParaRPr lang="en-GB"/>
          </a:p>
        </p:txBody>
      </p:sp>
      <p:pic>
        <p:nvPicPr>
          <p:cNvPr id="38919" name="Picture 13" descr="rect_006_007_lef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9588" y="2270125"/>
            <a:ext cx="2741612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0" name="Picture 14" descr="rect_006_007_rig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2259013"/>
            <a:ext cx="2749550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1" name="Picture 15" descr="disparity_006_007_l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4768850"/>
            <a:ext cx="2749550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22" name="TextBox 9"/>
          <p:cNvSpPr txBox="1">
            <a:spLocks noChangeArrowheads="1"/>
          </p:cNvSpPr>
          <p:nvPr/>
        </p:nvSpPr>
        <p:spPr bwMode="auto">
          <a:xfrm flipH="1">
            <a:off x="7742238" y="6334126"/>
            <a:ext cx="29257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Many of these slides adapted from Steve Seitz and Lana Lazebnik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stereo matching algorithm</a:t>
            </a:r>
          </a:p>
        </p:txBody>
      </p:sp>
      <p:pic>
        <p:nvPicPr>
          <p:cNvPr id="39939" name="Picture 3" descr="lincoln_ful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1066801"/>
            <a:ext cx="5029200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5270" name="Line 6"/>
          <p:cNvSpPr>
            <a:spLocks noChangeShapeType="1"/>
          </p:cNvSpPr>
          <p:nvPr/>
        </p:nvSpPr>
        <p:spPr bwMode="auto">
          <a:xfrm>
            <a:off x="6096000" y="3124200"/>
            <a:ext cx="2514600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876800" y="2971800"/>
            <a:ext cx="304800" cy="304800"/>
            <a:chOff x="2112" y="1872"/>
            <a:chExt cx="192" cy="192"/>
          </a:xfrm>
        </p:grpSpPr>
        <p:sp>
          <p:nvSpPr>
            <p:cNvPr id="39952" name="Oval 9"/>
            <p:cNvSpPr>
              <a:spLocks noChangeArrowheads="1"/>
            </p:cNvSpPr>
            <p:nvPr/>
          </p:nvSpPr>
          <p:spPr bwMode="auto">
            <a:xfrm>
              <a:off x="2174" y="1941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3" name="Rectangle 16"/>
            <p:cNvSpPr>
              <a:spLocks noChangeArrowheads="1"/>
            </p:cNvSpPr>
            <p:nvPr/>
          </p:nvSpPr>
          <p:spPr bwMode="auto">
            <a:xfrm>
              <a:off x="2112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6781800" y="2971800"/>
            <a:ext cx="304800" cy="304800"/>
            <a:chOff x="3600" y="1872"/>
            <a:chExt cx="192" cy="192"/>
          </a:xfrm>
        </p:grpSpPr>
        <p:sp>
          <p:nvSpPr>
            <p:cNvPr id="39950" name="Oval 7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1" name="Rectangle 17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630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828800" y="4114800"/>
            <a:ext cx="8686800" cy="2438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Tx/>
              <a:buChar char="•"/>
              <a:defRPr/>
            </a:pPr>
            <a:r>
              <a:rPr lang="en-US" dirty="0"/>
              <a:t>For each pixel in the first image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Find corresponding </a:t>
            </a:r>
            <a:r>
              <a:rPr lang="en-US" dirty="0" err="1"/>
              <a:t>epipolar</a:t>
            </a:r>
            <a:r>
              <a:rPr lang="en-US" dirty="0"/>
              <a:t> line in the right image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Search along </a:t>
            </a:r>
            <a:r>
              <a:rPr lang="en-US" dirty="0" err="1"/>
              <a:t>epipolar</a:t>
            </a:r>
            <a:r>
              <a:rPr lang="en-US" dirty="0"/>
              <a:t> line and pick the best match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Triangulate the matches to get depth information</a:t>
            </a:r>
            <a:br>
              <a:rPr lang="en-US" dirty="0"/>
            </a:br>
            <a:endParaRPr lang="en-US" dirty="0"/>
          </a:p>
          <a:p>
            <a:pPr>
              <a:lnSpc>
                <a:spcPct val="90000"/>
              </a:lnSpc>
              <a:buFontTx/>
              <a:buChar char="•"/>
              <a:defRPr/>
            </a:pPr>
            <a:r>
              <a:rPr lang="en-US" dirty="0"/>
              <a:t>Simplest case: </a:t>
            </a:r>
            <a:r>
              <a:rPr lang="en-US" dirty="0" err="1"/>
              <a:t>epipolar</a:t>
            </a:r>
            <a:r>
              <a:rPr lang="en-US" dirty="0"/>
              <a:t> lines are </a:t>
            </a:r>
            <a:r>
              <a:rPr lang="en-US" dirty="0" err="1"/>
              <a:t>scanlines</a:t>
            </a:r>
            <a:endParaRPr lang="en-US" dirty="0"/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When does this happen?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324600" y="2971800"/>
            <a:ext cx="304800" cy="304800"/>
            <a:chOff x="3600" y="1872"/>
            <a:chExt cx="192" cy="192"/>
          </a:xfrm>
        </p:grpSpPr>
        <p:sp>
          <p:nvSpPr>
            <p:cNvPr id="39948" name="Oval 17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9" name="Rectangle 18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239000" y="2971800"/>
            <a:ext cx="304800" cy="304800"/>
            <a:chOff x="3600" y="1872"/>
            <a:chExt cx="192" cy="192"/>
          </a:xfrm>
        </p:grpSpPr>
        <p:sp>
          <p:nvSpPr>
            <p:cNvPr id="39946" name="Oval 20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7" name="Rectangle 21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70" grpId="0" animBg="1"/>
      <p:bldP spid="396301" grpId="0" build="p" bldLvl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Simplest Case: Parallel images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53200" y="914400"/>
            <a:ext cx="3810000" cy="52578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sz="2000" dirty="0"/>
              <a:t>Image planes of cameras are parallel to each other and to the baseline</a:t>
            </a:r>
          </a:p>
          <a:p>
            <a:pPr>
              <a:buFontTx/>
              <a:buChar char="•"/>
            </a:pPr>
            <a:r>
              <a:rPr lang="en-US" sz="2000" dirty="0"/>
              <a:t>Camera centers are at same height</a:t>
            </a:r>
          </a:p>
          <a:p>
            <a:pPr>
              <a:buFontTx/>
              <a:buChar char="•"/>
            </a:pPr>
            <a:r>
              <a:rPr lang="en-US" sz="2000" dirty="0"/>
              <a:t>Focal lengths are the same</a:t>
            </a:r>
          </a:p>
          <a:p>
            <a:endParaRPr lang="en-US" sz="2000" dirty="0"/>
          </a:p>
        </p:txBody>
      </p:sp>
      <p:sp>
        <p:nvSpPr>
          <p:cNvPr id="40964" name="Freeform 4"/>
          <p:cNvSpPr>
            <a:spLocks/>
          </p:cNvSpPr>
          <p:nvPr/>
        </p:nvSpPr>
        <p:spPr bwMode="auto">
          <a:xfrm>
            <a:off x="5005389" y="957264"/>
            <a:ext cx="1220787" cy="839787"/>
          </a:xfrm>
          <a:custGeom>
            <a:avLst/>
            <a:gdLst>
              <a:gd name="T0" fmla="*/ 2147483647 w 865"/>
              <a:gd name="T1" fmla="*/ 0 h 529"/>
              <a:gd name="T2" fmla="*/ 2147483647 w 865"/>
              <a:gd name="T3" fmla="*/ 2147483647 h 529"/>
              <a:gd name="T4" fmla="*/ 2147483647 w 865"/>
              <a:gd name="T5" fmla="*/ 2147483647 h 529"/>
              <a:gd name="T6" fmla="*/ 2147483647 w 865"/>
              <a:gd name="T7" fmla="*/ 2147483647 h 529"/>
              <a:gd name="T8" fmla="*/ 2147483647 w 865"/>
              <a:gd name="T9" fmla="*/ 2147483647 h 529"/>
              <a:gd name="T10" fmla="*/ 2147483647 w 865"/>
              <a:gd name="T11" fmla="*/ 2147483647 h 529"/>
              <a:gd name="T12" fmla="*/ 2147483647 w 865"/>
              <a:gd name="T13" fmla="*/ 2147483647 h 529"/>
              <a:gd name="T14" fmla="*/ 2147483647 w 865"/>
              <a:gd name="T15" fmla="*/ 2147483647 h 529"/>
              <a:gd name="T16" fmla="*/ 2147483647 w 865"/>
              <a:gd name="T17" fmla="*/ 2147483647 h 529"/>
              <a:gd name="T18" fmla="*/ 0 w 865"/>
              <a:gd name="T19" fmla="*/ 2147483647 h 529"/>
              <a:gd name="T20" fmla="*/ 0 w 865"/>
              <a:gd name="T21" fmla="*/ 2147483647 h 529"/>
              <a:gd name="T22" fmla="*/ 0 w 865"/>
              <a:gd name="T23" fmla="*/ 2147483647 h 529"/>
              <a:gd name="T24" fmla="*/ 2147483647 w 865"/>
              <a:gd name="T25" fmla="*/ 2147483647 h 529"/>
              <a:gd name="T26" fmla="*/ 2147483647 w 865"/>
              <a:gd name="T27" fmla="*/ 2147483647 h 529"/>
              <a:gd name="T28" fmla="*/ 2147483647 w 865"/>
              <a:gd name="T29" fmla="*/ 2147483647 h 529"/>
              <a:gd name="T30" fmla="*/ 2147483647 w 865"/>
              <a:gd name="T31" fmla="*/ 2147483647 h 529"/>
              <a:gd name="T32" fmla="*/ 2147483647 w 865"/>
              <a:gd name="T33" fmla="*/ 2147483647 h 529"/>
              <a:gd name="T34" fmla="*/ 2147483647 w 865"/>
              <a:gd name="T35" fmla="*/ 2147483647 h 529"/>
              <a:gd name="T36" fmla="*/ 2147483647 w 865"/>
              <a:gd name="T37" fmla="*/ 2147483647 h 529"/>
              <a:gd name="T38" fmla="*/ 2147483647 w 865"/>
              <a:gd name="T39" fmla="*/ 2147483647 h 529"/>
              <a:gd name="T40" fmla="*/ 2147483647 w 865"/>
              <a:gd name="T41" fmla="*/ 2147483647 h 529"/>
              <a:gd name="T42" fmla="*/ 2147483647 w 865"/>
              <a:gd name="T43" fmla="*/ 2147483647 h 529"/>
              <a:gd name="T44" fmla="*/ 2147483647 w 865"/>
              <a:gd name="T45" fmla="*/ 2147483647 h 529"/>
              <a:gd name="T46" fmla="*/ 2147483647 w 865"/>
              <a:gd name="T47" fmla="*/ 2147483647 h 529"/>
              <a:gd name="T48" fmla="*/ 2147483647 w 865"/>
              <a:gd name="T49" fmla="*/ 2147483647 h 529"/>
              <a:gd name="T50" fmla="*/ 2147483647 w 865"/>
              <a:gd name="T51" fmla="*/ 2147483647 h 529"/>
              <a:gd name="T52" fmla="*/ 2147483647 w 865"/>
              <a:gd name="T53" fmla="*/ 2147483647 h 529"/>
              <a:gd name="T54" fmla="*/ 2147483647 w 865"/>
              <a:gd name="T55" fmla="*/ 2147483647 h 529"/>
              <a:gd name="T56" fmla="*/ 2147483647 w 865"/>
              <a:gd name="T57" fmla="*/ 2147483647 h 529"/>
              <a:gd name="T58" fmla="*/ 2147483647 w 865"/>
              <a:gd name="T59" fmla="*/ 2147483647 h 529"/>
              <a:gd name="T60" fmla="*/ 2147483647 w 865"/>
              <a:gd name="T61" fmla="*/ 2147483647 h 529"/>
              <a:gd name="T62" fmla="*/ 2147483647 w 865"/>
              <a:gd name="T63" fmla="*/ 2147483647 h 529"/>
              <a:gd name="T64" fmla="*/ 2147483647 w 865"/>
              <a:gd name="T65" fmla="*/ 2147483647 h 529"/>
              <a:gd name="T66" fmla="*/ 2147483647 w 865"/>
              <a:gd name="T67" fmla="*/ 2147483647 h 529"/>
              <a:gd name="T68" fmla="*/ 2147483647 w 865"/>
              <a:gd name="T69" fmla="*/ 2147483647 h 529"/>
              <a:gd name="T70" fmla="*/ 2147483647 w 865"/>
              <a:gd name="T71" fmla="*/ 2147483647 h 529"/>
              <a:gd name="T72" fmla="*/ 2147483647 w 865"/>
              <a:gd name="T73" fmla="*/ 2147483647 h 529"/>
              <a:gd name="T74" fmla="*/ 2147483647 w 865"/>
              <a:gd name="T75" fmla="*/ 2147483647 h 529"/>
              <a:gd name="T76" fmla="*/ 2147483647 w 865"/>
              <a:gd name="T77" fmla="*/ 2147483647 h 529"/>
              <a:gd name="T78" fmla="*/ 2147483647 w 865"/>
              <a:gd name="T79" fmla="*/ 0 h 52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865"/>
              <a:gd name="T121" fmla="*/ 0 h 529"/>
              <a:gd name="T122" fmla="*/ 865 w 865"/>
              <a:gd name="T123" fmla="*/ 529 h 529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865" h="529">
                <a:moveTo>
                  <a:pt x="84" y="0"/>
                </a:moveTo>
                <a:lnTo>
                  <a:pt x="72" y="24"/>
                </a:lnTo>
                <a:lnTo>
                  <a:pt x="72" y="48"/>
                </a:lnTo>
                <a:lnTo>
                  <a:pt x="48" y="72"/>
                </a:lnTo>
                <a:lnTo>
                  <a:pt x="36" y="96"/>
                </a:lnTo>
                <a:lnTo>
                  <a:pt x="36" y="120"/>
                </a:lnTo>
                <a:lnTo>
                  <a:pt x="36" y="144"/>
                </a:lnTo>
                <a:lnTo>
                  <a:pt x="24" y="168"/>
                </a:lnTo>
                <a:lnTo>
                  <a:pt x="12" y="192"/>
                </a:lnTo>
                <a:lnTo>
                  <a:pt x="0" y="216"/>
                </a:lnTo>
                <a:lnTo>
                  <a:pt x="0" y="240"/>
                </a:lnTo>
                <a:lnTo>
                  <a:pt x="0" y="264"/>
                </a:lnTo>
                <a:lnTo>
                  <a:pt x="12" y="288"/>
                </a:lnTo>
                <a:lnTo>
                  <a:pt x="12" y="312"/>
                </a:lnTo>
                <a:lnTo>
                  <a:pt x="24" y="336"/>
                </a:lnTo>
                <a:lnTo>
                  <a:pt x="24" y="360"/>
                </a:lnTo>
                <a:lnTo>
                  <a:pt x="36" y="384"/>
                </a:lnTo>
                <a:lnTo>
                  <a:pt x="36" y="408"/>
                </a:lnTo>
                <a:lnTo>
                  <a:pt x="48" y="432"/>
                </a:lnTo>
                <a:lnTo>
                  <a:pt x="60" y="456"/>
                </a:lnTo>
                <a:lnTo>
                  <a:pt x="852" y="528"/>
                </a:lnTo>
                <a:lnTo>
                  <a:pt x="804" y="480"/>
                </a:lnTo>
                <a:lnTo>
                  <a:pt x="792" y="456"/>
                </a:lnTo>
                <a:lnTo>
                  <a:pt x="780" y="420"/>
                </a:lnTo>
                <a:lnTo>
                  <a:pt x="768" y="396"/>
                </a:lnTo>
                <a:lnTo>
                  <a:pt x="756" y="372"/>
                </a:lnTo>
                <a:lnTo>
                  <a:pt x="744" y="348"/>
                </a:lnTo>
                <a:lnTo>
                  <a:pt x="744" y="324"/>
                </a:lnTo>
                <a:lnTo>
                  <a:pt x="744" y="288"/>
                </a:lnTo>
                <a:lnTo>
                  <a:pt x="744" y="264"/>
                </a:lnTo>
                <a:lnTo>
                  <a:pt x="744" y="240"/>
                </a:lnTo>
                <a:lnTo>
                  <a:pt x="768" y="216"/>
                </a:lnTo>
                <a:lnTo>
                  <a:pt x="768" y="192"/>
                </a:lnTo>
                <a:lnTo>
                  <a:pt x="780" y="168"/>
                </a:lnTo>
                <a:lnTo>
                  <a:pt x="804" y="156"/>
                </a:lnTo>
                <a:lnTo>
                  <a:pt x="804" y="132"/>
                </a:lnTo>
                <a:lnTo>
                  <a:pt x="828" y="108"/>
                </a:lnTo>
                <a:lnTo>
                  <a:pt x="852" y="96"/>
                </a:lnTo>
                <a:lnTo>
                  <a:pt x="864" y="72"/>
                </a:lnTo>
                <a:lnTo>
                  <a:pt x="84" y="0"/>
                </a:lnTo>
              </a:path>
            </a:pathLst>
          </a:custGeom>
          <a:gradFill rotWithShape="0">
            <a:gsLst>
              <a:gs pos="0">
                <a:srgbClr val="012501"/>
              </a:gs>
              <a:gs pos="100000">
                <a:srgbClr val="037C03"/>
              </a:gs>
            </a:gsLst>
            <a:lin ang="18900000" scaled="1"/>
          </a:gra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>
            <a:off x="2414588" y="4310063"/>
            <a:ext cx="325120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6" name="Freeform 9"/>
          <p:cNvSpPr>
            <a:spLocks/>
          </p:cNvSpPr>
          <p:nvPr/>
        </p:nvSpPr>
        <p:spPr bwMode="auto">
          <a:xfrm>
            <a:off x="3057525" y="1219201"/>
            <a:ext cx="2471738" cy="2462213"/>
          </a:xfrm>
          <a:custGeom>
            <a:avLst/>
            <a:gdLst>
              <a:gd name="T0" fmla="*/ 0 w 1557"/>
              <a:gd name="T1" fmla="*/ 2147483647 h 1551"/>
              <a:gd name="T2" fmla="*/ 2147483647 w 1557"/>
              <a:gd name="T3" fmla="*/ 0 h 1551"/>
              <a:gd name="T4" fmla="*/ 0 60000 65536"/>
              <a:gd name="T5" fmla="*/ 0 60000 65536"/>
              <a:gd name="T6" fmla="*/ 0 w 1557"/>
              <a:gd name="T7" fmla="*/ 0 h 1551"/>
              <a:gd name="T8" fmla="*/ 1557 w 1557"/>
              <a:gd name="T9" fmla="*/ 1551 h 155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57" h="1551">
                <a:moveTo>
                  <a:pt x="0" y="1551"/>
                </a:moveTo>
                <a:lnTo>
                  <a:pt x="1557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7" name="Freeform 10"/>
          <p:cNvSpPr>
            <a:spLocks/>
          </p:cNvSpPr>
          <p:nvPr/>
        </p:nvSpPr>
        <p:spPr bwMode="auto">
          <a:xfrm>
            <a:off x="2211389" y="2490789"/>
            <a:ext cx="1220787" cy="2001837"/>
          </a:xfrm>
          <a:custGeom>
            <a:avLst/>
            <a:gdLst>
              <a:gd name="T0" fmla="*/ 0 w 865"/>
              <a:gd name="T1" fmla="*/ 2147483647 h 1261"/>
              <a:gd name="T2" fmla="*/ 2147483647 w 865"/>
              <a:gd name="T3" fmla="*/ 2147483647 h 1261"/>
              <a:gd name="T4" fmla="*/ 2147483647 w 865"/>
              <a:gd name="T5" fmla="*/ 2147483647 h 1261"/>
              <a:gd name="T6" fmla="*/ 0 w 865"/>
              <a:gd name="T7" fmla="*/ 0 h 1261"/>
              <a:gd name="T8" fmla="*/ 0 w 865"/>
              <a:gd name="T9" fmla="*/ 2147483647 h 1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5"/>
              <a:gd name="T16" fmla="*/ 0 h 1261"/>
              <a:gd name="T17" fmla="*/ 865 w 865"/>
              <a:gd name="T18" fmla="*/ 1261 h 1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5" h="1261">
                <a:moveTo>
                  <a:pt x="0" y="828"/>
                </a:moveTo>
                <a:lnTo>
                  <a:pt x="864" y="1260"/>
                </a:lnTo>
                <a:lnTo>
                  <a:pt x="864" y="414"/>
                </a:lnTo>
                <a:lnTo>
                  <a:pt x="0" y="0"/>
                </a:lnTo>
                <a:lnTo>
                  <a:pt x="0" y="828"/>
                </a:lnTo>
              </a:path>
            </a:pathLst>
          </a:custGeom>
          <a:solidFill>
            <a:srgbClr val="FEBF02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8" name="Freeform 12"/>
          <p:cNvSpPr>
            <a:spLocks/>
          </p:cNvSpPr>
          <p:nvPr/>
        </p:nvSpPr>
        <p:spPr bwMode="auto">
          <a:xfrm>
            <a:off x="5514976" y="1219201"/>
            <a:ext cx="117475" cy="3910013"/>
          </a:xfrm>
          <a:custGeom>
            <a:avLst/>
            <a:gdLst>
              <a:gd name="T0" fmla="*/ 2147483647 w 74"/>
              <a:gd name="T1" fmla="*/ 2147483647 h 2463"/>
              <a:gd name="T2" fmla="*/ 0 w 74"/>
              <a:gd name="T3" fmla="*/ 0 h 2463"/>
              <a:gd name="T4" fmla="*/ 0 60000 65536"/>
              <a:gd name="T5" fmla="*/ 0 60000 65536"/>
              <a:gd name="T6" fmla="*/ 0 w 74"/>
              <a:gd name="T7" fmla="*/ 0 h 2463"/>
              <a:gd name="T8" fmla="*/ 74 w 74"/>
              <a:gd name="T9" fmla="*/ 2463 h 246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4" h="2463">
                <a:moveTo>
                  <a:pt x="74" y="246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9" name="Freeform 13"/>
          <p:cNvSpPr>
            <a:spLocks/>
          </p:cNvSpPr>
          <p:nvPr/>
        </p:nvSpPr>
        <p:spPr bwMode="auto">
          <a:xfrm>
            <a:off x="5327650" y="4208464"/>
            <a:ext cx="1220788" cy="2001837"/>
          </a:xfrm>
          <a:custGeom>
            <a:avLst/>
            <a:gdLst>
              <a:gd name="T0" fmla="*/ 0 w 865"/>
              <a:gd name="T1" fmla="*/ 2147483647 h 1261"/>
              <a:gd name="T2" fmla="*/ 2147483647 w 865"/>
              <a:gd name="T3" fmla="*/ 2147483647 h 1261"/>
              <a:gd name="T4" fmla="*/ 2147483647 w 865"/>
              <a:gd name="T5" fmla="*/ 2147483647 h 1261"/>
              <a:gd name="T6" fmla="*/ 0 w 865"/>
              <a:gd name="T7" fmla="*/ 0 h 1261"/>
              <a:gd name="T8" fmla="*/ 0 w 865"/>
              <a:gd name="T9" fmla="*/ 2147483647 h 1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5"/>
              <a:gd name="T16" fmla="*/ 0 h 1261"/>
              <a:gd name="T17" fmla="*/ 865 w 865"/>
              <a:gd name="T18" fmla="*/ 1261 h 1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5" h="1261">
                <a:moveTo>
                  <a:pt x="0" y="828"/>
                </a:moveTo>
                <a:lnTo>
                  <a:pt x="864" y="1260"/>
                </a:lnTo>
                <a:lnTo>
                  <a:pt x="864" y="414"/>
                </a:lnTo>
                <a:lnTo>
                  <a:pt x="0" y="0"/>
                </a:lnTo>
                <a:lnTo>
                  <a:pt x="0" y="828"/>
                </a:lnTo>
              </a:path>
            </a:pathLst>
          </a:custGeom>
          <a:solidFill>
            <a:srgbClr val="FEBF02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0" name="Line 14"/>
          <p:cNvSpPr>
            <a:spLocks noChangeShapeType="1"/>
          </p:cNvSpPr>
          <p:nvPr/>
        </p:nvSpPr>
        <p:spPr bwMode="auto">
          <a:xfrm flipV="1">
            <a:off x="2414589" y="3681413"/>
            <a:ext cx="6429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1" name="Line 15"/>
          <p:cNvSpPr>
            <a:spLocks noChangeShapeType="1"/>
          </p:cNvSpPr>
          <p:nvPr/>
        </p:nvSpPr>
        <p:spPr bwMode="auto">
          <a:xfrm flipH="1" flipV="1">
            <a:off x="5632450" y="5129213"/>
            <a:ext cx="33338" cy="1009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2" name="Freeform 18"/>
          <p:cNvSpPr>
            <a:spLocks/>
          </p:cNvSpPr>
          <p:nvPr/>
        </p:nvSpPr>
        <p:spPr bwMode="auto">
          <a:xfrm>
            <a:off x="2057400" y="4260850"/>
            <a:ext cx="393700" cy="387350"/>
          </a:xfrm>
          <a:custGeom>
            <a:avLst/>
            <a:gdLst>
              <a:gd name="T0" fmla="*/ 0 w 279"/>
              <a:gd name="T1" fmla="*/ 2147483647 h 244"/>
              <a:gd name="T2" fmla="*/ 2147483647 w 279"/>
              <a:gd name="T3" fmla="*/ 2147483647 h 244"/>
              <a:gd name="T4" fmla="*/ 2147483647 w 279"/>
              <a:gd name="T5" fmla="*/ 0 h 244"/>
              <a:gd name="T6" fmla="*/ 2147483647 w 279"/>
              <a:gd name="T7" fmla="*/ 2147483647 h 244"/>
              <a:gd name="T8" fmla="*/ 2147483647 w 279"/>
              <a:gd name="T9" fmla="*/ 2147483647 h 244"/>
              <a:gd name="T10" fmla="*/ 2147483647 w 279"/>
              <a:gd name="T11" fmla="*/ 2147483647 h 244"/>
              <a:gd name="T12" fmla="*/ 2147483647 w 279"/>
              <a:gd name="T13" fmla="*/ 2147483647 h 244"/>
              <a:gd name="T14" fmla="*/ 2147483647 w 279"/>
              <a:gd name="T15" fmla="*/ 2147483647 h 244"/>
              <a:gd name="T16" fmla="*/ 2147483647 w 279"/>
              <a:gd name="T17" fmla="*/ 2147483647 h 244"/>
              <a:gd name="T18" fmla="*/ 2147483647 w 279"/>
              <a:gd name="T19" fmla="*/ 2147483647 h 244"/>
              <a:gd name="T20" fmla="*/ 2147483647 w 279"/>
              <a:gd name="T21" fmla="*/ 2147483647 h 244"/>
              <a:gd name="T22" fmla="*/ 2147483647 w 279"/>
              <a:gd name="T23" fmla="*/ 2147483647 h 244"/>
              <a:gd name="T24" fmla="*/ 2147483647 w 279"/>
              <a:gd name="T25" fmla="*/ 2147483647 h 244"/>
              <a:gd name="T26" fmla="*/ 2147483647 w 279"/>
              <a:gd name="T27" fmla="*/ 2147483647 h 244"/>
              <a:gd name="T28" fmla="*/ 2147483647 w 279"/>
              <a:gd name="T29" fmla="*/ 2147483647 h 244"/>
              <a:gd name="T30" fmla="*/ 2147483647 w 279"/>
              <a:gd name="T31" fmla="*/ 2147483647 h 244"/>
              <a:gd name="T32" fmla="*/ 2147483647 w 279"/>
              <a:gd name="T33" fmla="*/ 2147483647 h 244"/>
              <a:gd name="T34" fmla="*/ 2147483647 w 279"/>
              <a:gd name="T35" fmla="*/ 2147483647 h 244"/>
              <a:gd name="T36" fmla="*/ 2147483647 w 279"/>
              <a:gd name="T37" fmla="*/ 2147483647 h 244"/>
              <a:gd name="T38" fmla="*/ 2147483647 w 279"/>
              <a:gd name="T39" fmla="*/ 2147483647 h 244"/>
              <a:gd name="T40" fmla="*/ 2147483647 w 279"/>
              <a:gd name="T41" fmla="*/ 2147483647 h 244"/>
              <a:gd name="T42" fmla="*/ 2147483647 w 279"/>
              <a:gd name="T43" fmla="*/ 2147483647 h 244"/>
              <a:gd name="T44" fmla="*/ 2147483647 w 279"/>
              <a:gd name="T45" fmla="*/ 2147483647 h 244"/>
              <a:gd name="T46" fmla="*/ 2147483647 w 279"/>
              <a:gd name="T47" fmla="*/ 2147483647 h 244"/>
              <a:gd name="T48" fmla="*/ 2147483647 w 279"/>
              <a:gd name="T49" fmla="*/ 2147483647 h 244"/>
              <a:gd name="T50" fmla="*/ 2147483647 w 279"/>
              <a:gd name="T51" fmla="*/ 2147483647 h 244"/>
              <a:gd name="T52" fmla="*/ 2147483647 w 279"/>
              <a:gd name="T53" fmla="*/ 2147483647 h 244"/>
              <a:gd name="T54" fmla="*/ 2147483647 w 279"/>
              <a:gd name="T55" fmla="*/ 2147483647 h 244"/>
              <a:gd name="T56" fmla="*/ 2147483647 w 279"/>
              <a:gd name="T57" fmla="*/ 2147483647 h 244"/>
              <a:gd name="T58" fmla="*/ 2147483647 w 279"/>
              <a:gd name="T59" fmla="*/ 2147483647 h 244"/>
              <a:gd name="T60" fmla="*/ 2147483647 w 279"/>
              <a:gd name="T61" fmla="*/ 2147483647 h 244"/>
              <a:gd name="T62" fmla="*/ 2147483647 w 279"/>
              <a:gd name="T63" fmla="*/ 2147483647 h 244"/>
              <a:gd name="T64" fmla="*/ 2147483647 w 279"/>
              <a:gd name="T65" fmla="*/ 2147483647 h 244"/>
              <a:gd name="T66" fmla="*/ 2147483647 w 279"/>
              <a:gd name="T67" fmla="*/ 2147483647 h 244"/>
              <a:gd name="T68" fmla="*/ 2147483647 w 279"/>
              <a:gd name="T69" fmla="*/ 2147483647 h 244"/>
              <a:gd name="T70" fmla="*/ 2147483647 w 279"/>
              <a:gd name="T71" fmla="*/ 2147483647 h 244"/>
              <a:gd name="T72" fmla="*/ 2147483647 w 279"/>
              <a:gd name="T73" fmla="*/ 2147483647 h 244"/>
              <a:gd name="T74" fmla="*/ 2147483647 w 279"/>
              <a:gd name="T75" fmla="*/ 2147483647 h 244"/>
              <a:gd name="T76" fmla="*/ 2147483647 w 279"/>
              <a:gd name="T77" fmla="*/ 2147483647 h 244"/>
              <a:gd name="T78" fmla="*/ 2147483647 w 279"/>
              <a:gd name="T79" fmla="*/ 2147483647 h 244"/>
              <a:gd name="T80" fmla="*/ 2147483647 w 279"/>
              <a:gd name="T81" fmla="*/ 2147483647 h 244"/>
              <a:gd name="T82" fmla="*/ 2147483647 w 279"/>
              <a:gd name="T83" fmla="*/ 2147483647 h 244"/>
              <a:gd name="T84" fmla="*/ 2147483647 w 279"/>
              <a:gd name="T85" fmla="*/ 2147483647 h 244"/>
              <a:gd name="T86" fmla="*/ 2147483647 w 279"/>
              <a:gd name="T87" fmla="*/ 2147483647 h 244"/>
              <a:gd name="T88" fmla="*/ 2147483647 w 279"/>
              <a:gd name="T89" fmla="*/ 2147483647 h 244"/>
              <a:gd name="T90" fmla="*/ 2147483647 w 279"/>
              <a:gd name="T91" fmla="*/ 2147483647 h 244"/>
              <a:gd name="T92" fmla="*/ 2147483647 w 279"/>
              <a:gd name="T93" fmla="*/ 2147483647 h 244"/>
              <a:gd name="T94" fmla="*/ 2147483647 w 279"/>
              <a:gd name="T95" fmla="*/ 2147483647 h 244"/>
              <a:gd name="T96" fmla="*/ 2147483647 w 279"/>
              <a:gd name="T97" fmla="*/ 2147483647 h 244"/>
              <a:gd name="T98" fmla="*/ 0 w 279"/>
              <a:gd name="T99" fmla="*/ 2147483647 h 24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79"/>
              <a:gd name="T151" fmla="*/ 0 h 244"/>
              <a:gd name="T152" fmla="*/ 279 w 279"/>
              <a:gd name="T153" fmla="*/ 244 h 244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79" h="244">
                <a:moveTo>
                  <a:pt x="0" y="243"/>
                </a:moveTo>
                <a:lnTo>
                  <a:pt x="148" y="1"/>
                </a:lnTo>
                <a:lnTo>
                  <a:pt x="160" y="0"/>
                </a:lnTo>
                <a:lnTo>
                  <a:pt x="167" y="3"/>
                </a:lnTo>
                <a:lnTo>
                  <a:pt x="168" y="6"/>
                </a:lnTo>
                <a:lnTo>
                  <a:pt x="173" y="5"/>
                </a:lnTo>
                <a:lnTo>
                  <a:pt x="177" y="9"/>
                </a:lnTo>
                <a:lnTo>
                  <a:pt x="182" y="7"/>
                </a:lnTo>
                <a:lnTo>
                  <a:pt x="184" y="12"/>
                </a:lnTo>
                <a:lnTo>
                  <a:pt x="190" y="13"/>
                </a:lnTo>
                <a:lnTo>
                  <a:pt x="196" y="14"/>
                </a:lnTo>
                <a:lnTo>
                  <a:pt x="201" y="15"/>
                </a:lnTo>
                <a:lnTo>
                  <a:pt x="205" y="19"/>
                </a:lnTo>
                <a:lnTo>
                  <a:pt x="210" y="20"/>
                </a:lnTo>
                <a:lnTo>
                  <a:pt x="215" y="23"/>
                </a:lnTo>
                <a:lnTo>
                  <a:pt x="222" y="25"/>
                </a:lnTo>
                <a:lnTo>
                  <a:pt x="226" y="29"/>
                </a:lnTo>
                <a:lnTo>
                  <a:pt x="229" y="32"/>
                </a:lnTo>
                <a:lnTo>
                  <a:pt x="231" y="36"/>
                </a:lnTo>
                <a:lnTo>
                  <a:pt x="235" y="39"/>
                </a:lnTo>
                <a:lnTo>
                  <a:pt x="238" y="45"/>
                </a:lnTo>
                <a:lnTo>
                  <a:pt x="242" y="46"/>
                </a:lnTo>
                <a:lnTo>
                  <a:pt x="248" y="55"/>
                </a:lnTo>
                <a:lnTo>
                  <a:pt x="249" y="58"/>
                </a:lnTo>
                <a:lnTo>
                  <a:pt x="255" y="63"/>
                </a:lnTo>
                <a:lnTo>
                  <a:pt x="256" y="67"/>
                </a:lnTo>
                <a:lnTo>
                  <a:pt x="261" y="71"/>
                </a:lnTo>
                <a:lnTo>
                  <a:pt x="261" y="75"/>
                </a:lnTo>
                <a:lnTo>
                  <a:pt x="264" y="81"/>
                </a:lnTo>
                <a:lnTo>
                  <a:pt x="264" y="86"/>
                </a:lnTo>
                <a:lnTo>
                  <a:pt x="266" y="90"/>
                </a:lnTo>
                <a:lnTo>
                  <a:pt x="266" y="95"/>
                </a:lnTo>
                <a:lnTo>
                  <a:pt x="268" y="99"/>
                </a:lnTo>
                <a:lnTo>
                  <a:pt x="267" y="103"/>
                </a:lnTo>
                <a:lnTo>
                  <a:pt x="268" y="109"/>
                </a:lnTo>
                <a:lnTo>
                  <a:pt x="269" y="113"/>
                </a:lnTo>
                <a:lnTo>
                  <a:pt x="273" y="119"/>
                </a:lnTo>
                <a:lnTo>
                  <a:pt x="274" y="124"/>
                </a:lnTo>
                <a:lnTo>
                  <a:pt x="275" y="128"/>
                </a:lnTo>
                <a:lnTo>
                  <a:pt x="276" y="134"/>
                </a:lnTo>
                <a:lnTo>
                  <a:pt x="277" y="138"/>
                </a:lnTo>
                <a:lnTo>
                  <a:pt x="277" y="143"/>
                </a:lnTo>
                <a:lnTo>
                  <a:pt x="277" y="147"/>
                </a:lnTo>
                <a:lnTo>
                  <a:pt x="274" y="153"/>
                </a:lnTo>
                <a:lnTo>
                  <a:pt x="276" y="156"/>
                </a:lnTo>
                <a:lnTo>
                  <a:pt x="277" y="162"/>
                </a:lnTo>
                <a:lnTo>
                  <a:pt x="278" y="167"/>
                </a:lnTo>
                <a:lnTo>
                  <a:pt x="275" y="172"/>
                </a:lnTo>
                <a:lnTo>
                  <a:pt x="271" y="181"/>
                </a:lnTo>
                <a:lnTo>
                  <a:pt x="0" y="243"/>
                </a:lnTo>
              </a:path>
            </a:pathLst>
          </a:custGeom>
          <a:noFill/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3" name="Arc 19"/>
          <p:cNvSpPr>
            <a:spLocks/>
          </p:cNvSpPr>
          <p:nvPr/>
        </p:nvSpPr>
        <p:spPr bwMode="auto">
          <a:xfrm rot="720000">
            <a:off x="2257425" y="4276725"/>
            <a:ext cx="211138" cy="236538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79876122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4" name="Line 20"/>
          <p:cNvSpPr>
            <a:spLocks noChangeShapeType="1"/>
          </p:cNvSpPr>
          <p:nvPr/>
        </p:nvSpPr>
        <p:spPr bwMode="auto">
          <a:xfrm flipH="1">
            <a:off x="2057401" y="4095751"/>
            <a:ext cx="303213" cy="550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5" name="Oval 21"/>
          <p:cNvSpPr>
            <a:spLocks noChangeArrowheads="1"/>
          </p:cNvSpPr>
          <p:nvPr/>
        </p:nvSpPr>
        <p:spPr bwMode="auto">
          <a:xfrm rot="-1860000">
            <a:off x="2335213" y="4281489"/>
            <a:ext cx="100012" cy="1984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6" name="Line 22"/>
          <p:cNvSpPr>
            <a:spLocks noChangeShapeType="1"/>
          </p:cNvSpPr>
          <p:nvPr/>
        </p:nvSpPr>
        <p:spPr bwMode="auto">
          <a:xfrm flipV="1">
            <a:off x="2057401" y="4502151"/>
            <a:ext cx="555625" cy="144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7" name="Freeform 23"/>
          <p:cNvSpPr>
            <a:spLocks/>
          </p:cNvSpPr>
          <p:nvPr/>
        </p:nvSpPr>
        <p:spPr bwMode="auto">
          <a:xfrm>
            <a:off x="5308600" y="6089650"/>
            <a:ext cx="393700" cy="387350"/>
          </a:xfrm>
          <a:custGeom>
            <a:avLst/>
            <a:gdLst>
              <a:gd name="T0" fmla="*/ 0 w 279"/>
              <a:gd name="T1" fmla="*/ 2147483647 h 244"/>
              <a:gd name="T2" fmla="*/ 2147483647 w 279"/>
              <a:gd name="T3" fmla="*/ 2147483647 h 244"/>
              <a:gd name="T4" fmla="*/ 2147483647 w 279"/>
              <a:gd name="T5" fmla="*/ 0 h 244"/>
              <a:gd name="T6" fmla="*/ 2147483647 w 279"/>
              <a:gd name="T7" fmla="*/ 2147483647 h 244"/>
              <a:gd name="T8" fmla="*/ 2147483647 w 279"/>
              <a:gd name="T9" fmla="*/ 2147483647 h 244"/>
              <a:gd name="T10" fmla="*/ 2147483647 w 279"/>
              <a:gd name="T11" fmla="*/ 2147483647 h 244"/>
              <a:gd name="T12" fmla="*/ 2147483647 w 279"/>
              <a:gd name="T13" fmla="*/ 2147483647 h 244"/>
              <a:gd name="T14" fmla="*/ 2147483647 w 279"/>
              <a:gd name="T15" fmla="*/ 2147483647 h 244"/>
              <a:gd name="T16" fmla="*/ 2147483647 w 279"/>
              <a:gd name="T17" fmla="*/ 2147483647 h 244"/>
              <a:gd name="T18" fmla="*/ 2147483647 w 279"/>
              <a:gd name="T19" fmla="*/ 2147483647 h 244"/>
              <a:gd name="T20" fmla="*/ 2147483647 w 279"/>
              <a:gd name="T21" fmla="*/ 2147483647 h 244"/>
              <a:gd name="T22" fmla="*/ 2147483647 w 279"/>
              <a:gd name="T23" fmla="*/ 2147483647 h 244"/>
              <a:gd name="T24" fmla="*/ 2147483647 w 279"/>
              <a:gd name="T25" fmla="*/ 2147483647 h 244"/>
              <a:gd name="T26" fmla="*/ 2147483647 w 279"/>
              <a:gd name="T27" fmla="*/ 2147483647 h 244"/>
              <a:gd name="T28" fmla="*/ 2147483647 w 279"/>
              <a:gd name="T29" fmla="*/ 2147483647 h 244"/>
              <a:gd name="T30" fmla="*/ 2147483647 w 279"/>
              <a:gd name="T31" fmla="*/ 2147483647 h 244"/>
              <a:gd name="T32" fmla="*/ 2147483647 w 279"/>
              <a:gd name="T33" fmla="*/ 2147483647 h 244"/>
              <a:gd name="T34" fmla="*/ 2147483647 w 279"/>
              <a:gd name="T35" fmla="*/ 2147483647 h 244"/>
              <a:gd name="T36" fmla="*/ 2147483647 w 279"/>
              <a:gd name="T37" fmla="*/ 2147483647 h 244"/>
              <a:gd name="T38" fmla="*/ 2147483647 w 279"/>
              <a:gd name="T39" fmla="*/ 2147483647 h 244"/>
              <a:gd name="T40" fmla="*/ 2147483647 w 279"/>
              <a:gd name="T41" fmla="*/ 2147483647 h 244"/>
              <a:gd name="T42" fmla="*/ 2147483647 w 279"/>
              <a:gd name="T43" fmla="*/ 2147483647 h 244"/>
              <a:gd name="T44" fmla="*/ 2147483647 w 279"/>
              <a:gd name="T45" fmla="*/ 2147483647 h 244"/>
              <a:gd name="T46" fmla="*/ 2147483647 w 279"/>
              <a:gd name="T47" fmla="*/ 2147483647 h 244"/>
              <a:gd name="T48" fmla="*/ 2147483647 w 279"/>
              <a:gd name="T49" fmla="*/ 2147483647 h 244"/>
              <a:gd name="T50" fmla="*/ 2147483647 w 279"/>
              <a:gd name="T51" fmla="*/ 2147483647 h 244"/>
              <a:gd name="T52" fmla="*/ 2147483647 w 279"/>
              <a:gd name="T53" fmla="*/ 2147483647 h 244"/>
              <a:gd name="T54" fmla="*/ 2147483647 w 279"/>
              <a:gd name="T55" fmla="*/ 2147483647 h 244"/>
              <a:gd name="T56" fmla="*/ 2147483647 w 279"/>
              <a:gd name="T57" fmla="*/ 2147483647 h 244"/>
              <a:gd name="T58" fmla="*/ 2147483647 w 279"/>
              <a:gd name="T59" fmla="*/ 2147483647 h 244"/>
              <a:gd name="T60" fmla="*/ 2147483647 w 279"/>
              <a:gd name="T61" fmla="*/ 2147483647 h 244"/>
              <a:gd name="T62" fmla="*/ 2147483647 w 279"/>
              <a:gd name="T63" fmla="*/ 2147483647 h 244"/>
              <a:gd name="T64" fmla="*/ 2147483647 w 279"/>
              <a:gd name="T65" fmla="*/ 2147483647 h 244"/>
              <a:gd name="T66" fmla="*/ 2147483647 w 279"/>
              <a:gd name="T67" fmla="*/ 2147483647 h 244"/>
              <a:gd name="T68" fmla="*/ 2147483647 w 279"/>
              <a:gd name="T69" fmla="*/ 2147483647 h 244"/>
              <a:gd name="T70" fmla="*/ 2147483647 w 279"/>
              <a:gd name="T71" fmla="*/ 2147483647 h 244"/>
              <a:gd name="T72" fmla="*/ 2147483647 w 279"/>
              <a:gd name="T73" fmla="*/ 2147483647 h 244"/>
              <a:gd name="T74" fmla="*/ 2147483647 w 279"/>
              <a:gd name="T75" fmla="*/ 2147483647 h 244"/>
              <a:gd name="T76" fmla="*/ 2147483647 w 279"/>
              <a:gd name="T77" fmla="*/ 2147483647 h 244"/>
              <a:gd name="T78" fmla="*/ 2147483647 w 279"/>
              <a:gd name="T79" fmla="*/ 2147483647 h 244"/>
              <a:gd name="T80" fmla="*/ 2147483647 w 279"/>
              <a:gd name="T81" fmla="*/ 2147483647 h 244"/>
              <a:gd name="T82" fmla="*/ 2147483647 w 279"/>
              <a:gd name="T83" fmla="*/ 2147483647 h 244"/>
              <a:gd name="T84" fmla="*/ 2147483647 w 279"/>
              <a:gd name="T85" fmla="*/ 2147483647 h 244"/>
              <a:gd name="T86" fmla="*/ 2147483647 w 279"/>
              <a:gd name="T87" fmla="*/ 2147483647 h 244"/>
              <a:gd name="T88" fmla="*/ 2147483647 w 279"/>
              <a:gd name="T89" fmla="*/ 2147483647 h 244"/>
              <a:gd name="T90" fmla="*/ 2147483647 w 279"/>
              <a:gd name="T91" fmla="*/ 2147483647 h 244"/>
              <a:gd name="T92" fmla="*/ 2147483647 w 279"/>
              <a:gd name="T93" fmla="*/ 2147483647 h 244"/>
              <a:gd name="T94" fmla="*/ 2147483647 w 279"/>
              <a:gd name="T95" fmla="*/ 2147483647 h 244"/>
              <a:gd name="T96" fmla="*/ 2147483647 w 279"/>
              <a:gd name="T97" fmla="*/ 2147483647 h 244"/>
              <a:gd name="T98" fmla="*/ 0 w 279"/>
              <a:gd name="T99" fmla="*/ 2147483647 h 24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79"/>
              <a:gd name="T151" fmla="*/ 0 h 244"/>
              <a:gd name="T152" fmla="*/ 279 w 279"/>
              <a:gd name="T153" fmla="*/ 244 h 244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79" h="244">
                <a:moveTo>
                  <a:pt x="0" y="243"/>
                </a:moveTo>
                <a:lnTo>
                  <a:pt x="148" y="1"/>
                </a:lnTo>
                <a:lnTo>
                  <a:pt x="160" y="0"/>
                </a:lnTo>
                <a:lnTo>
                  <a:pt x="167" y="3"/>
                </a:lnTo>
                <a:lnTo>
                  <a:pt x="168" y="6"/>
                </a:lnTo>
                <a:lnTo>
                  <a:pt x="173" y="5"/>
                </a:lnTo>
                <a:lnTo>
                  <a:pt x="177" y="9"/>
                </a:lnTo>
                <a:lnTo>
                  <a:pt x="182" y="7"/>
                </a:lnTo>
                <a:lnTo>
                  <a:pt x="184" y="12"/>
                </a:lnTo>
                <a:lnTo>
                  <a:pt x="190" y="13"/>
                </a:lnTo>
                <a:lnTo>
                  <a:pt x="196" y="14"/>
                </a:lnTo>
                <a:lnTo>
                  <a:pt x="201" y="15"/>
                </a:lnTo>
                <a:lnTo>
                  <a:pt x="205" y="19"/>
                </a:lnTo>
                <a:lnTo>
                  <a:pt x="210" y="20"/>
                </a:lnTo>
                <a:lnTo>
                  <a:pt x="215" y="23"/>
                </a:lnTo>
                <a:lnTo>
                  <a:pt x="222" y="25"/>
                </a:lnTo>
                <a:lnTo>
                  <a:pt x="226" y="29"/>
                </a:lnTo>
                <a:lnTo>
                  <a:pt x="229" y="32"/>
                </a:lnTo>
                <a:lnTo>
                  <a:pt x="231" y="36"/>
                </a:lnTo>
                <a:lnTo>
                  <a:pt x="235" y="39"/>
                </a:lnTo>
                <a:lnTo>
                  <a:pt x="238" y="45"/>
                </a:lnTo>
                <a:lnTo>
                  <a:pt x="242" y="46"/>
                </a:lnTo>
                <a:lnTo>
                  <a:pt x="248" y="55"/>
                </a:lnTo>
                <a:lnTo>
                  <a:pt x="249" y="58"/>
                </a:lnTo>
                <a:lnTo>
                  <a:pt x="255" y="63"/>
                </a:lnTo>
                <a:lnTo>
                  <a:pt x="256" y="67"/>
                </a:lnTo>
                <a:lnTo>
                  <a:pt x="261" y="71"/>
                </a:lnTo>
                <a:lnTo>
                  <a:pt x="261" y="75"/>
                </a:lnTo>
                <a:lnTo>
                  <a:pt x="264" y="81"/>
                </a:lnTo>
                <a:lnTo>
                  <a:pt x="264" y="86"/>
                </a:lnTo>
                <a:lnTo>
                  <a:pt x="266" y="90"/>
                </a:lnTo>
                <a:lnTo>
                  <a:pt x="266" y="95"/>
                </a:lnTo>
                <a:lnTo>
                  <a:pt x="268" y="99"/>
                </a:lnTo>
                <a:lnTo>
                  <a:pt x="267" y="103"/>
                </a:lnTo>
                <a:lnTo>
                  <a:pt x="268" y="109"/>
                </a:lnTo>
                <a:lnTo>
                  <a:pt x="269" y="113"/>
                </a:lnTo>
                <a:lnTo>
                  <a:pt x="273" y="119"/>
                </a:lnTo>
                <a:lnTo>
                  <a:pt x="274" y="124"/>
                </a:lnTo>
                <a:lnTo>
                  <a:pt x="275" y="128"/>
                </a:lnTo>
                <a:lnTo>
                  <a:pt x="276" y="134"/>
                </a:lnTo>
                <a:lnTo>
                  <a:pt x="277" y="138"/>
                </a:lnTo>
                <a:lnTo>
                  <a:pt x="277" y="143"/>
                </a:lnTo>
                <a:lnTo>
                  <a:pt x="277" y="147"/>
                </a:lnTo>
                <a:lnTo>
                  <a:pt x="274" y="153"/>
                </a:lnTo>
                <a:lnTo>
                  <a:pt x="276" y="156"/>
                </a:lnTo>
                <a:lnTo>
                  <a:pt x="277" y="162"/>
                </a:lnTo>
                <a:lnTo>
                  <a:pt x="278" y="167"/>
                </a:lnTo>
                <a:lnTo>
                  <a:pt x="275" y="172"/>
                </a:lnTo>
                <a:lnTo>
                  <a:pt x="271" y="181"/>
                </a:lnTo>
                <a:lnTo>
                  <a:pt x="0" y="243"/>
                </a:lnTo>
              </a:path>
            </a:pathLst>
          </a:custGeom>
          <a:noFill/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8" name="Arc 24"/>
          <p:cNvSpPr>
            <a:spLocks/>
          </p:cNvSpPr>
          <p:nvPr/>
        </p:nvSpPr>
        <p:spPr bwMode="auto">
          <a:xfrm rot="720000">
            <a:off x="5508625" y="6105525"/>
            <a:ext cx="211138" cy="236538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79876122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9" name="Line 25"/>
          <p:cNvSpPr>
            <a:spLocks noChangeShapeType="1"/>
          </p:cNvSpPr>
          <p:nvPr/>
        </p:nvSpPr>
        <p:spPr bwMode="auto">
          <a:xfrm flipH="1">
            <a:off x="5308601" y="5924551"/>
            <a:ext cx="303213" cy="550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0" name="Oval 26"/>
          <p:cNvSpPr>
            <a:spLocks noChangeArrowheads="1"/>
          </p:cNvSpPr>
          <p:nvPr/>
        </p:nvSpPr>
        <p:spPr bwMode="auto">
          <a:xfrm rot="-1860000">
            <a:off x="5586413" y="6110289"/>
            <a:ext cx="100012" cy="1984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1" name="Line 27"/>
          <p:cNvSpPr>
            <a:spLocks noChangeShapeType="1"/>
          </p:cNvSpPr>
          <p:nvPr/>
        </p:nvSpPr>
        <p:spPr bwMode="auto">
          <a:xfrm flipV="1">
            <a:off x="5308601" y="6330951"/>
            <a:ext cx="555625" cy="144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2" name="Oval 33"/>
          <p:cNvSpPr>
            <a:spLocks noChangeArrowheads="1"/>
          </p:cNvSpPr>
          <p:nvPr/>
        </p:nvSpPr>
        <p:spPr bwMode="auto">
          <a:xfrm>
            <a:off x="5603875" y="5081588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3" name="Oval 34"/>
          <p:cNvSpPr>
            <a:spLocks noChangeArrowheads="1"/>
          </p:cNvSpPr>
          <p:nvPr/>
        </p:nvSpPr>
        <p:spPr bwMode="auto">
          <a:xfrm>
            <a:off x="3028950" y="3649663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Case: Parallel images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53200" y="914400"/>
            <a:ext cx="3810000" cy="52578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sz="2000"/>
              <a:t>Image planes of cameras are parallel to each other and to the baseline</a:t>
            </a:r>
          </a:p>
          <a:p>
            <a:pPr>
              <a:buFontTx/>
              <a:buChar char="•"/>
            </a:pPr>
            <a:r>
              <a:rPr lang="en-US" sz="2000"/>
              <a:t>Camera centers are at same height</a:t>
            </a:r>
          </a:p>
          <a:p>
            <a:pPr>
              <a:buFontTx/>
              <a:buChar char="•"/>
            </a:pPr>
            <a:r>
              <a:rPr lang="en-US" sz="2000"/>
              <a:t>Focal lengths are the same</a:t>
            </a:r>
          </a:p>
          <a:p>
            <a:pPr>
              <a:buFontTx/>
              <a:buChar char="•"/>
            </a:pPr>
            <a:r>
              <a:rPr lang="en-US" sz="2000"/>
              <a:t>Then, epipolar lines fall along the horizontal scan lines of the images</a:t>
            </a:r>
          </a:p>
          <a:p>
            <a:pPr>
              <a:buFontTx/>
              <a:buChar char="•"/>
            </a:pPr>
            <a:endParaRPr lang="en-US" sz="2000"/>
          </a:p>
        </p:txBody>
      </p:sp>
      <p:grpSp>
        <p:nvGrpSpPr>
          <p:cNvPr id="41988" name="Group 29"/>
          <p:cNvGrpSpPr>
            <a:grpSpLocks/>
          </p:cNvGrpSpPr>
          <p:nvPr/>
        </p:nvGrpSpPr>
        <p:grpSpPr bwMode="auto">
          <a:xfrm>
            <a:off x="2057400" y="957264"/>
            <a:ext cx="4495800" cy="5519737"/>
            <a:chOff x="336" y="603"/>
            <a:chExt cx="2832" cy="3477"/>
          </a:xfrm>
        </p:grpSpPr>
        <p:sp>
          <p:nvSpPr>
            <p:cNvPr id="41989" name="Freeform 4"/>
            <p:cNvSpPr>
              <a:spLocks/>
            </p:cNvSpPr>
            <p:nvPr/>
          </p:nvSpPr>
          <p:spPr bwMode="auto">
            <a:xfrm>
              <a:off x="2193" y="603"/>
              <a:ext cx="769" cy="529"/>
            </a:xfrm>
            <a:custGeom>
              <a:avLst/>
              <a:gdLst>
                <a:gd name="T0" fmla="*/ 42 w 865"/>
                <a:gd name="T1" fmla="*/ 0 h 529"/>
                <a:gd name="T2" fmla="*/ 36 w 865"/>
                <a:gd name="T3" fmla="*/ 24 h 529"/>
                <a:gd name="T4" fmla="*/ 36 w 865"/>
                <a:gd name="T5" fmla="*/ 48 h 529"/>
                <a:gd name="T6" fmla="*/ 24 w 865"/>
                <a:gd name="T7" fmla="*/ 72 h 529"/>
                <a:gd name="T8" fmla="*/ 18 w 865"/>
                <a:gd name="T9" fmla="*/ 96 h 529"/>
                <a:gd name="T10" fmla="*/ 18 w 865"/>
                <a:gd name="T11" fmla="*/ 120 h 529"/>
                <a:gd name="T12" fmla="*/ 18 w 865"/>
                <a:gd name="T13" fmla="*/ 144 h 529"/>
                <a:gd name="T14" fmla="*/ 12 w 865"/>
                <a:gd name="T15" fmla="*/ 168 h 529"/>
                <a:gd name="T16" fmla="*/ 6 w 865"/>
                <a:gd name="T17" fmla="*/ 192 h 529"/>
                <a:gd name="T18" fmla="*/ 0 w 865"/>
                <a:gd name="T19" fmla="*/ 216 h 529"/>
                <a:gd name="T20" fmla="*/ 0 w 865"/>
                <a:gd name="T21" fmla="*/ 240 h 529"/>
                <a:gd name="T22" fmla="*/ 0 w 865"/>
                <a:gd name="T23" fmla="*/ 264 h 529"/>
                <a:gd name="T24" fmla="*/ 6 w 865"/>
                <a:gd name="T25" fmla="*/ 288 h 529"/>
                <a:gd name="T26" fmla="*/ 6 w 865"/>
                <a:gd name="T27" fmla="*/ 312 h 529"/>
                <a:gd name="T28" fmla="*/ 12 w 865"/>
                <a:gd name="T29" fmla="*/ 336 h 529"/>
                <a:gd name="T30" fmla="*/ 12 w 865"/>
                <a:gd name="T31" fmla="*/ 360 h 529"/>
                <a:gd name="T32" fmla="*/ 18 w 865"/>
                <a:gd name="T33" fmla="*/ 384 h 529"/>
                <a:gd name="T34" fmla="*/ 18 w 865"/>
                <a:gd name="T35" fmla="*/ 408 h 529"/>
                <a:gd name="T36" fmla="*/ 24 w 865"/>
                <a:gd name="T37" fmla="*/ 432 h 529"/>
                <a:gd name="T38" fmla="*/ 29 w 865"/>
                <a:gd name="T39" fmla="*/ 456 h 529"/>
                <a:gd name="T40" fmla="*/ 421 w 865"/>
                <a:gd name="T41" fmla="*/ 528 h 529"/>
                <a:gd name="T42" fmla="*/ 397 w 865"/>
                <a:gd name="T43" fmla="*/ 480 h 529"/>
                <a:gd name="T44" fmla="*/ 391 w 865"/>
                <a:gd name="T45" fmla="*/ 456 h 529"/>
                <a:gd name="T46" fmla="*/ 385 w 865"/>
                <a:gd name="T47" fmla="*/ 420 h 529"/>
                <a:gd name="T48" fmla="*/ 380 w 865"/>
                <a:gd name="T49" fmla="*/ 396 h 529"/>
                <a:gd name="T50" fmla="*/ 373 w 865"/>
                <a:gd name="T51" fmla="*/ 372 h 529"/>
                <a:gd name="T52" fmla="*/ 367 w 865"/>
                <a:gd name="T53" fmla="*/ 348 h 529"/>
                <a:gd name="T54" fmla="*/ 367 w 865"/>
                <a:gd name="T55" fmla="*/ 324 h 529"/>
                <a:gd name="T56" fmla="*/ 367 w 865"/>
                <a:gd name="T57" fmla="*/ 288 h 529"/>
                <a:gd name="T58" fmla="*/ 367 w 865"/>
                <a:gd name="T59" fmla="*/ 264 h 529"/>
                <a:gd name="T60" fmla="*/ 367 w 865"/>
                <a:gd name="T61" fmla="*/ 240 h 529"/>
                <a:gd name="T62" fmla="*/ 380 w 865"/>
                <a:gd name="T63" fmla="*/ 216 h 529"/>
                <a:gd name="T64" fmla="*/ 380 w 865"/>
                <a:gd name="T65" fmla="*/ 192 h 529"/>
                <a:gd name="T66" fmla="*/ 385 w 865"/>
                <a:gd name="T67" fmla="*/ 168 h 529"/>
                <a:gd name="T68" fmla="*/ 397 w 865"/>
                <a:gd name="T69" fmla="*/ 156 h 529"/>
                <a:gd name="T70" fmla="*/ 397 w 865"/>
                <a:gd name="T71" fmla="*/ 132 h 529"/>
                <a:gd name="T72" fmla="*/ 409 w 865"/>
                <a:gd name="T73" fmla="*/ 108 h 529"/>
                <a:gd name="T74" fmla="*/ 421 w 865"/>
                <a:gd name="T75" fmla="*/ 96 h 529"/>
                <a:gd name="T76" fmla="*/ 427 w 865"/>
                <a:gd name="T77" fmla="*/ 72 h 529"/>
                <a:gd name="T78" fmla="*/ 42 w 865"/>
                <a:gd name="T79" fmla="*/ 0 h 52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65"/>
                <a:gd name="T121" fmla="*/ 0 h 529"/>
                <a:gd name="T122" fmla="*/ 865 w 865"/>
                <a:gd name="T123" fmla="*/ 529 h 52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65" h="529">
                  <a:moveTo>
                    <a:pt x="84" y="0"/>
                  </a:moveTo>
                  <a:lnTo>
                    <a:pt x="72" y="24"/>
                  </a:lnTo>
                  <a:lnTo>
                    <a:pt x="72" y="48"/>
                  </a:lnTo>
                  <a:lnTo>
                    <a:pt x="48" y="72"/>
                  </a:lnTo>
                  <a:lnTo>
                    <a:pt x="36" y="96"/>
                  </a:lnTo>
                  <a:lnTo>
                    <a:pt x="36" y="120"/>
                  </a:lnTo>
                  <a:lnTo>
                    <a:pt x="36" y="144"/>
                  </a:lnTo>
                  <a:lnTo>
                    <a:pt x="24" y="168"/>
                  </a:lnTo>
                  <a:lnTo>
                    <a:pt x="12" y="192"/>
                  </a:lnTo>
                  <a:lnTo>
                    <a:pt x="0" y="216"/>
                  </a:lnTo>
                  <a:lnTo>
                    <a:pt x="0" y="240"/>
                  </a:lnTo>
                  <a:lnTo>
                    <a:pt x="0" y="264"/>
                  </a:lnTo>
                  <a:lnTo>
                    <a:pt x="12" y="288"/>
                  </a:lnTo>
                  <a:lnTo>
                    <a:pt x="12" y="312"/>
                  </a:lnTo>
                  <a:lnTo>
                    <a:pt x="24" y="336"/>
                  </a:lnTo>
                  <a:lnTo>
                    <a:pt x="24" y="360"/>
                  </a:lnTo>
                  <a:lnTo>
                    <a:pt x="36" y="384"/>
                  </a:lnTo>
                  <a:lnTo>
                    <a:pt x="36" y="408"/>
                  </a:lnTo>
                  <a:lnTo>
                    <a:pt x="48" y="432"/>
                  </a:lnTo>
                  <a:lnTo>
                    <a:pt x="60" y="456"/>
                  </a:lnTo>
                  <a:lnTo>
                    <a:pt x="852" y="528"/>
                  </a:lnTo>
                  <a:lnTo>
                    <a:pt x="804" y="480"/>
                  </a:lnTo>
                  <a:lnTo>
                    <a:pt x="792" y="456"/>
                  </a:lnTo>
                  <a:lnTo>
                    <a:pt x="780" y="420"/>
                  </a:lnTo>
                  <a:lnTo>
                    <a:pt x="768" y="396"/>
                  </a:lnTo>
                  <a:lnTo>
                    <a:pt x="756" y="372"/>
                  </a:lnTo>
                  <a:lnTo>
                    <a:pt x="744" y="348"/>
                  </a:lnTo>
                  <a:lnTo>
                    <a:pt x="744" y="324"/>
                  </a:lnTo>
                  <a:lnTo>
                    <a:pt x="744" y="288"/>
                  </a:lnTo>
                  <a:lnTo>
                    <a:pt x="744" y="264"/>
                  </a:lnTo>
                  <a:lnTo>
                    <a:pt x="744" y="240"/>
                  </a:lnTo>
                  <a:lnTo>
                    <a:pt x="768" y="216"/>
                  </a:lnTo>
                  <a:lnTo>
                    <a:pt x="768" y="192"/>
                  </a:lnTo>
                  <a:lnTo>
                    <a:pt x="780" y="168"/>
                  </a:lnTo>
                  <a:lnTo>
                    <a:pt x="804" y="156"/>
                  </a:lnTo>
                  <a:lnTo>
                    <a:pt x="804" y="132"/>
                  </a:lnTo>
                  <a:lnTo>
                    <a:pt x="828" y="108"/>
                  </a:lnTo>
                  <a:lnTo>
                    <a:pt x="852" y="96"/>
                  </a:lnTo>
                  <a:lnTo>
                    <a:pt x="864" y="72"/>
                  </a:lnTo>
                  <a:lnTo>
                    <a:pt x="84" y="0"/>
                  </a:lnTo>
                </a:path>
              </a:pathLst>
            </a:custGeom>
            <a:gradFill rotWithShape="0">
              <a:gsLst>
                <a:gs pos="0">
                  <a:srgbClr val="012501"/>
                </a:gs>
                <a:gs pos="100000">
                  <a:srgbClr val="037C03"/>
                </a:gs>
              </a:gsLst>
              <a:lin ang="18900000" scaled="1"/>
            </a:gra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0" name="Line 5"/>
            <p:cNvSpPr>
              <a:spLocks noChangeShapeType="1"/>
            </p:cNvSpPr>
            <p:nvPr/>
          </p:nvSpPr>
          <p:spPr bwMode="auto">
            <a:xfrm>
              <a:off x="561" y="2715"/>
              <a:ext cx="2048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Freeform 6"/>
            <p:cNvSpPr>
              <a:spLocks/>
            </p:cNvSpPr>
            <p:nvPr/>
          </p:nvSpPr>
          <p:spPr bwMode="auto">
            <a:xfrm>
              <a:off x="966" y="768"/>
              <a:ext cx="1557" cy="1551"/>
            </a:xfrm>
            <a:custGeom>
              <a:avLst/>
              <a:gdLst>
                <a:gd name="T0" fmla="*/ 0 w 1557"/>
                <a:gd name="T1" fmla="*/ 1551 h 1551"/>
                <a:gd name="T2" fmla="*/ 1557 w 1557"/>
                <a:gd name="T3" fmla="*/ 0 h 1551"/>
                <a:gd name="T4" fmla="*/ 0 60000 65536"/>
                <a:gd name="T5" fmla="*/ 0 60000 65536"/>
                <a:gd name="T6" fmla="*/ 0 w 1557"/>
                <a:gd name="T7" fmla="*/ 0 h 1551"/>
                <a:gd name="T8" fmla="*/ 1557 w 1557"/>
                <a:gd name="T9" fmla="*/ 1551 h 15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57" h="1551">
                  <a:moveTo>
                    <a:pt x="0" y="1551"/>
                  </a:moveTo>
                  <a:lnTo>
                    <a:pt x="1557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2" name="Freeform 7"/>
            <p:cNvSpPr>
              <a:spLocks/>
            </p:cNvSpPr>
            <p:nvPr/>
          </p:nvSpPr>
          <p:spPr bwMode="auto">
            <a:xfrm>
              <a:off x="433" y="1569"/>
              <a:ext cx="769" cy="1261"/>
            </a:xfrm>
            <a:custGeom>
              <a:avLst/>
              <a:gdLst>
                <a:gd name="T0" fmla="*/ 0 w 865"/>
                <a:gd name="T1" fmla="*/ 828 h 1261"/>
                <a:gd name="T2" fmla="*/ 427 w 865"/>
                <a:gd name="T3" fmla="*/ 1260 h 1261"/>
                <a:gd name="T4" fmla="*/ 427 w 865"/>
                <a:gd name="T5" fmla="*/ 414 h 1261"/>
                <a:gd name="T6" fmla="*/ 0 w 865"/>
                <a:gd name="T7" fmla="*/ 0 h 1261"/>
                <a:gd name="T8" fmla="*/ 0 w 865"/>
                <a:gd name="T9" fmla="*/ 828 h 12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5"/>
                <a:gd name="T16" fmla="*/ 0 h 1261"/>
                <a:gd name="T17" fmla="*/ 865 w 865"/>
                <a:gd name="T18" fmla="*/ 1261 h 12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5" h="1261">
                  <a:moveTo>
                    <a:pt x="0" y="828"/>
                  </a:moveTo>
                  <a:lnTo>
                    <a:pt x="864" y="1260"/>
                  </a:lnTo>
                  <a:lnTo>
                    <a:pt x="864" y="414"/>
                  </a:lnTo>
                  <a:lnTo>
                    <a:pt x="0" y="0"/>
                  </a:lnTo>
                  <a:lnTo>
                    <a:pt x="0" y="828"/>
                  </a:lnTo>
                </a:path>
              </a:pathLst>
            </a:custGeom>
            <a:solidFill>
              <a:srgbClr val="FEBF02"/>
            </a:solidFill>
            <a:ln w="127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3" name="Freeform 8"/>
            <p:cNvSpPr>
              <a:spLocks/>
            </p:cNvSpPr>
            <p:nvPr/>
          </p:nvSpPr>
          <p:spPr bwMode="auto">
            <a:xfrm>
              <a:off x="2514" y="768"/>
              <a:ext cx="74" cy="2463"/>
            </a:xfrm>
            <a:custGeom>
              <a:avLst/>
              <a:gdLst>
                <a:gd name="T0" fmla="*/ 74 w 74"/>
                <a:gd name="T1" fmla="*/ 2463 h 2463"/>
                <a:gd name="T2" fmla="*/ 0 w 74"/>
                <a:gd name="T3" fmla="*/ 0 h 2463"/>
                <a:gd name="T4" fmla="*/ 0 60000 65536"/>
                <a:gd name="T5" fmla="*/ 0 60000 65536"/>
                <a:gd name="T6" fmla="*/ 0 w 74"/>
                <a:gd name="T7" fmla="*/ 0 h 2463"/>
                <a:gd name="T8" fmla="*/ 74 w 74"/>
                <a:gd name="T9" fmla="*/ 2463 h 24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" h="2463">
                  <a:moveTo>
                    <a:pt x="74" y="246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Freeform 9"/>
            <p:cNvSpPr>
              <a:spLocks/>
            </p:cNvSpPr>
            <p:nvPr/>
          </p:nvSpPr>
          <p:spPr bwMode="auto">
            <a:xfrm>
              <a:off x="2396" y="2651"/>
              <a:ext cx="769" cy="1261"/>
            </a:xfrm>
            <a:custGeom>
              <a:avLst/>
              <a:gdLst>
                <a:gd name="T0" fmla="*/ 0 w 865"/>
                <a:gd name="T1" fmla="*/ 828 h 1261"/>
                <a:gd name="T2" fmla="*/ 427 w 865"/>
                <a:gd name="T3" fmla="*/ 1260 h 1261"/>
                <a:gd name="T4" fmla="*/ 427 w 865"/>
                <a:gd name="T5" fmla="*/ 414 h 1261"/>
                <a:gd name="T6" fmla="*/ 0 w 865"/>
                <a:gd name="T7" fmla="*/ 0 h 1261"/>
                <a:gd name="T8" fmla="*/ 0 w 865"/>
                <a:gd name="T9" fmla="*/ 828 h 12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5"/>
                <a:gd name="T16" fmla="*/ 0 h 1261"/>
                <a:gd name="T17" fmla="*/ 865 w 865"/>
                <a:gd name="T18" fmla="*/ 1261 h 12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5" h="1261">
                  <a:moveTo>
                    <a:pt x="0" y="828"/>
                  </a:moveTo>
                  <a:lnTo>
                    <a:pt x="864" y="1260"/>
                  </a:lnTo>
                  <a:lnTo>
                    <a:pt x="864" y="414"/>
                  </a:lnTo>
                  <a:lnTo>
                    <a:pt x="0" y="0"/>
                  </a:lnTo>
                  <a:lnTo>
                    <a:pt x="0" y="828"/>
                  </a:lnTo>
                </a:path>
              </a:pathLst>
            </a:custGeom>
            <a:solidFill>
              <a:srgbClr val="FEBF02"/>
            </a:solidFill>
            <a:ln w="127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Line 10"/>
            <p:cNvSpPr>
              <a:spLocks noChangeShapeType="1"/>
            </p:cNvSpPr>
            <p:nvPr/>
          </p:nvSpPr>
          <p:spPr bwMode="auto">
            <a:xfrm flipV="1">
              <a:off x="561" y="2319"/>
              <a:ext cx="405" cy="3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Line 11"/>
            <p:cNvSpPr>
              <a:spLocks noChangeShapeType="1"/>
            </p:cNvSpPr>
            <p:nvPr/>
          </p:nvSpPr>
          <p:spPr bwMode="auto">
            <a:xfrm flipH="1" flipV="1">
              <a:off x="2588" y="3231"/>
              <a:ext cx="21" cy="6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Freeform 12"/>
            <p:cNvSpPr>
              <a:spLocks/>
            </p:cNvSpPr>
            <p:nvPr/>
          </p:nvSpPr>
          <p:spPr bwMode="auto">
            <a:xfrm>
              <a:off x="336" y="2684"/>
              <a:ext cx="248" cy="244"/>
            </a:xfrm>
            <a:custGeom>
              <a:avLst/>
              <a:gdLst>
                <a:gd name="T0" fmla="*/ 0 w 279"/>
                <a:gd name="T1" fmla="*/ 243 h 244"/>
                <a:gd name="T2" fmla="*/ 73 w 279"/>
                <a:gd name="T3" fmla="*/ 1 h 244"/>
                <a:gd name="T4" fmla="*/ 79 w 279"/>
                <a:gd name="T5" fmla="*/ 0 h 244"/>
                <a:gd name="T6" fmla="*/ 82 w 279"/>
                <a:gd name="T7" fmla="*/ 3 h 244"/>
                <a:gd name="T8" fmla="*/ 82 w 279"/>
                <a:gd name="T9" fmla="*/ 6 h 244"/>
                <a:gd name="T10" fmla="*/ 85 w 279"/>
                <a:gd name="T11" fmla="*/ 5 h 244"/>
                <a:gd name="T12" fmla="*/ 87 w 279"/>
                <a:gd name="T13" fmla="*/ 9 h 244"/>
                <a:gd name="T14" fmla="*/ 90 w 279"/>
                <a:gd name="T15" fmla="*/ 7 h 244"/>
                <a:gd name="T16" fmla="*/ 92 w 279"/>
                <a:gd name="T17" fmla="*/ 12 h 244"/>
                <a:gd name="T18" fmla="*/ 93 w 279"/>
                <a:gd name="T19" fmla="*/ 13 h 244"/>
                <a:gd name="T20" fmla="*/ 97 w 279"/>
                <a:gd name="T21" fmla="*/ 14 h 244"/>
                <a:gd name="T22" fmla="*/ 99 w 279"/>
                <a:gd name="T23" fmla="*/ 15 h 244"/>
                <a:gd name="T24" fmla="*/ 101 w 279"/>
                <a:gd name="T25" fmla="*/ 19 h 244"/>
                <a:gd name="T26" fmla="*/ 104 w 279"/>
                <a:gd name="T27" fmla="*/ 20 h 244"/>
                <a:gd name="T28" fmla="*/ 106 w 279"/>
                <a:gd name="T29" fmla="*/ 23 h 244"/>
                <a:gd name="T30" fmla="*/ 110 w 279"/>
                <a:gd name="T31" fmla="*/ 25 h 244"/>
                <a:gd name="T32" fmla="*/ 111 w 279"/>
                <a:gd name="T33" fmla="*/ 29 h 244"/>
                <a:gd name="T34" fmla="*/ 113 w 279"/>
                <a:gd name="T35" fmla="*/ 32 h 244"/>
                <a:gd name="T36" fmla="*/ 114 w 279"/>
                <a:gd name="T37" fmla="*/ 36 h 244"/>
                <a:gd name="T38" fmla="*/ 116 w 279"/>
                <a:gd name="T39" fmla="*/ 39 h 244"/>
                <a:gd name="T40" fmla="*/ 117 w 279"/>
                <a:gd name="T41" fmla="*/ 45 h 244"/>
                <a:gd name="T42" fmla="*/ 119 w 279"/>
                <a:gd name="T43" fmla="*/ 46 h 244"/>
                <a:gd name="T44" fmla="*/ 123 w 279"/>
                <a:gd name="T45" fmla="*/ 55 h 244"/>
                <a:gd name="T46" fmla="*/ 123 w 279"/>
                <a:gd name="T47" fmla="*/ 58 h 244"/>
                <a:gd name="T48" fmla="*/ 126 w 279"/>
                <a:gd name="T49" fmla="*/ 63 h 244"/>
                <a:gd name="T50" fmla="*/ 126 w 279"/>
                <a:gd name="T51" fmla="*/ 67 h 244"/>
                <a:gd name="T52" fmla="*/ 129 w 279"/>
                <a:gd name="T53" fmla="*/ 71 h 244"/>
                <a:gd name="T54" fmla="*/ 129 w 279"/>
                <a:gd name="T55" fmla="*/ 75 h 244"/>
                <a:gd name="T56" fmla="*/ 131 w 279"/>
                <a:gd name="T57" fmla="*/ 81 h 244"/>
                <a:gd name="T58" fmla="*/ 131 w 279"/>
                <a:gd name="T59" fmla="*/ 86 h 244"/>
                <a:gd name="T60" fmla="*/ 132 w 279"/>
                <a:gd name="T61" fmla="*/ 90 h 244"/>
                <a:gd name="T62" fmla="*/ 132 w 279"/>
                <a:gd name="T63" fmla="*/ 95 h 244"/>
                <a:gd name="T64" fmla="*/ 132 w 279"/>
                <a:gd name="T65" fmla="*/ 99 h 244"/>
                <a:gd name="T66" fmla="*/ 132 w 279"/>
                <a:gd name="T67" fmla="*/ 103 h 244"/>
                <a:gd name="T68" fmla="*/ 132 w 279"/>
                <a:gd name="T69" fmla="*/ 109 h 244"/>
                <a:gd name="T70" fmla="*/ 132 w 279"/>
                <a:gd name="T71" fmla="*/ 113 h 244"/>
                <a:gd name="T72" fmla="*/ 135 w 279"/>
                <a:gd name="T73" fmla="*/ 119 h 244"/>
                <a:gd name="T74" fmla="*/ 136 w 279"/>
                <a:gd name="T75" fmla="*/ 124 h 244"/>
                <a:gd name="T76" fmla="*/ 136 w 279"/>
                <a:gd name="T77" fmla="*/ 128 h 244"/>
                <a:gd name="T78" fmla="*/ 136 w 279"/>
                <a:gd name="T79" fmla="*/ 134 h 244"/>
                <a:gd name="T80" fmla="*/ 137 w 279"/>
                <a:gd name="T81" fmla="*/ 138 h 244"/>
                <a:gd name="T82" fmla="*/ 137 w 279"/>
                <a:gd name="T83" fmla="*/ 143 h 244"/>
                <a:gd name="T84" fmla="*/ 137 w 279"/>
                <a:gd name="T85" fmla="*/ 147 h 244"/>
                <a:gd name="T86" fmla="*/ 136 w 279"/>
                <a:gd name="T87" fmla="*/ 153 h 244"/>
                <a:gd name="T88" fmla="*/ 136 w 279"/>
                <a:gd name="T89" fmla="*/ 156 h 244"/>
                <a:gd name="T90" fmla="*/ 137 w 279"/>
                <a:gd name="T91" fmla="*/ 162 h 244"/>
                <a:gd name="T92" fmla="*/ 138 w 279"/>
                <a:gd name="T93" fmla="*/ 167 h 244"/>
                <a:gd name="T94" fmla="*/ 136 w 279"/>
                <a:gd name="T95" fmla="*/ 172 h 244"/>
                <a:gd name="T96" fmla="*/ 133 w 279"/>
                <a:gd name="T97" fmla="*/ 181 h 244"/>
                <a:gd name="T98" fmla="*/ 0 w 279"/>
                <a:gd name="T99" fmla="*/ 243 h 24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79"/>
                <a:gd name="T151" fmla="*/ 0 h 244"/>
                <a:gd name="T152" fmla="*/ 279 w 279"/>
                <a:gd name="T153" fmla="*/ 244 h 24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79" h="244">
                  <a:moveTo>
                    <a:pt x="0" y="243"/>
                  </a:moveTo>
                  <a:lnTo>
                    <a:pt x="148" y="1"/>
                  </a:lnTo>
                  <a:lnTo>
                    <a:pt x="160" y="0"/>
                  </a:lnTo>
                  <a:lnTo>
                    <a:pt x="167" y="3"/>
                  </a:lnTo>
                  <a:lnTo>
                    <a:pt x="168" y="6"/>
                  </a:lnTo>
                  <a:lnTo>
                    <a:pt x="173" y="5"/>
                  </a:lnTo>
                  <a:lnTo>
                    <a:pt x="177" y="9"/>
                  </a:lnTo>
                  <a:lnTo>
                    <a:pt x="182" y="7"/>
                  </a:lnTo>
                  <a:lnTo>
                    <a:pt x="184" y="12"/>
                  </a:lnTo>
                  <a:lnTo>
                    <a:pt x="190" y="13"/>
                  </a:lnTo>
                  <a:lnTo>
                    <a:pt x="196" y="14"/>
                  </a:lnTo>
                  <a:lnTo>
                    <a:pt x="201" y="15"/>
                  </a:lnTo>
                  <a:lnTo>
                    <a:pt x="205" y="19"/>
                  </a:lnTo>
                  <a:lnTo>
                    <a:pt x="210" y="20"/>
                  </a:lnTo>
                  <a:lnTo>
                    <a:pt x="215" y="23"/>
                  </a:lnTo>
                  <a:lnTo>
                    <a:pt x="222" y="25"/>
                  </a:lnTo>
                  <a:lnTo>
                    <a:pt x="226" y="29"/>
                  </a:lnTo>
                  <a:lnTo>
                    <a:pt x="229" y="32"/>
                  </a:lnTo>
                  <a:lnTo>
                    <a:pt x="231" y="36"/>
                  </a:lnTo>
                  <a:lnTo>
                    <a:pt x="235" y="39"/>
                  </a:lnTo>
                  <a:lnTo>
                    <a:pt x="238" y="45"/>
                  </a:lnTo>
                  <a:lnTo>
                    <a:pt x="242" y="46"/>
                  </a:lnTo>
                  <a:lnTo>
                    <a:pt x="248" y="55"/>
                  </a:lnTo>
                  <a:lnTo>
                    <a:pt x="249" y="58"/>
                  </a:lnTo>
                  <a:lnTo>
                    <a:pt x="255" y="63"/>
                  </a:lnTo>
                  <a:lnTo>
                    <a:pt x="256" y="67"/>
                  </a:lnTo>
                  <a:lnTo>
                    <a:pt x="261" y="71"/>
                  </a:lnTo>
                  <a:lnTo>
                    <a:pt x="261" y="75"/>
                  </a:lnTo>
                  <a:lnTo>
                    <a:pt x="264" y="81"/>
                  </a:lnTo>
                  <a:lnTo>
                    <a:pt x="264" y="86"/>
                  </a:lnTo>
                  <a:lnTo>
                    <a:pt x="266" y="90"/>
                  </a:lnTo>
                  <a:lnTo>
                    <a:pt x="266" y="95"/>
                  </a:lnTo>
                  <a:lnTo>
                    <a:pt x="268" y="99"/>
                  </a:lnTo>
                  <a:lnTo>
                    <a:pt x="267" y="103"/>
                  </a:lnTo>
                  <a:lnTo>
                    <a:pt x="268" y="109"/>
                  </a:lnTo>
                  <a:lnTo>
                    <a:pt x="269" y="113"/>
                  </a:lnTo>
                  <a:lnTo>
                    <a:pt x="273" y="119"/>
                  </a:lnTo>
                  <a:lnTo>
                    <a:pt x="274" y="124"/>
                  </a:lnTo>
                  <a:lnTo>
                    <a:pt x="275" y="128"/>
                  </a:lnTo>
                  <a:lnTo>
                    <a:pt x="276" y="134"/>
                  </a:lnTo>
                  <a:lnTo>
                    <a:pt x="277" y="138"/>
                  </a:lnTo>
                  <a:lnTo>
                    <a:pt x="277" y="143"/>
                  </a:lnTo>
                  <a:lnTo>
                    <a:pt x="277" y="147"/>
                  </a:lnTo>
                  <a:lnTo>
                    <a:pt x="274" y="153"/>
                  </a:lnTo>
                  <a:lnTo>
                    <a:pt x="276" y="156"/>
                  </a:lnTo>
                  <a:lnTo>
                    <a:pt x="277" y="162"/>
                  </a:lnTo>
                  <a:lnTo>
                    <a:pt x="278" y="167"/>
                  </a:lnTo>
                  <a:lnTo>
                    <a:pt x="275" y="172"/>
                  </a:lnTo>
                  <a:lnTo>
                    <a:pt x="271" y="181"/>
                  </a:lnTo>
                  <a:lnTo>
                    <a:pt x="0" y="243"/>
                  </a:lnTo>
                </a:path>
              </a:pathLst>
            </a:custGeom>
            <a:noFill/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8" name="Arc 13"/>
            <p:cNvSpPr>
              <a:spLocks/>
            </p:cNvSpPr>
            <p:nvPr/>
          </p:nvSpPr>
          <p:spPr bwMode="auto">
            <a:xfrm rot="720000">
              <a:off x="462" y="2694"/>
              <a:ext cx="133" cy="149"/>
            </a:xfrm>
            <a:custGeom>
              <a:avLst/>
              <a:gdLst>
                <a:gd name="T0" fmla="*/ 0 w 21745"/>
                <a:gd name="T1" fmla="*/ 0 h 21600"/>
                <a:gd name="T2" fmla="*/ 0 w 21745"/>
                <a:gd name="T3" fmla="*/ 0 h 21600"/>
                <a:gd name="T4" fmla="*/ 0 w 2174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45"/>
                <a:gd name="T10" fmla="*/ 0 h 21600"/>
                <a:gd name="T11" fmla="*/ 21745 w 2174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45" h="21600" fill="none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</a:path>
                <a:path w="21745" h="21600" stroke="0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  <a:lnTo>
                    <a:pt x="145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Line 14"/>
            <p:cNvSpPr>
              <a:spLocks noChangeShapeType="1"/>
            </p:cNvSpPr>
            <p:nvPr/>
          </p:nvSpPr>
          <p:spPr bwMode="auto">
            <a:xfrm flipH="1">
              <a:off x="336" y="2580"/>
              <a:ext cx="191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Oval 15"/>
            <p:cNvSpPr>
              <a:spLocks noChangeArrowheads="1"/>
            </p:cNvSpPr>
            <p:nvPr/>
          </p:nvSpPr>
          <p:spPr bwMode="auto">
            <a:xfrm rot="-1860000">
              <a:off x="511" y="2697"/>
              <a:ext cx="63" cy="1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Line 16"/>
            <p:cNvSpPr>
              <a:spLocks noChangeShapeType="1"/>
            </p:cNvSpPr>
            <p:nvPr/>
          </p:nvSpPr>
          <p:spPr bwMode="auto">
            <a:xfrm flipV="1">
              <a:off x="336" y="2836"/>
              <a:ext cx="35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Freeform 17"/>
            <p:cNvSpPr>
              <a:spLocks/>
            </p:cNvSpPr>
            <p:nvPr/>
          </p:nvSpPr>
          <p:spPr bwMode="auto">
            <a:xfrm>
              <a:off x="2384" y="3836"/>
              <a:ext cx="248" cy="244"/>
            </a:xfrm>
            <a:custGeom>
              <a:avLst/>
              <a:gdLst>
                <a:gd name="T0" fmla="*/ 0 w 279"/>
                <a:gd name="T1" fmla="*/ 243 h 244"/>
                <a:gd name="T2" fmla="*/ 73 w 279"/>
                <a:gd name="T3" fmla="*/ 1 h 244"/>
                <a:gd name="T4" fmla="*/ 79 w 279"/>
                <a:gd name="T5" fmla="*/ 0 h 244"/>
                <a:gd name="T6" fmla="*/ 82 w 279"/>
                <a:gd name="T7" fmla="*/ 3 h 244"/>
                <a:gd name="T8" fmla="*/ 82 w 279"/>
                <a:gd name="T9" fmla="*/ 6 h 244"/>
                <a:gd name="T10" fmla="*/ 85 w 279"/>
                <a:gd name="T11" fmla="*/ 5 h 244"/>
                <a:gd name="T12" fmla="*/ 87 w 279"/>
                <a:gd name="T13" fmla="*/ 9 h 244"/>
                <a:gd name="T14" fmla="*/ 90 w 279"/>
                <a:gd name="T15" fmla="*/ 7 h 244"/>
                <a:gd name="T16" fmla="*/ 92 w 279"/>
                <a:gd name="T17" fmla="*/ 12 h 244"/>
                <a:gd name="T18" fmla="*/ 93 w 279"/>
                <a:gd name="T19" fmla="*/ 13 h 244"/>
                <a:gd name="T20" fmla="*/ 97 w 279"/>
                <a:gd name="T21" fmla="*/ 14 h 244"/>
                <a:gd name="T22" fmla="*/ 99 w 279"/>
                <a:gd name="T23" fmla="*/ 15 h 244"/>
                <a:gd name="T24" fmla="*/ 101 w 279"/>
                <a:gd name="T25" fmla="*/ 19 h 244"/>
                <a:gd name="T26" fmla="*/ 104 w 279"/>
                <a:gd name="T27" fmla="*/ 20 h 244"/>
                <a:gd name="T28" fmla="*/ 106 w 279"/>
                <a:gd name="T29" fmla="*/ 23 h 244"/>
                <a:gd name="T30" fmla="*/ 110 w 279"/>
                <a:gd name="T31" fmla="*/ 25 h 244"/>
                <a:gd name="T32" fmla="*/ 111 w 279"/>
                <a:gd name="T33" fmla="*/ 29 h 244"/>
                <a:gd name="T34" fmla="*/ 113 w 279"/>
                <a:gd name="T35" fmla="*/ 32 h 244"/>
                <a:gd name="T36" fmla="*/ 114 w 279"/>
                <a:gd name="T37" fmla="*/ 36 h 244"/>
                <a:gd name="T38" fmla="*/ 116 w 279"/>
                <a:gd name="T39" fmla="*/ 39 h 244"/>
                <a:gd name="T40" fmla="*/ 117 w 279"/>
                <a:gd name="T41" fmla="*/ 45 h 244"/>
                <a:gd name="T42" fmla="*/ 119 w 279"/>
                <a:gd name="T43" fmla="*/ 46 h 244"/>
                <a:gd name="T44" fmla="*/ 123 w 279"/>
                <a:gd name="T45" fmla="*/ 55 h 244"/>
                <a:gd name="T46" fmla="*/ 123 w 279"/>
                <a:gd name="T47" fmla="*/ 58 h 244"/>
                <a:gd name="T48" fmla="*/ 126 w 279"/>
                <a:gd name="T49" fmla="*/ 63 h 244"/>
                <a:gd name="T50" fmla="*/ 126 w 279"/>
                <a:gd name="T51" fmla="*/ 67 h 244"/>
                <a:gd name="T52" fmla="*/ 129 w 279"/>
                <a:gd name="T53" fmla="*/ 71 h 244"/>
                <a:gd name="T54" fmla="*/ 129 w 279"/>
                <a:gd name="T55" fmla="*/ 75 h 244"/>
                <a:gd name="T56" fmla="*/ 131 w 279"/>
                <a:gd name="T57" fmla="*/ 81 h 244"/>
                <a:gd name="T58" fmla="*/ 131 w 279"/>
                <a:gd name="T59" fmla="*/ 86 h 244"/>
                <a:gd name="T60" fmla="*/ 132 w 279"/>
                <a:gd name="T61" fmla="*/ 90 h 244"/>
                <a:gd name="T62" fmla="*/ 132 w 279"/>
                <a:gd name="T63" fmla="*/ 95 h 244"/>
                <a:gd name="T64" fmla="*/ 132 w 279"/>
                <a:gd name="T65" fmla="*/ 99 h 244"/>
                <a:gd name="T66" fmla="*/ 132 w 279"/>
                <a:gd name="T67" fmla="*/ 103 h 244"/>
                <a:gd name="T68" fmla="*/ 132 w 279"/>
                <a:gd name="T69" fmla="*/ 109 h 244"/>
                <a:gd name="T70" fmla="*/ 132 w 279"/>
                <a:gd name="T71" fmla="*/ 113 h 244"/>
                <a:gd name="T72" fmla="*/ 135 w 279"/>
                <a:gd name="T73" fmla="*/ 119 h 244"/>
                <a:gd name="T74" fmla="*/ 136 w 279"/>
                <a:gd name="T75" fmla="*/ 124 h 244"/>
                <a:gd name="T76" fmla="*/ 136 w 279"/>
                <a:gd name="T77" fmla="*/ 128 h 244"/>
                <a:gd name="T78" fmla="*/ 136 w 279"/>
                <a:gd name="T79" fmla="*/ 134 h 244"/>
                <a:gd name="T80" fmla="*/ 137 w 279"/>
                <a:gd name="T81" fmla="*/ 138 h 244"/>
                <a:gd name="T82" fmla="*/ 137 w 279"/>
                <a:gd name="T83" fmla="*/ 143 h 244"/>
                <a:gd name="T84" fmla="*/ 137 w 279"/>
                <a:gd name="T85" fmla="*/ 147 h 244"/>
                <a:gd name="T86" fmla="*/ 136 w 279"/>
                <a:gd name="T87" fmla="*/ 153 h 244"/>
                <a:gd name="T88" fmla="*/ 136 w 279"/>
                <a:gd name="T89" fmla="*/ 156 h 244"/>
                <a:gd name="T90" fmla="*/ 137 w 279"/>
                <a:gd name="T91" fmla="*/ 162 h 244"/>
                <a:gd name="T92" fmla="*/ 138 w 279"/>
                <a:gd name="T93" fmla="*/ 167 h 244"/>
                <a:gd name="T94" fmla="*/ 136 w 279"/>
                <a:gd name="T95" fmla="*/ 172 h 244"/>
                <a:gd name="T96" fmla="*/ 133 w 279"/>
                <a:gd name="T97" fmla="*/ 181 h 244"/>
                <a:gd name="T98" fmla="*/ 0 w 279"/>
                <a:gd name="T99" fmla="*/ 243 h 24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79"/>
                <a:gd name="T151" fmla="*/ 0 h 244"/>
                <a:gd name="T152" fmla="*/ 279 w 279"/>
                <a:gd name="T153" fmla="*/ 244 h 24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79" h="244">
                  <a:moveTo>
                    <a:pt x="0" y="243"/>
                  </a:moveTo>
                  <a:lnTo>
                    <a:pt x="148" y="1"/>
                  </a:lnTo>
                  <a:lnTo>
                    <a:pt x="160" y="0"/>
                  </a:lnTo>
                  <a:lnTo>
                    <a:pt x="167" y="3"/>
                  </a:lnTo>
                  <a:lnTo>
                    <a:pt x="168" y="6"/>
                  </a:lnTo>
                  <a:lnTo>
                    <a:pt x="173" y="5"/>
                  </a:lnTo>
                  <a:lnTo>
                    <a:pt x="177" y="9"/>
                  </a:lnTo>
                  <a:lnTo>
                    <a:pt x="182" y="7"/>
                  </a:lnTo>
                  <a:lnTo>
                    <a:pt x="184" y="12"/>
                  </a:lnTo>
                  <a:lnTo>
                    <a:pt x="190" y="13"/>
                  </a:lnTo>
                  <a:lnTo>
                    <a:pt x="196" y="14"/>
                  </a:lnTo>
                  <a:lnTo>
                    <a:pt x="201" y="15"/>
                  </a:lnTo>
                  <a:lnTo>
                    <a:pt x="205" y="19"/>
                  </a:lnTo>
                  <a:lnTo>
                    <a:pt x="210" y="20"/>
                  </a:lnTo>
                  <a:lnTo>
                    <a:pt x="215" y="23"/>
                  </a:lnTo>
                  <a:lnTo>
                    <a:pt x="222" y="25"/>
                  </a:lnTo>
                  <a:lnTo>
                    <a:pt x="226" y="29"/>
                  </a:lnTo>
                  <a:lnTo>
                    <a:pt x="229" y="32"/>
                  </a:lnTo>
                  <a:lnTo>
                    <a:pt x="231" y="36"/>
                  </a:lnTo>
                  <a:lnTo>
                    <a:pt x="235" y="39"/>
                  </a:lnTo>
                  <a:lnTo>
                    <a:pt x="238" y="45"/>
                  </a:lnTo>
                  <a:lnTo>
                    <a:pt x="242" y="46"/>
                  </a:lnTo>
                  <a:lnTo>
                    <a:pt x="248" y="55"/>
                  </a:lnTo>
                  <a:lnTo>
                    <a:pt x="249" y="58"/>
                  </a:lnTo>
                  <a:lnTo>
                    <a:pt x="255" y="63"/>
                  </a:lnTo>
                  <a:lnTo>
                    <a:pt x="256" y="67"/>
                  </a:lnTo>
                  <a:lnTo>
                    <a:pt x="261" y="71"/>
                  </a:lnTo>
                  <a:lnTo>
                    <a:pt x="261" y="75"/>
                  </a:lnTo>
                  <a:lnTo>
                    <a:pt x="264" y="81"/>
                  </a:lnTo>
                  <a:lnTo>
                    <a:pt x="264" y="86"/>
                  </a:lnTo>
                  <a:lnTo>
                    <a:pt x="266" y="90"/>
                  </a:lnTo>
                  <a:lnTo>
                    <a:pt x="266" y="95"/>
                  </a:lnTo>
                  <a:lnTo>
                    <a:pt x="268" y="99"/>
                  </a:lnTo>
                  <a:lnTo>
                    <a:pt x="267" y="103"/>
                  </a:lnTo>
                  <a:lnTo>
                    <a:pt x="268" y="109"/>
                  </a:lnTo>
                  <a:lnTo>
                    <a:pt x="269" y="113"/>
                  </a:lnTo>
                  <a:lnTo>
                    <a:pt x="273" y="119"/>
                  </a:lnTo>
                  <a:lnTo>
                    <a:pt x="274" y="124"/>
                  </a:lnTo>
                  <a:lnTo>
                    <a:pt x="275" y="128"/>
                  </a:lnTo>
                  <a:lnTo>
                    <a:pt x="276" y="134"/>
                  </a:lnTo>
                  <a:lnTo>
                    <a:pt x="277" y="138"/>
                  </a:lnTo>
                  <a:lnTo>
                    <a:pt x="277" y="143"/>
                  </a:lnTo>
                  <a:lnTo>
                    <a:pt x="277" y="147"/>
                  </a:lnTo>
                  <a:lnTo>
                    <a:pt x="274" y="153"/>
                  </a:lnTo>
                  <a:lnTo>
                    <a:pt x="276" y="156"/>
                  </a:lnTo>
                  <a:lnTo>
                    <a:pt x="277" y="162"/>
                  </a:lnTo>
                  <a:lnTo>
                    <a:pt x="278" y="167"/>
                  </a:lnTo>
                  <a:lnTo>
                    <a:pt x="275" y="172"/>
                  </a:lnTo>
                  <a:lnTo>
                    <a:pt x="271" y="181"/>
                  </a:lnTo>
                  <a:lnTo>
                    <a:pt x="0" y="243"/>
                  </a:lnTo>
                </a:path>
              </a:pathLst>
            </a:custGeom>
            <a:noFill/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3" name="Arc 18"/>
            <p:cNvSpPr>
              <a:spLocks/>
            </p:cNvSpPr>
            <p:nvPr/>
          </p:nvSpPr>
          <p:spPr bwMode="auto">
            <a:xfrm rot="720000">
              <a:off x="2510" y="3846"/>
              <a:ext cx="133" cy="149"/>
            </a:xfrm>
            <a:custGeom>
              <a:avLst/>
              <a:gdLst>
                <a:gd name="T0" fmla="*/ 0 w 21745"/>
                <a:gd name="T1" fmla="*/ 0 h 21600"/>
                <a:gd name="T2" fmla="*/ 0 w 21745"/>
                <a:gd name="T3" fmla="*/ 0 h 21600"/>
                <a:gd name="T4" fmla="*/ 0 w 2174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45"/>
                <a:gd name="T10" fmla="*/ 0 h 21600"/>
                <a:gd name="T11" fmla="*/ 21745 w 2174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45" h="21600" fill="none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</a:path>
                <a:path w="21745" h="21600" stroke="0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  <a:lnTo>
                    <a:pt x="145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4" name="Line 19"/>
            <p:cNvSpPr>
              <a:spLocks noChangeShapeType="1"/>
            </p:cNvSpPr>
            <p:nvPr/>
          </p:nvSpPr>
          <p:spPr bwMode="auto">
            <a:xfrm flipH="1">
              <a:off x="2384" y="3732"/>
              <a:ext cx="191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Oval 20"/>
            <p:cNvSpPr>
              <a:spLocks noChangeArrowheads="1"/>
            </p:cNvSpPr>
            <p:nvPr/>
          </p:nvSpPr>
          <p:spPr bwMode="auto">
            <a:xfrm rot="-1860000">
              <a:off x="2559" y="3849"/>
              <a:ext cx="63" cy="1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6" name="Line 21"/>
            <p:cNvSpPr>
              <a:spLocks noChangeShapeType="1"/>
            </p:cNvSpPr>
            <p:nvPr/>
          </p:nvSpPr>
          <p:spPr bwMode="auto">
            <a:xfrm flipV="1">
              <a:off x="2384" y="3988"/>
              <a:ext cx="35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Line 22"/>
            <p:cNvSpPr>
              <a:spLocks noChangeShapeType="1"/>
            </p:cNvSpPr>
            <p:nvPr/>
          </p:nvSpPr>
          <p:spPr bwMode="auto">
            <a:xfrm>
              <a:off x="1207" y="1989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8" name="Line 23"/>
            <p:cNvSpPr>
              <a:spLocks noChangeShapeType="1"/>
            </p:cNvSpPr>
            <p:nvPr/>
          </p:nvSpPr>
          <p:spPr bwMode="auto">
            <a:xfrm>
              <a:off x="1202" y="2827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9" name="Line 24"/>
            <p:cNvSpPr>
              <a:spLocks noChangeShapeType="1"/>
            </p:cNvSpPr>
            <p:nvPr/>
          </p:nvSpPr>
          <p:spPr bwMode="auto">
            <a:xfrm>
              <a:off x="433" y="2021"/>
              <a:ext cx="762" cy="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10" name="Line 25"/>
            <p:cNvSpPr>
              <a:spLocks noChangeShapeType="1"/>
            </p:cNvSpPr>
            <p:nvPr/>
          </p:nvSpPr>
          <p:spPr bwMode="auto">
            <a:xfrm>
              <a:off x="2406" y="3121"/>
              <a:ext cx="762" cy="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11" name="Line 26"/>
            <p:cNvSpPr>
              <a:spLocks noChangeShapeType="1"/>
            </p:cNvSpPr>
            <p:nvPr/>
          </p:nvSpPr>
          <p:spPr bwMode="auto">
            <a:xfrm>
              <a:off x="1207" y="2453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12" name="Oval 27"/>
            <p:cNvSpPr>
              <a:spLocks noChangeArrowheads="1"/>
            </p:cNvSpPr>
            <p:nvPr/>
          </p:nvSpPr>
          <p:spPr bwMode="auto">
            <a:xfrm>
              <a:off x="2570" y="3201"/>
              <a:ext cx="36" cy="40"/>
            </a:xfrm>
            <a:prstGeom prst="ellipse">
              <a:avLst/>
            </a:prstGeom>
            <a:solidFill>
              <a:srgbClr val="037C03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3" name="Oval 28"/>
            <p:cNvSpPr>
              <a:spLocks noChangeArrowheads="1"/>
            </p:cNvSpPr>
            <p:nvPr/>
          </p:nvSpPr>
          <p:spPr bwMode="auto">
            <a:xfrm>
              <a:off x="948" y="2299"/>
              <a:ext cx="36" cy="40"/>
            </a:xfrm>
            <a:prstGeom prst="ellipse">
              <a:avLst/>
            </a:prstGeom>
            <a:solidFill>
              <a:srgbClr val="037C03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Case: Parallel images</a:t>
            </a:r>
          </a:p>
        </p:txBody>
      </p:sp>
      <p:graphicFrame>
        <p:nvGraphicFramePr>
          <p:cNvPr id="12290" name="Object 34"/>
          <p:cNvGraphicFramePr>
            <a:graphicFrameLocks noGrp="1" noChangeAspect="1"/>
          </p:cNvGraphicFramePr>
          <p:nvPr>
            <p:ph sz="half" idx="1"/>
          </p:nvPr>
        </p:nvGraphicFramePr>
        <p:xfrm>
          <a:off x="5962650" y="1438276"/>
          <a:ext cx="32575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228600" progId="Equation.3">
                  <p:embed/>
                </p:oleObj>
              </mc:Choice>
              <mc:Fallback>
                <p:oleObj name="Equation" r:id="rId3" imgW="1371600" imgH="228600" progId="Equation.3">
                  <p:embed/>
                  <p:pic>
                    <p:nvPicPr>
                      <p:cNvPr id="1229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1438276"/>
                        <a:ext cx="32575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984875" y="3219450"/>
          <a:ext cx="327025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698400" progId="Equation.3">
                  <p:embed/>
                </p:oleObj>
              </mc:Choice>
              <mc:Fallback>
                <p:oleObj name="Equation" r:id="rId5" imgW="1523880" imgH="698400" progId="Equation.3">
                  <p:embed/>
                  <p:pic>
                    <p:nvPicPr>
                      <p:cNvPr id="1229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75" y="3219450"/>
                        <a:ext cx="3270250" cy="149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33"/>
          <p:cNvSpPr txBox="1">
            <a:spLocks noChangeArrowheads="1"/>
          </p:cNvSpPr>
          <p:nvPr/>
        </p:nvSpPr>
        <p:spPr bwMode="auto">
          <a:xfrm>
            <a:off x="6119814" y="989013"/>
            <a:ext cx="20135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Epipolar constraint:</a:t>
            </a:r>
          </a:p>
        </p:txBody>
      </p:sp>
      <p:graphicFrame>
        <p:nvGraphicFramePr>
          <p:cNvPr id="616484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28800" y="4953000"/>
          <a:ext cx="81534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14800" imgH="711000" progId="Equation.3">
                  <p:embed/>
                </p:oleObj>
              </mc:Choice>
              <mc:Fallback>
                <p:oleObj name="Equation" r:id="rId7" imgW="4114800" imgH="711000" progId="Equation.3">
                  <p:embed/>
                  <p:pic>
                    <p:nvPicPr>
                      <p:cNvPr id="616484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953000"/>
                        <a:ext cx="8153400" cy="140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Text Box 38"/>
          <p:cNvSpPr txBox="1">
            <a:spLocks noChangeArrowheads="1"/>
          </p:cNvSpPr>
          <p:nvPr/>
        </p:nvSpPr>
        <p:spPr bwMode="auto">
          <a:xfrm>
            <a:off x="6477001" y="2286000"/>
            <a:ext cx="23920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R = I	    t</a:t>
            </a:r>
            <a:r>
              <a:rPr lang="en-US">
                <a:latin typeface="Times New Roman" pitchFamily="18" charset="0"/>
              </a:rPr>
              <a:t> = (</a:t>
            </a:r>
            <a:r>
              <a:rPr lang="en-US" i="1">
                <a:latin typeface="Times New Roman" pitchFamily="18" charset="0"/>
              </a:rPr>
              <a:t>T</a:t>
            </a:r>
            <a:r>
              <a:rPr lang="en-US">
                <a:latin typeface="Times New Roman" pitchFamily="18" charset="0"/>
              </a:rPr>
              <a:t>, 0, 0)</a:t>
            </a:r>
          </a:p>
        </p:txBody>
      </p:sp>
      <p:sp>
        <p:nvSpPr>
          <p:cNvPr id="616489" name="Text Box 41"/>
          <p:cNvSpPr txBox="1">
            <a:spLocks noChangeArrowheads="1"/>
          </p:cNvSpPr>
          <p:nvPr/>
        </p:nvSpPr>
        <p:spPr bwMode="auto">
          <a:xfrm>
            <a:off x="2209800" y="6364288"/>
            <a:ext cx="5419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The y-coordinates of corresponding points are the same</a:t>
            </a:r>
          </a:p>
        </p:txBody>
      </p:sp>
      <p:grpSp>
        <p:nvGrpSpPr>
          <p:cNvPr id="12297" name="Group 42"/>
          <p:cNvGrpSpPr>
            <a:grpSpLocks/>
          </p:cNvGrpSpPr>
          <p:nvPr/>
        </p:nvGrpSpPr>
        <p:grpSpPr bwMode="auto">
          <a:xfrm>
            <a:off x="2057400" y="1033464"/>
            <a:ext cx="3124200" cy="3690937"/>
            <a:chOff x="336" y="603"/>
            <a:chExt cx="2832" cy="3477"/>
          </a:xfrm>
        </p:grpSpPr>
        <p:sp>
          <p:nvSpPr>
            <p:cNvPr id="12302" name="Freeform 43"/>
            <p:cNvSpPr>
              <a:spLocks/>
            </p:cNvSpPr>
            <p:nvPr/>
          </p:nvSpPr>
          <p:spPr bwMode="auto">
            <a:xfrm>
              <a:off x="2193" y="603"/>
              <a:ext cx="769" cy="529"/>
            </a:xfrm>
            <a:custGeom>
              <a:avLst/>
              <a:gdLst>
                <a:gd name="T0" fmla="*/ 42 w 865"/>
                <a:gd name="T1" fmla="*/ 0 h 529"/>
                <a:gd name="T2" fmla="*/ 36 w 865"/>
                <a:gd name="T3" fmla="*/ 24 h 529"/>
                <a:gd name="T4" fmla="*/ 36 w 865"/>
                <a:gd name="T5" fmla="*/ 48 h 529"/>
                <a:gd name="T6" fmla="*/ 24 w 865"/>
                <a:gd name="T7" fmla="*/ 72 h 529"/>
                <a:gd name="T8" fmla="*/ 18 w 865"/>
                <a:gd name="T9" fmla="*/ 96 h 529"/>
                <a:gd name="T10" fmla="*/ 18 w 865"/>
                <a:gd name="T11" fmla="*/ 120 h 529"/>
                <a:gd name="T12" fmla="*/ 18 w 865"/>
                <a:gd name="T13" fmla="*/ 144 h 529"/>
                <a:gd name="T14" fmla="*/ 12 w 865"/>
                <a:gd name="T15" fmla="*/ 168 h 529"/>
                <a:gd name="T16" fmla="*/ 6 w 865"/>
                <a:gd name="T17" fmla="*/ 192 h 529"/>
                <a:gd name="T18" fmla="*/ 0 w 865"/>
                <a:gd name="T19" fmla="*/ 216 h 529"/>
                <a:gd name="T20" fmla="*/ 0 w 865"/>
                <a:gd name="T21" fmla="*/ 240 h 529"/>
                <a:gd name="T22" fmla="*/ 0 w 865"/>
                <a:gd name="T23" fmla="*/ 264 h 529"/>
                <a:gd name="T24" fmla="*/ 6 w 865"/>
                <a:gd name="T25" fmla="*/ 288 h 529"/>
                <a:gd name="T26" fmla="*/ 6 w 865"/>
                <a:gd name="T27" fmla="*/ 312 h 529"/>
                <a:gd name="T28" fmla="*/ 12 w 865"/>
                <a:gd name="T29" fmla="*/ 336 h 529"/>
                <a:gd name="T30" fmla="*/ 12 w 865"/>
                <a:gd name="T31" fmla="*/ 360 h 529"/>
                <a:gd name="T32" fmla="*/ 18 w 865"/>
                <a:gd name="T33" fmla="*/ 384 h 529"/>
                <a:gd name="T34" fmla="*/ 18 w 865"/>
                <a:gd name="T35" fmla="*/ 408 h 529"/>
                <a:gd name="T36" fmla="*/ 24 w 865"/>
                <a:gd name="T37" fmla="*/ 432 h 529"/>
                <a:gd name="T38" fmla="*/ 29 w 865"/>
                <a:gd name="T39" fmla="*/ 456 h 529"/>
                <a:gd name="T40" fmla="*/ 421 w 865"/>
                <a:gd name="T41" fmla="*/ 528 h 529"/>
                <a:gd name="T42" fmla="*/ 397 w 865"/>
                <a:gd name="T43" fmla="*/ 480 h 529"/>
                <a:gd name="T44" fmla="*/ 391 w 865"/>
                <a:gd name="T45" fmla="*/ 456 h 529"/>
                <a:gd name="T46" fmla="*/ 385 w 865"/>
                <a:gd name="T47" fmla="*/ 420 h 529"/>
                <a:gd name="T48" fmla="*/ 380 w 865"/>
                <a:gd name="T49" fmla="*/ 396 h 529"/>
                <a:gd name="T50" fmla="*/ 373 w 865"/>
                <a:gd name="T51" fmla="*/ 372 h 529"/>
                <a:gd name="T52" fmla="*/ 367 w 865"/>
                <a:gd name="T53" fmla="*/ 348 h 529"/>
                <a:gd name="T54" fmla="*/ 367 w 865"/>
                <a:gd name="T55" fmla="*/ 324 h 529"/>
                <a:gd name="T56" fmla="*/ 367 w 865"/>
                <a:gd name="T57" fmla="*/ 288 h 529"/>
                <a:gd name="T58" fmla="*/ 367 w 865"/>
                <a:gd name="T59" fmla="*/ 264 h 529"/>
                <a:gd name="T60" fmla="*/ 367 w 865"/>
                <a:gd name="T61" fmla="*/ 240 h 529"/>
                <a:gd name="T62" fmla="*/ 380 w 865"/>
                <a:gd name="T63" fmla="*/ 216 h 529"/>
                <a:gd name="T64" fmla="*/ 380 w 865"/>
                <a:gd name="T65" fmla="*/ 192 h 529"/>
                <a:gd name="T66" fmla="*/ 385 w 865"/>
                <a:gd name="T67" fmla="*/ 168 h 529"/>
                <a:gd name="T68" fmla="*/ 397 w 865"/>
                <a:gd name="T69" fmla="*/ 156 h 529"/>
                <a:gd name="T70" fmla="*/ 397 w 865"/>
                <a:gd name="T71" fmla="*/ 132 h 529"/>
                <a:gd name="T72" fmla="*/ 409 w 865"/>
                <a:gd name="T73" fmla="*/ 108 h 529"/>
                <a:gd name="T74" fmla="*/ 421 w 865"/>
                <a:gd name="T75" fmla="*/ 96 h 529"/>
                <a:gd name="T76" fmla="*/ 427 w 865"/>
                <a:gd name="T77" fmla="*/ 72 h 529"/>
                <a:gd name="T78" fmla="*/ 42 w 865"/>
                <a:gd name="T79" fmla="*/ 0 h 52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65"/>
                <a:gd name="T121" fmla="*/ 0 h 529"/>
                <a:gd name="T122" fmla="*/ 865 w 865"/>
                <a:gd name="T123" fmla="*/ 529 h 52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65" h="529">
                  <a:moveTo>
                    <a:pt x="84" y="0"/>
                  </a:moveTo>
                  <a:lnTo>
                    <a:pt x="72" y="24"/>
                  </a:lnTo>
                  <a:lnTo>
                    <a:pt x="72" y="48"/>
                  </a:lnTo>
                  <a:lnTo>
                    <a:pt x="48" y="72"/>
                  </a:lnTo>
                  <a:lnTo>
                    <a:pt x="36" y="96"/>
                  </a:lnTo>
                  <a:lnTo>
                    <a:pt x="36" y="120"/>
                  </a:lnTo>
                  <a:lnTo>
                    <a:pt x="36" y="144"/>
                  </a:lnTo>
                  <a:lnTo>
                    <a:pt x="24" y="168"/>
                  </a:lnTo>
                  <a:lnTo>
                    <a:pt x="12" y="192"/>
                  </a:lnTo>
                  <a:lnTo>
                    <a:pt x="0" y="216"/>
                  </a:lnTo>
                  <a:lnTo>
                    <a:pt x="0" y="240"/>
                  </a:lnTo>
                  <a:lnTo>
                    <a:pt x="0" y="264"/>
                  </a:lnTo>
                  <a:lnTo>
                    <a:pt x="12" y="288"/>
                  </a:lnTo>
                  <a:lnTo>
                    <a:pt x="12" y="312"/>
                  </a:lnTo>
                  <a:lnTo>
                    <a:pt x="24" y="336"/>
                  </a:lnTo>
                  <a:lnTo>
                    <a:pt x="24" y="360"/>
                  </a:lnTo>
                  <a:lnTo>
                    <a:pt x="36" y="384"/>
                  </a:lnTo>
                  <a:lnTo>
                    <a:pt x="36" y="408"/>
                  </a:lnTo>
                  <a:lnTo>
                    <a:pt x="48" y="432"/>
                  </a:lnTo>
                  <a:lnTo>
                    <a:pt x="60" y="456"/>
                  </a:lnTo>
                  <a:lnTo>
                    <a:pt x="852" y="528"/>
                  </a:lnTo>
                  <a:lnTo>
                    <a:pt x="804" y="480"/>
                  </a:lnTo>
                  <a:lnTo>
                    <a:pt x="792" y="456"/>
                  </a:lnTo>
                  <a:lnTo>
                    <a:pt x="780" y="420"/>
                  </a:lnTo>
                  <a:lnTo>
                    <a:pt x="768" y="396"/>
                  </a:lnTo>
                  <a:lnTo>
                    <a:pt x="756" y="372"/>
                  </a:lnTo>
                  <a:lnTo>
                    <a:pt x="744" y="348"/>
                  </a:lnTo>
                  <a:lnTo>
                    <a:pt x="744" y="324"/>
                  </a:lnTo>
                  <a:lnTo>
                    <a:pt x="744" y="288"/>
                  </a:lnTo>
                  <a:lnTo>
                    <a:pt x="744" y="264"/>
                  </a:lnTo>
                  <a:lnTo>
                    <a:pt x="744" y="240"/>
                  </a:lnTo>
                  <a:lnTo>
                    <a:pt x="768" y="216"/>
                  </a:lnTo>
                  <a:lnTo>
                    <a:pt x="768" y="192"/>
                  </a:lnTo>
                  <a:lnTo>
                    <a:pt x="780" y="168"/>
                  </a:lnTo>
                  <a:lnTo>
                    <a:pt x="804" y="156"/>
                  </a:lnTo>
                  <a:lnTo>
                    <a:pt x="804" y="132"/>
                  </a:lnTo>
                  <a:lnTo>
                    <a:pt x="828" y="108"/>
                  </a:lnTo>
                  <a:lnTo>
                    <a:pt x="852" y="96"/>
                  </a:lnTo>
                  <a:lnTo>
                    <a:pt x="864" y="72"/>
                  </a:lnTo>
                  <a:lnTo>
                    <a:pt x="84" y="0"/>
                  </a:lnTo>
                </a:path>
              </a:pathLst>
            </a:custGeom>
            <a:gradFill rotWithShape="0">
              <a:gsLst>
                <a:gs pos="0">
                  <a:srgbClr val="012501"/>
                </a:gs>
                <a:gs pos="100000">
                  <a:srgbClr val="037C03"/>
                </a:gs>
              </a:gsLst>
              <a:lin ang="18900000" scaled="1"/>
            </a:gra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Line 44"/>
            <p:cNvSpPr>
              <a:spLocks noChangeShapeType="1"/>
            </p:cNvSpPr>
            <p:nvPr/>
          </p:nvSpPr>
          <p:spPr bwMode="auto">
            <a:xfrm>
              <a:off x="561" y="2715"/>
              <a:ext cx="2048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4" name="Freeform 45"/>
            <p:cNvSpPr>
              <a:spLocks/>
            </p:cNvSpPr>
            <p:nvPr/>
          </p:nvSpPr>
          <p:spPr bwMode="auto">
            <a:xfrm>
              <a:off x="966" y="768"/>
              <a:ext cx="1557" cy="1551"/>
            </a:xfrm>
            <a:custGeom>
              <a:avLst/>
              <a:gdLst>
                <a:gd name="T0" fmla="*/ 0 w 1557"/>
                <a:gd name="T1" fmla="*/ 1551 h 1551"/>
                <a:gd name="T2" fmla="*/ 1557 w 1557"/>
                <a:gd name="T3" fmla="*/ 0 h 1551"/>
                <a:gd name="T4" fmla="*/ 0 60000 65536"/>
                <a:gd name="T5" fmla="*/ 0 60000 65536"/>
                <a:gd name="T6" fmla="*/ 0 w 1557"/>
                <a:gd name="T7" fmla="*/ 0 h 1551"/>
                <a:gd name="T8" fmla="*/ 1557 w 1557"/>
                <a:gd name="T9" fmla="*/ 1551 h 15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57" h="1551">
                  <a:moveTo>
                    <a:pt x="0" y="1551"/>
                  </a:moveTo>
                  <a:lnTo>
                    <a:pt x="1557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Freeform 46"/>
            <p:cNvSpPr>
              <a:spLocks/>
            </p:cNvSpPr>
            <p:nvPr/>
          </p:nvSpPr>
          <p:spPr bwMode="auto">
            <a:xfrm>
              <a:off x="433" y="1569"/>
              <a:ext cx="769" cy="1261"/>
            </a:xfrm>
            <a:custGeom>
              <a:avLst/>
              <a:gdLst>
                <a:gd name="T0" fmla="*/ 0 w 865"/>
                <a:gd name="T1" fmla="*/ 828 h 1261"/>
                <a:gd name="T2" fmla="*/ 427 w 865"/>
                <a:gd name="T3" fmla="*/ 1260 h 1261"/>
                <a:gd name="T4" fmla="*/ 427 w 865"/>
                <a:gd name="T5" fmla="*/ 414 h 1261"/>
                <a:gd name="T6" fmla="*/ 0 w 865"/>
                <a:gd name="T7" fmla="*/ 0 h 1261"/>
                <a:gd name="T8" fmla="*/ 0 w 865"/>
                <a:gd name="T9" fmla="*/ 828 h 12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5"/>
                <a:gd name="T16" fmla="*/ 0 h 1261"/>
                <a:gd name="T17" fmla="*/ 865 w 865"/>
                <a:gd name="T18" fmla="*/ 1261 h 12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5" h="1261">
                  <a:moveTo>
                    <a:pt x="0" y="828"/>
                  </a:moveTo>
                  <a:lnTo>
                    <a:pt x="864" y="1260"/>
                  </a:lnTo>
                  <a:lnTo>
                    <a:pt x="864" y="414"/>
                  </a:lnTo>
                  <a:lnTo>
                    <a:pt x="0" y="0"/>
                  </a:lnTo>
                  <a:lnTo>
                    <a:pt x="0" y="828"/>
                  </a:lnTo>
                </a:path>
              </a:pathLst>
            </a:custGeom>
            <a:solidFill>
              <a:srgbClr val="FEBF02"/>
            </a:solidFill>
            <a:ln w="127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Freeform 47"/>
            <p:cNvSpPr>
              <a:spLocks/>
            </p:cNvSpPr>
            <p:nvPr/>
          </p:nvSpPr>
          <p:spPr bwMode="auto">
            <a:xfrm>
              <a:off x="2514" y="768"/>
              <a:ext cx="74" cy="2463"/>
            </a:xfrm>
            <a:custGeom>
              <a:avLst/>
              <a:gdLst>
                <a:gd name="T0" fmla="*/ 74 w 74"/>
                <a:gd name="T1" fmla="*/ 2463 h 2463"/>
                <a:gd name="T2" fmla="*/ 0 w 74"/>
                <a:gd name="T3" fmla="*/ 0 h 2463"/>
                <a:gd name="T4" fmla="*/ 0 60000 65536"/>
                <a:gd name="T5" fmla="*/ 0 60000 65536"/>
                <a:gd name="T6" fmla="*/ 0 w 74"/>
                <a:gd name="T7" fmla="*/ 0 h 2463"/>
                <a:gd name="T8" fmla="*/ 74 w 74"/>
                <a:gd name="T9" fmla="*/ 2463 h 24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" h="2463">
                  <a:moveTo>
                    <a:pt x="74" y="246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Freeform 48"/>
            <p:cNvSpPr>
              <a:spLocks/>
            </p:cNvSpPr>
            <p:nvPr/>
          </p:nvSpPr>
          <p:spPr bwMode="auto">
            <a:xfrm>
              <a:off x="2396" y="2651"/>
              <a:ext cx="769" cy="1261"/>
            </a:xfrm>
            <a:custGeom>
              <a:avLst/>
              <a:gdLst>
                <a:gd name="T0" fmla="*/ 0 w 865"/>
                <a:gd name="T1" fmla="*/ 828 h 1261"/>
                <a:gd name="T2" fmla="*/ 427 w 865"/>
                <a:gd name="T3" fmla="*/ 1260 h 1261"/>
                <a:gd name="T4" fmla="*/ 427 w 865"/>
                <a:gd name="T5" fmla="*/ 414 h 1261"/>
                <a:gd name="T6" fmla="*/ 0 w 865"/>
                <a:gd name="T7" fmla="*/ 0 h 1261"/>
                <a:gd name="T8" fmla="*/ 0 w 865"/>
                <a:gd name="T9" fmla="*/ 828 h 12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5"/>
                <a:gd name="T16" fmla="*/ 0 h 1261"/>
                <a:gd name="T17" fmla="*/ 865 w 865"/>
                <a:gd name="T18" fmla="*/ 1261 h 12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5" h="1261">
                  <a:moveTo>
                    <a:pt x="0" y="828"/>
                  </a:moveTo>
                  <a:lnTo>
                    <a:pt x="864" y="1260"/>
                  </a:lnTo>
                  <a:lnTo>
                    <a:pt x="864" y="414"/>
                  </a:lnTo>
                  <a:lnTo>
                    <a:pt x="0" y="0"/>
                  </a:lnTo>
                  <a:lnTo>
                    <a:pt x="0" y="828"/>
                  </a:lnTo>
                </a:path>
              </a:pathLst>
            </a:custGeom>
            <a:solidFill>
              <a:srgbClr val="FEBF02"/>
            </a:solidFill>
            <a:ln w="12700" cap="rnd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Line 49"/>
            <p:cNvSpPr>
              <a:spLocks noChangeShapeType="1"/>
            </p:cNvSpPr>
            <p:nvPr/>
          </p:nvSpPr>
          <p:spPr bwMode="auto">
            <a:xfrm flipV="1">
              <a:off x="561" y="2319"/>
              <a:ext cx="405" cy="3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Line 50"/>
            <p:cNvSpPr>
              <a:spLocks noChangeShapeType="1"/>
            </p:cNvSpPr>
            <p:nvPr/>
          </p:nvSpPr>
          <p:spPr bwMode="auto">
            <a:xfrm flipH="1" flipV="1">
              <a:off x="2588" y="3231"/>
              <a:ext cx="21" cy="6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0" name="Freeform 51"/>
            <p:cNvSpPr>
              <a:spLocks/>
            </p:cNvSpPr>
            <p:nvPr/>
          </p:nvSpPr>
          <p:spPr bwMode="auto">
            <a:xfrm>
              <a:off x="336" y="2684"/>
              <a:ext cx="248" cy="244"/>
            </a:xfrm>
            <a:custGeom>
              <a:avLst/>
              <a:gdLst>
                <a:gd name="T0" fmla="*/ 0 w 279"/>
                <a:gd name="T1" fmla="*/ 243 h 244"/>
                <a:gd name="T2" fmla="*/ 73 w 279"/>
                <a:gd name="T3" fmla="*/ 1 h 244"/>
                <a:gd name="T4" fmla="*/ 79 w 279"/>
                <a:gd name="T5" fmla="*/ 0 h 244"/>
                <a:gd name="T6" fmla="*/ 82 w 279"/>
                <a:gd name="T7" fmla="*/ 3 h 244"/>
                <a:gd name="T8" fmla="*/ 82 w 279"/>
                <a:gd name="T9" fmla="*/ 6 h 244"/>
                <a:gd name="T10" fmla="*/ 85 w 279"/>
                <a:gd name="T11" fmla="*/ 5 h 244"/>
                <a:gd name="T12" fmla="*/ 87 w 279"/>
                <a:gd name="T13" fmla="*/ 9 h 244"/>
                <a:gd name="T14" fmla="*/ 90 w 279"/>
                <a:gd name="T15" fmla="*/ 7 h 244"/>
                <a:gd name="T16" fmla="*/ 92 w 279"/>
                <a:gd name="T17" fmla="*/ 12 h 244"/>
                <a:gd name="T18" fmla="*/ 93 w 279"/>
                <a:gd name="T19" fmla="*/ 13 h 244"/>
                <a:gd name="T20" fmla="*/ 97 w 279"/>
                <a:gd name="T21" fmla="*/ 14 h 244"/>
                <a:gd name="T22" fmla="*/ 99 w 279"/>
                <a:gd name="T23" fmla="*/ 15 h 244"/>
                <a:gd name="T24" fmla="*/ 101 w 279"/>
                <a:gd name="T25" fmla="*/ 19 h 244"/>
                <a:gd name="T26" fmla="*/ 104 w 279"/>
                <a:gd name="T27" fmla="*/ 20 h 244"/>
                <a:gd name="T28" fmla="*/ 106 w 279"/>
                <a:gd name="T29" fmla="*/ 23 h 244"/>
                <a:gd name="T30" fmla="*/ 110 w 279"/>
                <a:gd name="T31" fmla="*/ 25 h 244"/>
                <a:gd name="T32" fmla="*/ 111 w 279"/>
                <a:gd name="T33" fmla="*/ 29 h 244"/>
                <a:gd name="T34" fmla="*/ 113 w 279"/>
                <a:gd name="T35" fmla="*/ 32 h 244"/>
                <a:gd name="T36" fmla="*/ 114 w 279"/>
                <a:gd name="T37" fmla="*/ 36 h 244"/>
                <a:gd name="T38" fmla="*/ 116 w 279"/>
                <a:gd name="T39" fmla="*/ 39 h 244"/>
                <a:gd name="T40" fmla="*/ 117 w 279"/>
                <a:gd name="T41" fmla="*/ 45 h 244"/>
                <a:gd name="T42" fmla="*/ 119 w 279"/>
                <a:gd name="T43" fmla="*/ 46 h 244"/>
                <a:gd name="T44" fmla="*/ 123 w 279"/>
                <a:gd name="T45" fmla="*/ 55 h 244"/>
                <a:gd name="T46" fmla="*/ 123 w 279"/>
                <a:gd name="T47" fmla="*/ 58 h 244"/>
                <a:gd name="T48" fmla="*/ 126 w 279"/>
                <a:gd name="T49" fmla="*/ 63 h 244"/>
                <a:gd name="T50" fmla="*/ 126 w 279"/>
                <a:gd name="T51" fmla="*/ 67 h 244"/>
                <a:gd name="T52" fmla="*/ 129 w 279"/>
                <a:gd name="T53" fmla="*/ 71 h 244"/>
                <a:gd name="T54" fmla="*/ 129 w 279"/>
                <a:gd name="T55" fmla="*/ 75 h 244"/>
                <a:gd name="T56" fmla="*/ 131 w 279"/>
                <a:gd name="T57" fmla="*/ 81 h 244"/>
                <a:gd name="T58" fmla="*/ 131 w 279"/>
                <a:gd name="T59" fmla="*/ 86 h 244"/>
                <a:gd name="T60" fmla="*/ 132 w 279"/>
                <a:gd name="T61" fmla="*/ 90 h 244"/>
                <a:gd name="T62" fmla="*/ 132 w 279"/>
                <a:gd name="T63" fmla="*/ 95 h 244"/>
                <a:gd name="T64" fmla="*/ 132 w 279"/>
                <a:gd name="T65" fmla="*/ 99 h 244"/>
                <a:gd name="T66" fmla="*/ 132 w 279"/>
                <a:gd name="T67" fmla="*/ 103 h 244"/>
                <a:gd name="T68" fmla="*/ 132 w 279"/>
                <a:gd name="T69" fmla="*/ 109 h 244"/>
                <a:gd name="T70" fmla="*/ 132 w 279"/>
                <a:gd name="T71" fmla="*/ 113 h 244"/>
                <a:gd name="T72" fmla="*/ 135 w 279"/>
                <a:gd name="T73" fmla="*/ 119 h 244"/>
                <a:gd name="T74" fmla="*/ 136 w 279"/>
                <a:gd name="T75" fmla="*/ 124 h 244"/>
                <a:gd name="T76" fmla="*/ 136 w 279"/>
                <a:gd name="T77" fmla="*/ 128 h 244"/>
                <a:gd name="T78" fmla="*/ 136 w 279"/>
                <a:gd name="T79" fmla="*/ 134 h 244"/>
                <a:gd name="T80" fmla="*/ 137 w 279"/>
                <a:gd name="T81" fmla="*/ 138 h 244"/>
                <a:gd name="T82" fmla="*/ 137 w 279"/>
                <a:gd name="T83" fmla="*/ 143 h 244"/>
                <a:gd name="T84" fmla="*/ 137 w 279"/>
                <a:gd name="T85" fmla="*/ 147 h 244"/>
                <a:gd name="T86" fmla="*/ 136 w 279"/>
                <a:gd name="T87" fmla="*/ 153 h 244"/>
                <a:gd name="T88" fmla="*/ 136 w 279"/>
                <a:gd name="T89" fmla="*/ 156 h 244"/>
                <a:gd name="T90" fmla="*/ 137 w 279"/>
                <a:gd name="T91" fmla="*/ 162 h 244"/>
                <a:gd name="T92" fmla="*/ 138 w 279"/>
                <a:gd name="T93" fmla="*/ 167 h 244"/>
                <a:gd name="T94" fmla="*/ 136 w 279"/>
                <a:gd name="T95" fmla="*/ 172 h 244"/>
                <a:gd name="T96" fmla="*/ 133 w 279"/>
                <a:gd name="T97" fmla="*/ 181 h 244"/>
                <a:gd name="T98" fmla="*/ 0 w 279"/>
                <a:gd name="T99" fmla="*/ 243 h 24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79"/>
                <a:gd name="T151" fmla="*/ 0 h 244"/>
                <a:gd name="T152" fmla="*/ 279 w 279"/>
                <a:gd name="T153" fmla="*/ 244 h 24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79" h="244">
                  <a:moveTo>
                    <a:pt x="0" y="243"/>
                  </a:moveTo>
                  <a:lnTo>
                    <a:pt x="148" y="1"/>
                  </a:lnTo>
                  <a:lnTo>
                    <a:pt x="160" y="0"/>
                  </a:lnTo>
                  <a:lnTo>
                    <a:pt x="167" y="3"/>
                  </a:lnTo>
                  <a:lnTo>
                    <a:pt x="168" y="6"/>
                  </a:lnTo>
                  <a:lnTo>
                    <a:pt x="173" y="5"/>
                  </a:lnTo>
                  <a:lnTo>
                    <a:pt x="177" y="9"/>
                  </a:lnTo>
                  <a:lnTo>
                    <a:pt x="182" y="7"/>
                  </a:lnTo>
                  <a:lnTo>
                    <a:pt x="184" y="12"/>
                  </a:lnTo>
                  <a:lnTo>
                    <a:pt x="190" y="13"/>
                  </a:lnTo>
                  <a:lnTo>
                    <a:pt x="196" y="14"/>
                  </a:lnTo>
                  <a:lnTo>
                    <a:pt x="201" y="15"/>
                  </a:lnTo>
                  <a:lnTo>
                    <a:pt x="205" y="19"/>
                  </a:lnTo>
                  <a:lnTo>
                    <a:pt x="210" y="20"/>
                  </a:lnTo>
                  <a:lnTo>
                    <a:pt x="215" y="23"/>
                  </a:lnTo>
                  <a:lnTo>
                    <a:pt x="222" y="25"/>
                  </a:lnTo>
                  <a:lnTo>
                    <a:pt x="226" y="29"/>
                  </a:lnTo>
                  <a:lnTo>
                    <a:pt x="229" y="32"/>
                  </a:lnTo>
                  <a:lnTo>
                    <a:pt x="231" y="36"/>
                  </a:lnTo>
                  <a:lnTo>
                    <a:pt x="235" y="39"/>
                  </a:lnTo>
                  <a:lnTo>
                    <a:pt x="238" y="45"/>
                  </a:lnTo>
                  <a:lnTo>
                    <a:pt x="242" y="46"/>
                  </a:lnTo>
                  <a:lnTo>
                    <a:pt x="248" y="55"/>
                  </a:lnTo>
                  <a:lnTo>
                    <a:pt x="249" y="58"/>
                  </a:lnTo>
                  <a:lnTo>
                    <a:pt x="255" y="63"/>
                  </a:lnTo>
                  <a:lnTo>
                    <a:pt x="256" y="67"/>
                  </a:lnTo>
                  <a:lnTo>
                    <a:pt x="261" y="71"/>
                  </a:lnTo>
                  <a:lnTo>
                    <a:pt x="261" y="75"/>
                  </a:lnTo>
                  <a:lnTo>
                    <a:pt x="264" y="81"/>
                  </a:lnTo>
                  <a:lnTo>
                    <a:pt x="264" y="86"/>
                  </a:lnTo>
                  <a:lnTo>
                    <a:pt x="266" y="90"/>
                  </a:lnTo>
                  <a:lnTo>
                    <a:pt x="266" y="95"/>
                  </a:lnTo>
                  <a:lnTo>
                    <a:pt x="268" y="99"/>
                  </a:lnTo>
                  <a:lnTo>
                    <a:pt x="267" y="103"/>
                  </a:lnTo>
                  <a:lnTo>
                    <a:pt x="268" y="109"/>
                  </a:lnTo>
                  <a:lnTo>
                    <a:pt x="269" y="113"/>
                  </a:lnTo>
                  <a:lnTo>
                    <a:pt x="273" y="119"/>
                  </a:lnTo>
                  <a:lnTo>
                    <a:pt x="274" y="124"/>
                  </a:lnTo>
                  <a:lnTo>
                    <a:pt x="275" y="128"/>
                  </a:lnTo>
                  <a:lnTo>
                    <a:pt x="276" y="134"/>
                  </a:lnTo>
                  <a:lnTo>
                    <a:pt x="277" y="138"/>
                  </a:lnTo>
                  <a:lnTo>
                    <a:pt x="277" y="143"/>
                  </a:lnTo>
                  <a:lnTo>
                    <a:pt x="277" y="147"/>
                  </a:lnTo>
                  <a:lnTo>
                    <a:pt x="274" y="153"/>
                  </a:lnTo>
                  <a:lnTo>
                    <a:pt x="276" y="156"/>
                  </a:lnTo>
                  <a:lnTo>
                    <a:pt x="277" y="162"/>
                  </a:lnTo>
                  <a:lnTo>
                    <a:pt x="278" y="167"/>
                  </a:lnTo>
                  <a:lnTo>
                    <a:pt x="275" y="172"/>
                  </a:lnTo>
                  <a:lnTo>
                    <a:pt x="271" y="181"/>
                  </a:lnTo>
                  <a:lnTo>
                    <a:pt x="0" y="243"/>
                  </a:lnTo>
                </a:path>
              </a:pathLst>
            </a:custGeom>
            <a:noFill/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Arc 52"/>
            <p:cNvSpPr>
              <a:spLocks/>
            </p:cNvSpPr>
            <p:nvPr/>
          </p:nvSpPr>
          <p:spPr bwMode="auto">
            <a:xfrm rot="720000">
              <a:off x="462" y="2694"/>
              <a:ext cx="133" cy="149"/>
            </a:xfrm>
            <a:custGeom>
              <a:avLst/>
              <a:gdLst>
                <a:gd name="T0" fmla="*/ 0 w 21745"/>
                <a:gd name="T1" fmla="*/ 0 h 21600"/>
                <a:gd name="T2" fmla="*/ 0 w 21745"/>
                <a:gd name="T3" fmla="*/ 0 h 21600"/>
                <a:gd name="T4" fmla="*/ 0 w 2174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45"/>
                <a:gd name="T10" fmla="*/ 0 h 21600"/>
                <a:gd name="T11" fmla="*/ 21745 w 2174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45" h="21600" fill="none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</a:path>
                <a:path w="21745" h="21600" stroke="0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  <a:lnTo>
                    <a:pt x="145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2" name="Line 53"/>
            <p:cNvSpPr>
              <a:spLocks noChangeShapeType="1"/>
            </p:cNvSpPr>
            <p:nvPr/>
          </p:nvSpPr>
          <p:spPr bwMode="auto">
            <a:xfrm flipH="1">
              <a:off x="336" y="2580"/>
              <a:ext cx="191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3" name="Oval 54"/>
            <p:cNvSpPr>
              <a:spLocks noChangeArrowheads="1"/>
            </p:cNvSpPr>
            <p:nvPr/>
          </p:nvSpPr>
          <p:spPr bwMode="auto">
            <a:xfrm rot="-1860000">
              <a:off x="511" y="2697"/>
              <a:ext cx="63" cy="1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4" name="Line 55"/>
            <p:cNvSpPr>
              <a:spLocks noChangeShapeType="1"/>
            </p:cNvSpPr>
            <p:nvPr/>
          </p:nvSpPr>
          <p:spPr bwMode="auto">
            <a:xfrm flipV="1">
              <a:off x="336" y="2836"/>
              <a:ext cx="35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5" name="Freeform 56"/>
            <p:cNvSpPr>
              <a:spLocks/>
            </p:cNvSpPr>
            <p:nvPr/>
          </p:nvSpPr>
          <p:spPr bwMode="auto">
            <a:xfrm>
              <a:off x="2384" y="3836"/>
              <a:ext cx="248" cy="244"/>
            </a:xfrm>
            <a:custGeom>
              <a:avLst/>
              <a:gdLst>
                <a:gd name="T0" fmla="*/ 0 w 279"/>
                <a:gd name="T1" fmla="*/ 243 h 244"/>
                <a:gd name="T2" fmla="*/ 73 w 279"/>
                <a:gd name="T3" fmla="*/ 1 h 244"/>
                <a:gd name="T4" fmla="*/ 79 w 279"/>
                <a:gd name="T5" fmla="*/ 0 h 244"/>
                <a:gd name="T6" fmla="*/ 82 w 279"/>
                <a:gd name="T7" fmla="*/ 3 h 244"/>
                <a:gd name="T8" fmla="*/ 82 w 279"/>
                <a:gd name="T9" fmla="*/ 6 h 244"/>
                <a:gd name="T10" fmla="*/ 85 w 279"/>
                <a:gd name="T11" fmla="*/ 5 h 244"/>
                <a:gd name="T12" fmla="*/ 87 w 279"/>
                <a:gd name="T13" fmla="*/ 9 h 244"/>
                <a:gd name="T14" fmla="*/ 90 w 279"/>
                <a:gd name="T15" fmla="*/ 7 h 244"/>
                <a:gd name="T16" fmla="*/ 92 w 279"/>
                <a:gd name="T17" fmla="*/ 12 h 244"/>
                <a:gd name="T18" fmla="*/ 93 w 279"/>
                <a:gd name="T19" fmla="*/ 13 h 244"/>
                <a:gd name="T20" fmla="*/ 97 w 279"/>
                <a:gd name="T21" fmla="*/ 14 h 244"/>
                <a:gd name="T22" fmla="*/ 99 w 279"/>
                <a:gd name="T23" fmla="*/ 15 h 244"/>
                <a:gd name="T24" fmla="*/ 101 w 279"/>
                <a:gd name="T25" fmla="*/ 19 h 244"/>
                <a:gd name="T26" fmla="*/ 104 w 279"/>
                <a:gd name="T27" fmla="*/ 20 h 244"/>
                <a:gd name="T28" fmla="*/ 106 w 279"/>
                <a:gd name="T29" fmla="*/ 23 h 244"/>
                <a:gd name="T30" fmla="*/ 110 w 279"/>
                <a:gd name="T31" fmla="*/ 25 h 244"/>
                <a:gd name="T32" fmla="*/ 111 w 279"/>
                <a:gd name="T33" fmla="*/ 29 h 244"/>
                <a:gd name="T34" fmla="*/ 113 w 279"/>
                <a:gd name="T35" fmla="*/ 32 h 244"/>
                <a:gd name="T36" fmla="*/ 114 w 279"/>
                <a:gd name="T37" fmla="*/ 36 h 244"/>
                <a:gd name="T38" fmla="*/ 116 w 279"/>
                <a:gd name="T39" fmla="*/ 39 h 244"/>
                <a:gd name="T40" fmla="*/ 117 w 279"/>
                <a:gd name="T41" fmla="*/ 45 h 244"/>
                <a:gd name="T42" fmla="*/ 119 w 279"/>
                <a:gd name="T43" fmla="*/ 46 h 244"/>
                <a:gd name="T44" fmla="*/ 123 w 279"/>
                <a:gd name="T45" fmla="*/ 55 h 244"/>
                <a:gd name="T46" fmla="*/ 123 w 279"/>
                <a:gd name="T47" fmla="*/ 58 h 244"/>
                <a:gd name="T48" fmla="*/ 126 w 279"/>
                <a:gd name="T49" fmla="*/ 63 h 244"/>
                <a:gd name="T50" fmla="*/ 126 w 279"/>
                <a:gd name="T51" fmla="*/ 67 h 244"/>
                <a:gd name="T52" fmla="*/ 129 w 279"/>
                <a:gd name="T53" fmla="*/ 71 h 244"/>
                <a:gd name="T54" fmla="*/ 129 w 279"/>
                <a:gd name="T55" fmla="*/ 75 h 244"/>
                <a:gd name="T56" fmla="*/ 131 w 279"/>
                <a:gd name="T57" fmla="*/ 81 h 244"/>
                <a:gd name="T58" fmla="*/ 131 w 279"/>
                <a:gd name="T59" fmla="*/ 86 h 244"/>
                <a:gd name="T60" fmla="*/ 132 w 279"/>
                <a:gd name="T61" fmla="*/ 90 h 244"/>
                <a:gd name="T62" fmla="*/ 132 w 279"/>
                <a:gd name="T63" fmla="*/ 95 h 244"/>
                <a:gd name="T64" fmla="*/ 132 w 279"/>
                <a:gd name="T65" fmla="*/ 99 h 244"/>
                <a:gd name="T66" fmla="*/ 132 w 279"/>
                <a:gd name="T67" fmla="*/ 103 h 244"/>
                <a:gd name="T68" fmla="*/ 132 w 279"/>
                <a:gd name="T69" fmla="*/ 109 h 244"/>
                <a:gd name="T70" fmla="*/ 132 w 279"/>
                <a:gd name="T71" fmla="*/ 113 h 244"/>
                <a:gd name="T72" fmla="*/ 135 w 279"/>
                <a:gd name="T73" fmla="*/ 119 h 244"/>
                <a:gd name="T74" fmla="*/ 136 w 279"/>
                <a:gd name="T75" fmla="*/ 124 h 244"/>
                <a:gd name="T76" fmla="*/ 136 w 279"/>
                <a:gd name="T77" fmla="*/ 128 h 244"/>
                <a:gd name="T78" fmla="*/ 136 w 279"/>
                <a:gd name="T79" fmla="*/ 134 h 244"/>
                <a:gd name="T80" fmla="*/ 137 w 279"/>
                <a:gd name="T81" fmla="*/ 138 h 244"/>
                <a:gd name="T82" fmla="*/ 137 w 279"/>
                <a:gd name="T83" fmla="*/ 143 h 244"/>
                <a:gd name="T84" fmla="*/ 137 w 279"/>
                <a:gd name="T85" fmla="*/ 147 h 244"/>
                <a:gd name="T86" fmla="*/ 136 w 279"/>
                <a:gd name="T87" fmla="*/ 153 h 244"/>
                <a:gd name="T88" fmla="*/ 136 w 279"/>
                <a:gd name="T89" fmla="*/ 156 h 244"/>
                <a:gd name="T90" fmla="*/ 137 w 279"/>
                <a:gd name="T91" fmla="*/ 162 h 244"/>
                <a:gd name="T92" fmla="*/ 138 w 279"/>
                <a:gd name="T93" fmla="*/ 167 h 244"/>
                <a:gd name="T94" fmla="*/ 136 w 279"/>
                <a:gd name="T95" fmla="*/ 172 h 244"/>
                <a:gd name="T96" fmla="*/ 133 w 279"/>
                <a:gd name="T97" fmla="*/ 181 h 244"/>
                <a:gd name="T98" fmla="*/ 0 w 279"/>
                <a:gd name="T99" fmla="*/ 243 h 24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79"/>
                <a:gd name="T151" fmla="*/ 0 h 244"/>
                <a:gd name="T152" fmla="*/ 279 w 279"/>
                <a:gd name="T153" fmla="*/ 244 h 24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79" h="244">
                  <a:moveTo>
                    <a:pt x="0" y="243"/>
                  </a:moveTo>
                  <a:lnTo>
                    <a:pt x="148" y="1"/>
                  </a:lnTo>
                  <a:lnTo>
                    <a:pt x="160" y="0"/>
                  </a:lnTo>
                  <a:lnTo>
                    <a:pt x="167" y="3"/>
                  </a:lnTo>
                  <a:lnTo>
                    <a:pt x="168" y="6"/>
                  </a:lnTo>
                  <a:lnTo>
                    <a:pt x="173" y="5"/>
                  </a:lnTo>
                  <a:lnTo>
                    <a:pt x="177" y="9"/>
                  </a:lnTo>
                  <a:lnTo>
                    <a:pt x="182" y="7"/>
                  </a:lnTo>
                  <a:lnTo>
                    <a:pt x="184" y="12"/>
                  </a:lnTo>
                  <a:lnTo>
                    <a:pt x="190" y="13"/>
                  </a:lnTo>
                  <a:lnTo>
                    <a:pt x="196" y="14"/>
                  </a:lnTo>
                  <a:lnTo>
                    <a:pt x="201" y="15"/>
                  </a:lnTo>
                  <a:lnTo>
                    <a:pt x="205" y="19"/>
                  </a:lnTo>
                  <a:lnTo>
                    <a:pt x="210" y="20"/>
                  </a:lnTo>
                  <a:lnTo>
                    <a:pt x="215" y="23"/>
                  </a:lnTo>
                  <a:lnTo>
                    <a:pt x="222" y="25"/>
                  </a:lnTo>
                  <a:lnTo>
                    <a:pt x="226" y="29"/>
                  </a:lnTo>
                  <a:lnTo>
                    <a:pt x="229" y="32"/>
                  </a:lnTo>
                  <a:lnTo>
                    <a:pt x="231" y="36"/>
                  </a:lnTo>
                  <a:lnTo>
                    <a:pt x="235" y="39"/>
                  </a:lnTo>
                  <a:lnTo>
                    <a:pt x="238" y="45"/>
                  </a:lnTo>
                  <a:lnTo>
                    <a:pt x="242" y="46"/>
                  </a:lnTo>
                  <a:lnTo>
                    <a:pt x="248" y="55"/>
                  </a:lnTo>
                  <a:lnTo>
                    <a:pt x="249" y="58"/>
                  </a:lnTo>
                  <a:lnTo>
                    <a:pt x="255" y="63"/>
                  </a:lnTo>
                  <a:lnTo>
                    <a:pt x="256" y="67"/>
                  </a:lnTo>
                  <a:lnTo>
                    <a:pt x="261" y="71"/>
                  </a:lnTo>
                  <a:lnTo>
                    <a:pt x="261" y="75"/>
                  </a:lnTo>
                  <a:lnTo>
                    <a:pt x="264" y="81"/>
                  </a:lnTo>
                  <a:lnTo>
                    <a:pt x="264" y="86"/>
                  </a:lnTo>
                  <a:lnTo>
                    <a:pt x="266" y="90"/>
                  </a:lnTo>
                  <a:lnTo>
                    <a:pt x="266" y="95"/>
                  </a:lnTo>
                  <a:lnTo>
                    <a:pt x="268" y="99"/>
                  </a:lnTo>
                  <a:lnTo>
                    <a:pt x="267" y="103"/>
                  </a:lnTo>
                  <a:lnTo>
                    <a:pt x="268" y="109"/>
                  </a:lnTo>
                  <a:lnTo>
                    <a:pt x="269" y="113"/>
                  </a:lnTo>
                  <a:lnTo>
                    <a:pt x="273" y="119"/>
                  </a:lnTo>
                  <a:lnTo>
                    <a:pt x="274" y="124"/>
                  </a:lnTo>
                  <a:lnTo>
                    <a:pt x="275" y="128"/>
                  </a:lnTo>
                  <a:lnTo>
                    <a:pt x="276" y="134"/>
                  </a:lnTo>
                  <a:lnTo>
                    <a:pt x="277" y="138"/>
                  </a:lnTo>
                  <a:lnTo>
                    <a:pt x="277" y="143"/>
                  </a:lnTo>
                  <a:lnTo>
                    <a:pt x="277" y="147"/>
                  </a:lnTo>
                  <a:lnTo>
                    <a:pt x="274" y="153"/>
                  </a:lnTo>
                  <a:lnTo>
                    <a:pt x="276" y="156"/>
                  </a:lnTo>
                  <a:lnTo>
                    <a:pt x="277" y="162"/>
                  </a:lnTo>
                  <a:lnTo>
                    <a:pt x="278" y="167"/>
                  </a:lnTo>
                  <a:lnTo>
                    <a:pt x="275" y="172"/>
                  </a:lnTo>
                  <a:lnTo>
                    <a:pt x="271" y="181"/>
                  </a:lnTo>
                  <a:lnTo>
                    <a:pt x="0" y="243"/>
                  </a:lnTo>
                </a:path>
              </a:pathLst>
            </a:custGeom>
            <a:noFill/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Arc 57"/>
            <p:cNvSpPr>
              <a:spLocks/>
            </p:cNvSpPr>
            <p:nvPr/>
          </p:nvSpPr>
          <p:spPr bwMode="auto">
            <a:xfrm rot="720000">
              <a:off x="2510" y="3846"/>
              <a:ext cx="133" cy="149"/>
            </a:xfrm>
            <a:custGeom>
              <a:avLst/>
              <a:gdLst>
                <a:gd name="T0" fmla="*/ 0 w 21745"/>
                <a:gd name="T1" fmla="*/ 0 h 21600"/>
                <a:gd name="T2" fmla="*/ 0 w 21745"/>
                <a:gd name="T3" fmla="*/ 0 h 21600"/>
                <a:gd name="T4" fmla="*/ 0 w 2174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45"/>
                <a:gd name="T10" fmla="*/ 0 h 21600"/>
                <a:gd name="T11" fmla="*/ 21745 w 2174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45" h="21600" fill="none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</a:path>
                <a:path w="21745" h="21600" stroke="0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  <a:lnTo>
                    <a:pt x="145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7" name="Line 58"/>
            <p:cNvSpPr>
              <a:spLocks noChangeShapeType="1"/>
            </p:cNvSpPr>
            <p:nvPr/>
          </p:nvSpPr>
          <p:spPr bwMode="auto">
            <a:xfrm flipH="1">
              <a:off x="2384" y="3732"/>
              <a:ext cx="191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8" name="Oval 59"/>
            <p:cNvSpPr>
              <a:spLocks noChangeArrowheads="1"/>
            </p:cNvSpPr>
            <p:nvPr/>
          </p:nvSpPr>
          <p:spPr bwMode="auto">
            <a:xfrm rot="-1860000">
              <a:off x="2559" y="3849"/>
              <a:ext cx="63" cy="1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9" name="Line 60"/>
            <p:cNvSpPr>
              <a:spLocks noChangeShapeType="1"/>
            </p:cNvSpPr>
            <p:nvPr/>
          </p:nvSpPr>
          <p:spPr bwMode="auto">
            <a:xfrm flipV="1">
              <a:off x="2384" y="3988"/>
              <a:ext cx="35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0" name="Line 61"/>
            <p:cNvSpPr>
              <a:spLocks noChangeShapeType="1"/>
            </p:cNvSpPr>
            <p:nvPr/>
          </p:nvSpPr>
          <p:spPr bwMode="auto">
            <a:xfrm>
              <a:off x="1207" y="1989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Line 62"/>
            <p:cNvSpPr>
              <a:spLocks noChangeShapeType="1"/>
            </p:cNvSpPr>
            <p:nvPr/>
          </p:nvSpPr>
          <p:spPr bwMode="auto">
            <a:xfrm>
              <a:off x="1202" y="2827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Line 63"/>
            <p:cNvSpPr>
              <a:spLocks noChangeShapeType="1"/>
            </p:cNvSpPr>
            <p:nvPr/>
          </p:nvSpPr>
          <p:spPr bwMode="auto">
            <a:xfrm>
              <a:off x="433" y="2021"/>
              <a:ext cx="762" cy="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Line 64"/>
            <p:cNvSpPr>
              <a:spLocks noChangeShapeType="1"/>
            </p:cNvSpPr>
            <p:nvPr/>
          </p:nvSpPr>
          <p:spPr bwMode="auto">
            <a:xfrm>
              <a:off x="2406" y="3121"/>
              <a:ext cx="762" cy="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Line 65"/>
            <p:cNvSpPr>
              <a:spLocks noChangeShapeType="1"/>
            </p:cNvSpPr>
            <p:nvPr/>
          </p:nvSpPr>
          <p:spPr bwMode="auto">
            <a:xfrm>
              <a:off x="1207" y="2453"/>
              <a:ext cx="1193" cy="6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5" name="Oval 66"/>
            <p:cNvSpPr>
              <a:spLocks noChangeArrowheads="1"/>
            </p:cNvSpPr>
            <p:nvPr/>
          </p:nvSpPr>
          <p:spPr bwMode="auto">
            <a:xfrm>
              <a:off x="2570" y="3201"/>
              <a:ext cx="36" cy="40"/>
            </a:xfrm>
            <a:prstGeom prst="ellipse">
              <a:avLst/>
            </a:prstGeom>
            <a:solidFill>
              <a:srgbClr val="037C03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6" name="Oval 67"/>
            <p:cNvSpPr>
              <a:spLocks noChangeArrowheads="1"/>
            </p:cNvSpPr>
            <p:nvPr/>
          </p:nvSpPr>
          <p:spPr bwMode="auto">
            <a:xfrm>
              <a:off x="948" y="2299"/>
              <a:ext cx="36" cy="40"/>
            </a:xfrm>
            <a:prstGeom prst="ellipse">
              <a:avLst/>
            </a:prstGeom>
            <a:solidFill>
              <a:srgbClr val="037C03"/>
            </a:solidFill>
            <a:ln w="127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298" name="Line 68"/>
          <p:cNvSpPr>
            <a:spLocks noChangeShapeType="1"/>
          </p:cNvSpPr>
          <p:nvPr/>
        </p:nvSpPr>
        <p:spPr bwMode="auto">
          <a:xfrm flipH="1" flipV="1">
            <a:off x="2895600" y="38862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99" name="Text Box 69"/>
          <p:cNvSpPr txBox="1">
            <a:spLocks noChangeArrowheads="1"/>
          </p:cNvSpPr>
          <p:nvPr/>
        </p:nvSpPr>
        <p:spPr bwMode="auto">
          <a:xfrm>
            <a:off x="2955925" y="4076701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t</a:t>
            </a:r>
          </a:p>
        </p:txBody>
      </p:sp>
      <p:sp>
        <p:nvSpPr>
          <p:cNvPr id="12300" name="Text Box 70"/>
          <p:cNvSpPr txBox="1">
            <a:spLocks noChangeArrowheads="1"/>
          </p:cNvSpPr>
          <p:nvPr/>
        </p:nvSpPr>
        <p:spPr bwMode="auto">
          <a:xfrm>
            <a:off x="2667000" y="2514601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x</a:t>
            </a:r>
          </a:p>
        </p:txBody>
      </p:sp>
      <p:sp>
        <p:nvSpPr>
          <p:cNvPr id="12301" name="Text Box 71"/>
          <p:cNvSpPr txBox="1">
            <a:spLocks noChangeArrowheads="1"/>
          </p:cNvSpPr>
          <p:nvPr/>
        </p:nvSpPr>
        <p:spPr bwMode="auto">
          <a:xfrm>
            <a:off x="4514850" y="3505201"/>
            <a:ext cx="361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x’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8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Depth from disparity</a:t>
            </a:r>
          </a:p>
        </p:txBody>
      </p:sp>
      <p:sp>
        <p:nvSpPr>
          <p:cNvPr id="13318" name="Oval 5"/>
          <p:cNvSpPr>
            <a:spLocks noChangeArrowheads="1"/>
          </p:cNvSpPr>
          <p:nvPr/>
        </p:nvSpPr>
        <p:spPr bwMode="auto">
          <a:xfrm>
            <a:off x="4916489" y="4069126"/>
            <a:ext cx="90487" cy="9178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Oval 6"/>
          <p:cNvSpPr>
            <a:spLocks noChangeArrowheads="1"/>
          </p:cNvSpPr>
          <p:nvPr/>
        </p:nvSpPr>
        <p:spPr bwMode="auto">
          <a:xfrm>
            <a:off x="7359651" y="4069126"/>
            <a:ext cx="90487" cy="9178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>
            <a:off x="4373564" y="3426651"/>
            <a:ext cx="1176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Line 8"/>
          <p:cNvSpPr>
            <a:spLocks noChangeShapeType="1"/>
          </p:cNvSpPr>
          <p:nvPr/>
        </p:nvSpPr>
        <p:spPr bwMode="auto">
          <a:xfrm>
            <a:off x="6816726" y="3426651"/>
            <a:ext cx="1176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Oval 9"/>
          <p:cNvSpPr>
            <a:spLocks noChangeArrowheads="1"/>
          </p:cNvSpPr>
          <p:nvPr/>
        </p:nvSpPr>
        <p:spPr bwMode="auto">
          <a:xfrm>
            <a:off x="6055123" y="1459071"/>
            <a:ext cx="90487" cy="9178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Line 10"/>
          <p:cNvSpPr>
            <a:spLocks noChangeShapeType="1"/>
          </p:cNvSpPr>
          <p:nvPr/>
        </p:nvSpPr>
        <p:spPr bwMode="auto">
          <a:xfrm flipV="1">
            <a:off x="5006975" y="1499226"/>
            <a:ext cx="1085850" cy="2569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4" name="Line 11"/>
          <p:cNvSpPr>
            <a:spLocks noChangeShapeType="1"/>
          </p:cNvSpPr>
          <p:nvPr/>
        </p:nvSpPr>
        <p:spPr bwMode="auto">
          <a:xfrm flipH="1" flipV="1">
            <a:off x="6092825" y="1499226"/>
            <a:ext cx="1357312" cy="26616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Line 12"/>
          <p:cNvSpPr>
            <a:spLocks noChangeShapeType="1"/>
          </p:cNvSpPr>
          <p:nvPr/>
        </p:nvSpPr>
        <p:spPr bwMode="auto">
          <a:xfrm flipV="1">
            <a:off x="4969272" y="3426652"/>
            <a:ext cx="0" cy="642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6" name="Text Box 13"/>
          <p:cNvSpPr txBox="1">
            <a:spLocks noChangeArrowheads="1"/>
          </p:cNvSpPr>
          <p:nvPr/>
        </p:nvSpPr>
        <p:spPr bwMode="auto">
          <a:xfrm>
            <a:off x="4715837" y="3558260"/>
            <a:ext cx="271228" cy="43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f</a:t>
            </a:r>
          </a:p>
        </p:txBody>
      </p:sp>
      <p:sp>
        <p:nvSpPr>
          <p:cNvPr id="13327" name="Oval 14"/>
          <p:cNvSpPr>
            <a:spLocks noChangeArrowheads="1"/>
          </p:cNvSpPr>
          <p:nvPr/>
        </p:nvSpPr>
        <p:spPr bwMode="auto">
          <a:xfrm>
            <a:off x="5240736" y="3375023"/>
            <a:ext cx="90487" cy="9178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Oval 15"/>
          <p:cNvSpPr>
            <a:spLocks noChangeArrowheads="1"/>
          </p:cNvSpPr>
          <p:nvPr/>
        </p:nvSpPr>
        <p:spPr bwMode="auto">
          <a:xfrm>
            <a:off x="7037289" y="3375023"/>
            <a:ext cx="90487" cy="9178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Line 16"/>
          <p:cNvSpPr>
            <a:spLocks noChangeShapeType="1"/>
          </p:cNvSpPr>
          <p:nvPr/>
        </p:nvSpPr>
        <p:spPr bwMode="auto">
          <a:xfrm flipV="1">
            <a:off x="7086600" y="3461085"/>
            <a:ext cx="0" cy="642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Line 17"/>
          <p:cNvSpPr>
            <a:spLocks noChangeShapeType="1"/>
          </p:cNvSpPr>
          <p:nvPr/>
        </p:nvSpPr>
        <p:spPr bwMode="auto">
          <a:xfrm>
            <a:off x="4916488" y="3334869"/>
            <a:ext cx="361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sm"/>
            <a:tailEnd type="arrow" w="med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3" name="Text Box 20"/>
          <p:cNvSpPr txBox="1">
            <a:spLocks noChangeArrowheads="1"/>
          </p:cNvSpPr>
          <p:nvPr/>
        </p:nvSpPr>
        <p:spPr bwMode="auto">
          <a:xfrm>
            <a:off x="7087788" y="2969560"/>
            <a:ext cx="384080" cy="43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 dirty="0"/>
              <a:t>x’</a:t>
            </a:r>
          </a:p>
        </p:txBody>
      </p:sp>
      <p:sp>
        <p:nvSpPr>
          <p:cNvPr id="13334" name="Text Box 21"/>
          <p:cNvSpPr txBox="1">
            <a:spLocks noChangeArrowheads="1"/>
          </p:cNvSpPr>
          <p:nvPr/>
        </p:nvSpPr>
        <p:spPr bwMode="auto">
          <a:xfrm>
            <a:off x="5603058" y="4143317"/>
            <a:ext cx="1141658" cy="7694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Baseline</a:t>
            </a:r>
            <a:br>
              <a:rPr lang="en-US" sz="2200"/>
            </a:br>
            <a:r>
              <a:rPr lang="en-US" sz="2200"/>
              <a:t>B</a:t>
            </a:r>
          </a:p>
        </p:txBody>
      </p:sp>
      <p:sp>
        <p:nvSpPr>
          <p:cNvPr id="13335" name="Line 22"/>
          <p:cNvSpPr>
            <a:spLocks noChangeShapeType="1"/>
          </p:cNvSpPr>
          <p:nvPr/>
        </p:nvSpPr>
        <p:spPr bwMode="auto">
          <a:xfrm flipV="1">
            <a:off x="8264525" y="1499226"/>
            <a:ext cx="0" cy="26616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6" name="Text Box 23"/>
          <p:cNvSpPr txBox="1">
            <a:spLocks noChangeArrowheads="1"/>
          </p:cNvSpPr>
          <p:nvPr/>
        </p:nvSpPr>
        <p:spPr bwMode="auto">
          <a:xfrm>
            <a:off x="8376238" y="2456874"/>
            <a:ext cx="296876" cy="43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z</a:t>
            </a:r>
          </a:p>
        </p:txBody>
      </p:sp>
      <p:sp>
        <p:nvSpPr>
          <p:cNvPr id="13337" name="Text Box 24"/>
          <p:cNvSpPr txBox="1">
            <a:spLocks noChangeArrowheads="1"/>
          </p:cNvSpPr>
          <p:nvPr/>
        </p:nvSpPr>
        <p:spPr bwMode="auto">
          <a:xfrm>
            <a:off x="4516835" y="4147195"/>
            <a:ext cx="916186" cy="43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O</a:t>
            </a:r>
            <a:endParaRPr lang="en-US" sz="2200" baseline="-25000"/>
          </a:p>
        </p:txBody>
      </p:sp>
      <p:sp>
        <p:nvSpPr>
          <p:cNvPr id="13338" name="Text Box 25"/>
          <p:cNvSpPr txBox="1">
            <a:spLocks noChangeArrowheads="1"/>
          </p:cNvSpPr>
          <p:nvPr/>
        </p:nvSpPr>
        <p:spPr bwMode="auto">
          <a:xfrm>
            <a:off x="6997700" y="4147195"/>
            <a:ext cx="916186" cy="43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O’</a:t>
            </a:r>
            <a:endParaRPr lang="en-US" sz="2200" baseline="-25000"/>
          </a:p>
        </p:txBody>
      </p:sp>
      <p:sp>
        <p:nvSpPr>
          <p:cNvPr id="13339" name="Text Box 26"/>
          <p:cNvSpPr txBox="1">
            <a:spLocks noChangeArrowheads="1"/>
          </p:cNvSpPr>
          <p:nvPr/>
        </p:nvSpPr>
        <p:spPr bwMode="auto">
          <a:xfrm>
            <a:off x="5640388" y="990601"/>
            <a:ext cx="916186" cy="4283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X</a:t>
            </a:r>
            <a:endParaRPr lang="en-US" sz="2200" baseline="-25000"/>
          </a:p>
        </p:txBody>
      </p:sp>
      <p:sp>
        <p:nvSpPr>
          <p:cNvPr id="13340" name="Line 27"/>
          <p:cNvSpPr>
            <a:spLocks noChangeShapeType="1"/>
          </p:cNvSpPr>
          <p:nvPr/>
        </p:nvSpPr>
        <p:spPr bwMode="auto">
          <a:xfrm>
            <a:off x="5059761" y="4109281"/>
            <a:ext cx="2262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41" name="Text Box 28"/>
          <p:cNvSpPr txBox="1">
            <a:spLocks noChangeArrowheads="1"/>
          </p:cNvSpPr>
          <p:nvPr/>
        </p:nvSpPr>
        <p:spPr bwMode="auto">
          <a:xfrm>
            <a:off x="6777205" y="3656316"/>
            <a:ext cx="271228" cy="43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 dirty="0"/>
              <a:t>f</a:t>
            </a:r>
          </a:p>
        </p:txBody>
      </p:sp>
      <p:graphicFrame>
        <p:nvGraphicFramePr>
          <p:cNvPr id="426028" name="Object 44"/>
          <p:cNvGraphicFramePr>
            <a:graphicFrameLocks noGrp="1" noChangeAspect="1"/>
          </p:cNvGraphicFramePr>
          <p:nvPr>
            <p:ph idx="1"/>
          </p:nvPr>
        </p:nvGraphicFramePr>
        <p:xfrm>
          <a:off x="4495800" y="5029201"/>
          <a:ext cx="35814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393480" progId="Equation.3">
                  <p:embed/>
                </p:oleObj>
              </mc:Choice>
              <mc:Fallback>
                <p:oleObj name="Equation" r:id="rId3" imgW="1536480" imgH="393480" progId="Equation.3">
                  <p:embed/>
                  <p:pic>
                    <p:nvPicPr>
                      <p:cNvPr id="42602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029201"/>
                        <a:ext cx="3581400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32" name="Text Box 48"/>
          <p:cNvSpPr txBox="1">
            <a:spLocks noChangeArrowheads="1"/>
          </p:cNvSpPr>
          <p:nvPr/>
        </p:nvSpPr>
        <p:spPr bwMode="auto">
          <a:xfrm>
            <a:off x="4002391" y="6096000"/>
            <a:ext cx="42424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Disparity is inversely proportional to depth.</a:t>
            </a:r>
          </a:p>
        </p:txBody>
      </p:sp>
      <p:sp>
        <p:nvSpPr>
          <p:cNvPr id="30" name="Line 17"/>
          <p:cNvSpPr>
            <a:spLocks noChangeShapeType="1"/>
          </p:cNvSpPr>
          <p:nvPr/>
        </p:nvSpPr>
        <p:spPr bwMode="auto">
          <a:xfrm>
            <a:off x="6827520" y="3352800"/>
            <a:ext cx="18288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sm"/>
            <a:tailEnd type="arrow" w="med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Text Box 18"/>
          <p:cNvSpPr txBox="1">
            <a:spLocks noChangeArrowheads="1"/>
          </p:cNvSpPr>
          <p:nvPr/>
        </p:nvSpPr>
        <p:spPr bwMode="auto">
          <a:xfrm>
            <a:off x="4970608" y="2917697"/>
            <a:ext cx="306494" cy="43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x</a:t>
            </a:r>
          </a:p>
        </p:txBody>
      </p:sp>
      <p:graphicFrame>
        <p:nvGraphicFramePr>
          <p:cNvPr id="4" name="Object 44"/>
          <p:cNvGraphicFramePr>
            <a:graphicFrameLocks noChangeAspect="1"/>
          </p:cNvGraphicFramePr>
          <p:nvPr/>
        </p:nvGraphicFramePr>
        <p:xfrm>
          <a:off x="2398713" y="2316164"/>
          <a:ext cx="177800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393480" progId="Equation.3">
                  <p:embed/>
                </p:oleObj>
              </mc:Choice>
              <mc:Fallback>
                <p:oleObj name="Equation" r:id="rId5" imgW="761760" imgH="393480" progId="Equation.3">
                  <p:embed/>
                  <p:pic>
                    <p:nvPicPr>
                      <p:cNvPr id="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2316164"/>
                        <a:ext cx="1778000" cy="915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03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reeform 2"/>
          <p:cNvSpPr>
            <a:spLocks/>
          </p:cNvSpPr>
          <p:nvPr/>
        </p:nvSpPr>
        <p:spPr bwMode="auto">
          <a:xfrm>
            <a:off x="7942264" y="685800"/>
            <a:ext cx="1220787" cy="839788"/>
          </a:xfrm>
          <a:custGeom>
            <a:avLst/>
            <a:gdLst>
              <a:gd name="T0" fmla="*/ 2147483647 w 865"/>
              <a:gd name="T1" fmla="*/ 0 h 529"/>
              <a:gd name="T2" fmla="*/ 2147483647 w 865"/>
              <a:gd name="T3" fmla="*/ 2147483647 h 529"/>
              <a:gd name="T4" fmla="*/ 2147483647 w 865"/>
              <a:gd name="T5" fmla="*/ 2147483647 h 529"/>
              <a:gd name="T6" fmla="*/ 2147483647 w 865"/>
              <a:gd name="T7" fmla="*/ 2147483647 h 529"/>
              <a:gd name="T8" fmla="*/ 2147483647 w 865"/>
              <a:gd name="T9" fmla="*/ 2147483647 h 529"/>
              <a:gd name="T10" fmla="*/ 2147483647 w 865"/>
              <a:gd name="T11" fmla="*/ 2147483647 h 529"/>
              <a:gd name="T12" fmla="*/ 2147483647 w 865"/>
              <a:gd name="T13" fmla="*/ 2147483647 h 529"/>
              <a:gd name="T14" fmla="*/ 2147483647 w 865"/>
              <a:gd name="T15" fmla="*/ 2147483647 h 529"/>
              <a:gd name="T16" fmla="*/ 2147483647 w 865"/>
              <a:gd name="T17" fmla="*/ 2147483647 h 529"/>
              <a:gd name="T18" fmla="*/ 0 w 865"/>
              <a:gd name="T19" fmla="*/ 2147483647 h 529"/>
              <a:gd name="T20" fmla="*/ 0 w 865"/>
              <a:gd name="T21" fmla="*/ 2147483647 h 529"/>
              <a:gd name="T22" fmla="*/ 0 w 865"/>
              <a:gd name="T23" fmla="*/ 2147483647 h 529"/>
              <a:gd name="T24" fmla="*/ 2147483647 w 865"/>
              <a:gd name="T25" fmla="*/ 2147483647 h 529"/>
              <a:gd name="T26" fmla="*/ 2147483647 w 865"/>
              <a:gd name="T27" fmla="*/ 2147483647 h 529"/>
              <a:gd name="T28" fmla="*/ 2147483647 w 865"/>
              <a:gd name="T29" fmla="*/ 2147483647 h 529"/>
              <a:gd name="T30" fmla="*/ 2147483647 w 865"/>
              <a:gd name="T31" fmla="*/ 2147483647 h 529"/>
              <a:gd name="T32" fmla="*/ 2147483647 w 865"/>
              <a:gd name="T33" fmla="*/ 2147483647 h 529"/>
              <a:gd name="T34" fmla="*/ 2147483647 w 865"/>
              <a:gd name="T35" fmla="*/ 2147483647 h 529"/>
              <a:gd name="T36" fmla="*/ 2147483647 w 865"/>
              <a:gd name="T37" fmla="*/ 2147483647 h 529"/>
              <a:gd name="T38" fmla="*/ 2147483647 w 865"/>
              <a:gd name="T39" fmla="*/ 2147483647 h 529"/>
              <a:gd name="T40" fmla="*/ 2147483647 w 865"/>
              <a:gd name="T41" fmla="*/ 2147483647 h 529"/>
              <a:gd name="T42" fmla="*/ 2147483647 w 865"/>
              <a:gd name="T43" fmla="*/ 2147483647 h 529"/>
              <a:gd name="T44" fmla="*/ 2147483647 w 865"/>
              <a:gd name="T45" fmla="*/ 2147483647 h 529"/>
              <a:gd name="T46" fmla="*/ 2147483647 w 865"/>
              <a:gd name="T47" fmla="*/ 2147483647 h 529"/>
              <a:gd name="T48" fmla="*/ 2147483647 w 865"/>
              <a:gd name="T49" fmla="*/ 2147483647 h 529"/>
              <a:gd name="T50" fmla="*/ 2147483647 w 865"/>
              <a:gd name="T51" fmla="*/ 2147483647 h 529"/>
              <a:gd name="T52" fmla="*/ 2147483647 w 865"/>
              <a:gd name="T53" fmla="*/ 2147483647 h 529"/>
              <a:gd name="T54" fmla="*/ 2147483647 w 865"/>
              <a:gd name="T55" fmla="*/ 2147483647 h 529"/>
              <a:gd name="T56" fmla="*/ 2147483647 w 865"/>
              <a:gd name="T57" fmla="*/ 2147483647 h 529"/>
              <a:gd name="T58" fmla="*/ 2147483647 w 865"/>
              <a:gd name="T59" fmla="*/ 2147483647 h 529"/>
              <a:gd name="T60" fmla="*/ 2147483647 w 865"/>
              <a:gd name="T61" fmla="*/ 2147483647 h 529"/>
              <a:gd name="T62" fmla="*/ 2147483647 w 865"/>
              <a:gd name="T63" fmla="*/ 2147483647 h 529"/>
              <a:gd name="T64" fmla="*/ 2147483647 w 865"/>
              <a:gd name="T65" fmla="*/ 2147483647 h 529"/>
              <a:gd name="T66" fmla="*/ 2147483647 w 865"/>
              <a:gd name="T67" fmla="*/ 2147483647 h 529"/>
              <a:gd name="T68" fmla="*/ 2147483647 w 865"/>
              <a:gd name="T69" fmla="*/ 2147483647 h 529"/>
              <a:gd name="T70" fmla="*/ 2147483647 w 865"/>
              <a:gd name="T71" fmla="*/ 2147483647 h 529"/>
              <a:gd name="T72" fmla="*/ 2147483647 w 865"/>
              <a:gd name="T73" fmla="*/ 2147483647 h 529"/>
              <a:gd name="T74" fmla="*/ 2147483647 w 865"/>
              <a:gd name="T75" fmla="*/ 2147483647 h 529"/>
              <a:gd name="T76" fmla="*/ 2147483647 w 865"/>
              <a:gd name="T77" fmla="*/ 2147483647 h 529"/>
              <a:gd name="T78" fmla="*/ 2147483647 w 865"/>
              <a:gd name="T79" fmla="*/ 0 h 52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865"/>
              <a:gd name="T121" fmla="*/ 0 h 529"/>
              <a:gd name="T122" fmla="*/ 865 w 865"/>
              <a:gd name="T123" fmla="*/ 529 h 529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865" h="529">
                <a:moveTo>
                  <a:pt x="84" y="0"/>
                </a:moveTo>
                <a:lnTo>
                  <a:pt x="72" y="24"/>
                </a:lnTo>
                <a:lnTo>
                  <a:pt x="72" y="48"/>
                </a:lnTo>
                <a:lnTo>
                  <a:pt x="48" y="72"/>
                </a:lnTo>
                <a:lnTo>
                  <a:pt x="36" y="96"/>
                </a:lnTo>
                <a:lnTo>
                  <a:pt x="36" y="120"/>
                </a:lnTo>
                <a:lnTo>
                  <a:pt x="36" y="144"/>
                </a:lnTo>
                <a:lnTo>
                  <a:pt x="24" y="168"/>
                </a:lnTo>
                <a:lnTo>
                  <a:pt x="12" y="192"/>
                </a:lnTo>
                <a:lnTo>
                  <a:pt x="0" y="216"/>
                </a:lnTo>
                <a:lnTo>
                  <a:pt x="0" y="240"/>
                </a:lnTo>
                <a:lnTo>
                  <a:pt x="0" y="264"/>
                </a:lnTo>
                <a:lnTo>
                  <a:pt x="12" y="288"/>
                </a:lnTo>
                <a:lnTo>
                  <a:pt x="12" y="312"/>
                </a:lnTo>
                <a:lnTo>
                  <a:pt x="24" y="336"/>
                </a:lnTo>
                <a:lnTo>
                  <a:pt x="24" y="360"/>
                </a:lnTo>
                <a:lnTo>
                  <a:pt x="36" y="384"/>
                </a:lnTo>
                <a:lnTo>
                  <a:pt x="36" y="408"/>
                </a:lnTo>
                <a:lnTo>
                  <a:pt x="48" y="432"/>
                </a:lnTo>
                <a:lnTo>
                  <a:pt x="60" y="456"/>
                </a:lnTo>
                <a:lnTo>
                  <a:pt x="852" y="528"/>
                </a:lnTo>
                <a:lnTo>
                  <a:pt x="804" y="480"/>
                </a:lnTo>
                <a:lnTo>
                  <a:pt x="792" y="456"/>
                </a:lnTo>
                <a:lnTo>
                  <a:pt x="780" y="420"/>
                </a:lnTo>
                <a:lnTo>
                  <a:pt x="768" y="396"/>
                </a:lnTo>
                <a:lnTo>
                  <a:pt x="756" y="372"/>
                </a:lnTo>
                <a:lnTo>
                  <a:pt x="744" y="348"/>
                </a:lnTo>
                <a:lnTo>
                  <a:pt x="744" y="324"/>
                </a:lnTo>
                <a:lnTo>
                  <a:pt x="744" y="288"/>
                </a:lnTo>
                <a:lnTo>
                  <a:pt x="744" y="264"/>
                </a:lnTo>
                <a:lnTo>
                  <a:pt x="744" y="240"/>
                </a:lnTo>
                <a:lnTo>
                  <a:pt x="768" y="216"/>
                </a:lnTo>
                <a:lnTo>
                  <a:pt x="768" y="192"/>
                </a:lnTo>
                <a:lnTo>
                  <a:pt x="780" y="168"/>
                </a:lnTo>
                <a:lnTo>
                  <a:pt x="804" y="156"/>
                </a:lnTo>
                <a:lnTo>
                  <a:pt x="804" y="132"/>
                </a:lnTo>
                <a:lnTo>
                  <a:pt x="828" y="108"/>
                </a:lnTo>
                <a:lnTo>
                  <a:pt x="852" y="96"/>
                </a:lnTo>
                <a:lnTo>
                  <a:pt x="864" y="72"/>
                </a:lnTo>
                <a:lnTo>
                  <a:pt x="84" y="0"/>
                </a:lnTo>
              </a:path>
            </a:pathLst>
          </a:custGeom>
          <a:gradFill rotWithShape="0">
            <a:gsLst>
              <a:gs pos="0">
                <a:srgbClr val="012501"/>
              </a:gs>
              <a:gs pos="100000">
                <a:srgbClr val="037C03"/>
              </a:gs>
            </a:gsLst>
            <a:lin ang="18900000" scaled="1"/>
          </a:gra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1" name="Line 3"/>
          <p:cNvSpPr>
            <a:spLocks noChangeShapeType="1"/>
          </p:cNvSpPr>
          <p:nvPr/>
        </p:nvSpPr>
        <p:spPr bwMode="auto">
          <a:xfrm>
            <a:off x="5351463" y="4038600"/>
            <a:ext cx="325120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 flipV="1">
            <a:off x="6672263" y="990600"/>
            <a:ext cx="1795462" cy="177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3" name="Freeform 5"/>
          <p:cNvSpPr>
            <a:spLocks/>
          </p:cNvSpPr>
          <p:nvPr/>
        </p:nvSpPr>
        <p:spPr bwMode="auto">
          <a:xfrm>
            <a:off x="5283200" y="1447800"/>
            <a:ext cx="1695450" cy="1601788"/>
          </a:xfrm>
          <a:custGeom>
            <a:avLst/>
            <a:gdLst>
              <a:gd name="T0" fmla="*/ 2147483647 w 1201"/>
              <a:gd name="T1" fmla="*/ 2147483647 h 1009"/>
              <a:gd name="T2" fmla="*/ 2147483647 w 1201"/>
              <a:gd name="T3" fmla="*/ 2147483647 h 1009"/>
              <a:gd name="T4" fmla="*/ 2147483647 w 1201"/>
              <a:gd name="T5" fmla="*/ 2147483647 h 1009"/>
              <a:gd name="T6" fmla="*/ 0 w 1201"/>
              <a:gd name="T7" fmla="*/ 0 h 1009"/>
              <a:gd name="T8" fmla="*/ 2147483647 w 1201"/>
              <a:gd name="T9" fmla="*/ 2147483647 h 10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009"/>
              <a:gd name="T17" fmla="*/ 1201 w 1201"/>
              <a:gd name="T18" fmla="*/ 1009 h 100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1" h="1009">
                <a:moveTo>
                  <a:pt x="336" y="576"/>
                </a:moveTo>
                <a:lnTo>
                  <a:pt x="1200" y="1008"/>
                </a:lnTo>
                <a:lnTo>
                  <a:pt x="864" y="432"/>
                </a:lnTo>
                <a:lnTo>
                  <a:pt x="0" y="0"/>
                </a:lnTo>
                <a:lnTo>
                  <a:pt x="336" y="576"/>
                </a:lnTo>
              </a:path>
            </a:pathLst>
          </a:custGeom>
          <a:solidFill>
            <a:srgbClr val="919191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 flipH="1" flipV="1">
            <a:off x="8467726" y="990600"/>
            <a:ext cx="66675" cy="2438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5" name="Line 7"/>
          <p:cNvSpPr>
            <a:spLocks noChangeShapeType="1"/>
          </p:cNvSpPr>
          <p:nvPr/>
        </p:nvSpPr>
        <p:spPr bwMode="auto">
          <a:xfrm flipV="1">
            <a:off x="5994401" y="2743200"/>
            <a:ext cx="677863" cy="666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Freeform 8"/>
          <p:cNvSpPr>
            <a:spLocks/>
          </p:cNvSpPr>
          <p:nvPr/>
        </p:nvSpPr>
        <p:spPr bwMode="auto">
          <a:xfrm>
            <a:off x="8061326" y="2743200"/>
            <a:ext cx="1558925" cy="1525588"/>
          </a:xfrm>
          <a:custGeom>
            <a:avLst/>
            <a:gdLst>
              <a:gd name="T0" fmla="*/ 0 w 1105"/>
              <a:gd name="T1" fmla="*/ 2147483647 h 961"/>
              <a:gd name="T2" fmla="*/ 0 w 1105"/>
              <a:gd name="T3" fmla="*/ 2147483647 h 961"/>
              <a:gd name="T4" fmla="*/ 2147483647 w 1105"/>
              <a:gd name="T5" fmla="*/ 2147483647 h 961"/>
              <a:gd name="T6" fmla="*/ 2147483647 w 1105"/>
              <a:gd name="T7" fmla="*/ 0 h 961"/>
              <a:gd name="T8" fmla="*/ 0 w 1105"/>
              <a:gd name="T9" fmla="*/ 2147483647 h 9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5"/>
              <a:gd name="T16" fmla="*/ 0 h 961"/>
              <a:gd name="T17" fmla="*/ 1105 w 1105"/>
              <a:gd name="T18" fmla="*/ 961 h 9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5" h="961">
                <a:moveTo>
                  <a:pt x="0" y="202"/>
                </a:moveTo>
                <a:lnTo>
                  <a:pt x="0" y="960"/>
                </a:lnTo>
                <a:lnTo>
                  <a:pt x="1104" y="758"/>
                </a:lnTo>
                <a:lnTo>
                  <a:pt x="1104" y="0"/>
                </a:lnTo>
                <a:lnTo>
                  <a:pt x="0" y="202"/>
                </a:lnTo>
              </a:path>
            </a:pathLst>
          </a:custGeom>
          <a:solidFill>
            <a:srgbClr val="919191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 flipH="1" flipV="1">
            <a:off x="8534401" y="3429000"/>
            <a:ext cx="34925" cy="142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 flipV="1">
            <a:off x="5351464" y="3409950"/>
            <a:ext cx="6429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 flipH="1" flipV="1">
            <a:off x="8569325" y="4857750"/>
            <a:ext cx="33338" cy="1009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0" name="Freeform 14"/>
          <p:cNvSpPr>
            <a:spLocks/>
          </p:cNvSpPr>
          <p:nvPr/>
        </p:nvSpPr>
        <p:spPr bwMode="auto">
          <a:xfrm rot="-1766867">
            <a:off x="8556625" y="5854701"/>
            <a:ext cx="285750" cy="485775"/>
          </a:xfrm>
          <a:custGeom>
            <a:avLst/>
            <a:gdLst>
              <a:gd name="T0" fmla="*/ 2147483647 w 202"/>
              <a:gd name="T1" fmla="*/ 2147483647 h 306"/>
              <a:gd name="T2" fmla="*/ 0 w 202"/>
              <a:gd name="T3" fmla="*/ 2147483647 h 306"/>
              <a:gd name="T4" fmla="*/ 2147483647 w 202"/>
              <a:gd name="T5" fmla="*/ 2147483647 h 306"/>
              <a:gd name="T6" fmla="*/ 2147483647 w 202"/>
              <a:gd name="T7" fmla="*/ 2147483647 h 306"/>
              <a:gd name="T8" fmla="*/ 2147483647 w 202"/>
              <a:gd name="T9" fmla="*/ 2147483647 h 306"/>
              <a:gd name="T10" fmla="*/ 2147483647 w 202"/>
              <a:gd name="T11" fmla="*/ 2147483647 h 306"/>
              <a:gd name="T12" fmla="*/ 2147483647 w 202"/>
              <a:gd name="T13" fmla="*/ 2147483647 h 306"/>
              <a:gd name="T14" fmla="*/ 2147483647 w 202"/>
              <a:gd name="T15" fmla="*/ 2147483647 h 306"/>
              <a:gd name="T16" fmla="*/ 2147483647 w 202"/>
              <a:gd name="T17" fmla="*/ 2147483647 h 306"/>
              <a:gd name="T18" fmla="*/ 2147483647 w 202"/>
              <a:gd name="T19" fmla="*/ 2147483647 h 306"/>
              <a:gd name="T20" fmla="*/ 2147483647 w 202"/>
              <a:gd name="T21" fmla="*/ 2147483647 h 306"/>
              <a:gd name="T22" fmla="*/ 2147483647 w 202"/>
              <a:gd name="T23" fmla="*/ 2147483647 h 306"/>
              <a:gd name="T24" fmla="*/ 2147483647 w 202"/>
              <a:gd name="T25" fmla="*/ 2147483647 h 306"/>
              <a:gd name="T26" fmla="*/ 2147483647 w 202"/>
              <a:gd name="T27" fmla="*/ 2147483647 h 306"/>
              <a:gd name="T28" fmla="*/ 2147483647 w 202"/>
              <a:gd name="T29" fmla="*/ 0 h 306"/>
              <a:gd name="T30" fmla="*/ 2147483647 w 202"/>
              <a:gd name="T31" fmla="*/ 0 h 306"/>
              <a:gd name="T32" fmla="*/ 2147483647 w 202"/>
              <a:gd name="T33" fmla="*/ 2147483647 h 306"/>
              <a:gd name="T34" fmla="*/ 2147483647 w 202"/>
              <a:gd name="T35" fmla="*/ 2147483647 h 306"/>
              <a:gd name="T36" fmla="*/ 2147483647 w 202"/>
              <a:gd name="T37" fmla="*/ 2147483647 h 306"/>
              <a:gd name="T38" fmla="*/ 2147483647 w 202"/>
              <a:gd name="T39" fmla="*/ 2147483647 h 306"/>
              <a:gd name="T40" fmla="*/ 2147483647 w 202"/>
              <a:gd name="T41" fmla="*/ 2147483647 h 306"/>
              <a:gd name="T42" fmla="*/ 2147483647 w 202"/>
              <a:gd name="T43" fmla="*/ 2147483647 h 306"/>
              <a:gd name="T44" fmla="*/ 2147483647 w 202"/>
              <a:gd name="T45" fmla="*/ 2147483647 h 306"/>
              <a:gd name="T46" fmla="*/ 2147483647 w 202"/>
              <a:gd name="T47" fmla="*/ 2147483647 h 306"/>
              <a:gd name="T48" fmla="*/ 2147483647 w 202"/>
              <a:gd name="T49" fmla="*/ 2147483647 h 306"/>
              <a:gd name="T50" fmla="*/ 2147483647 w 202"/>
              <a:gd name="T51" fmla="*/ 2147483647 h 306"/>
              <a:gd name="T52" fmla="*/ 2147483647 w 202"/>
              <a:gd name="T53" fmla="*/ 2147483647 h 306"/>
              <a:gd name="T54" fmla="*/ 2147483647 w 202"/>
              <a:gd name="T55" fmla="*/ 2147483647 h 306"/>
              <a:gd name="T56" fmla="*/ 2147483647 w 202"/>
              <a:gd name="T57" fmla="*/ 2147483647 h 306"/>
              <a:gd name="T58" fmla="*/ 2147483647 w 202"/>
              <a:gd name="T59" fmla="*/ 2147483647 h 306"/>
              <a:gd name="T60" fmla="*/ 2147483647 w 202"/>
              <a:gd name="T61" fmla="*/ 2147483647 h 306"/>
              <a:gd name="T62" fmla="*/ 2147483647 w 202"/>
              <a:gd name="T63" fmla="*/ 2147483647 h 306"/>
              <a:gd name="T64" fmla="*/ 2147483647 w 202"/>
              <a:gd name="T65" fmla="*/ 2147483647 h 306"/>
              <a:gd name="T66" fmla="*/ 2147483647 w 202"/>
              <a:gd name="T67" fmla="*/ 2147483647 h 306"/>
              <a:gd name="T68" fmla="*/ 2147483647 w 202"/>
              <a:gd name="T69" fmla="*/ 2147483647 h 306"/>
              <a:gd name="T70" fmla="*/ 2147483647 w 202"/>
              <a:gd name="T71" fmla="*/ 2147483647 h 306"/>
              <a:gd name="T72" fmla="*/ 2147483647 w 202"/>
              <a:gd name="T73" fmla="*/ 2147483647 h 306"/>
              <a:gd name="T74" fmla="*/ 2147483647 w 202"/>
              <a:gd name="T75" fmla="*/ 2147483647 h 306"/>
              <a:gd name="T76" fmla="*/ 2147483647 w 202"/>
              <a:gd name="T77" fmla="*/ 2147483647 h 306"/>
              <a:gd name="T78" fmla="*/ 2147483647 w 202"/>
              <a:gd name="T79" fmla="*/ 2147483647 h 306"/>
              <a:gd name="T80" fmla="*/ 2147483647 w 202"/>
              <a:gd name="T81" fmla="*/ 2147483647 h 306"/>
              <a:gd name="T82" fmla="*/ 2147483647 w 202"/>
              <a:gd name="T83" fmla="*/ 2147483647 h 306"/>
              <a:gd name="T84" fmla="*/ 2147483647 w 202"/>
              <a:gd name="T85" fmla="*/ 2147483647 h 306"/>
              <a:gd name="T86" fmla="*/ 2147483647 w 202"/>
              <a:gd name="T87" fmla="*/ 2147483647 h 306"/>
              <a:gd name="T88" fmla="*/ 2147483647 w 202"/>
              <a:gd name="T89" fmla="*/ 2147483647 h 306"/>
              <a:gd name="T90" fmla="*/ 2147483647 w 202"/>
              <a:gd name="T91" fmla="*/ 2147483647 h 306"/>
              <a:gd name="T92" fmla="*/ 2147483647 w 202"/>
              <a:gd name="T93" fmla="*/ 2147483647 h 306"/>
              <a:gd name="T94" fmla="*/ 2147483647 w 202"/>
              <a:gd name="T95" fmla="*/ 2147483647 h 306"/>
              <a:gd name="T96" fmla="*/ 2147483647 w 202"/>
              <a:gd name="T97" fmla="*/ 2147483647 h 306"/>
              <a:gd name="T98" fmla="*/ 2147483647 w 202"/>
              <a:gd name="T99" fmla="*/ 2147483647 h 30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02"/>
              <a:gd name="T151" fmla="*/ 0 h 306"/>
              <a:gd name="T152" fmla="*/ 202 w 202"/>
              <a:gd name="T153" fmla="*/ 306 h 30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02" h="306">
                <a:moveTo>
                  <a:pt x="16" y="305"/>
                </a:moveTo>
                <a:lnTo>
                  <a:pt x="0" y="22"/>
                </a:lnTo>
                <a:lnTo>
                  <a:pt x="9" y="13"/>
                </a:lnTo>
                <a:lnTo>
                  <a:pt x="15" y="14"/>
                </a:lnTo>
                <a:lnTo>
                  <a:pt x="21" y="13"/>
                </a:lnTo>
                <a:lnTo>
                  <a:pt x="22" y="10"/>
                </a:lnTo>
                <a:lnTo>
                  <a:pt x="27" y="11"/>
                </a:lnTo>
                <a:lnTo>
                  <a:pt x="31" y="7"/>
                </a:lnTo>
                <a:lnTo>
                  <a:pt x="37" y="9"/>
                </a:lnTo>
                <a:lnTo>
                  <a:pt x="41" y="6"/>
                </a:lnTo>
                <a:lnTo>
                  <a:pt x="46" y="5"/>
                </a:lnTo>
                <a:lnTo>
                  <a:pt x="52" y="3"/>
                </a:lnTo>
                <a:lnTo>
                  <a:pt x="57" y="4"/>
                </a:lnTo>
                <a:lnTo>
                  <a:pt x="62" y="3"/>
                </a:lnTo>
                <a:lnTo>
                  <a:pt x="66" y="0"/>
                </a:lnTo>
                <a:lnTo>
                  <a:pt x="74" y="0"/>
                </a:lnTo>
                <a:lnTo>
                  <a:pt x="80" y="1"/>
                </a:lnTo>
                <a:lnTo>
                  <a:pt x="83" y="1"/>
                </a:lnTo>
                <a:lnTo>
                  <a:pt x="86" y="3"/>
                </a:lnTo>
                <a:lnTo>
                  <a:pt x="92" y="4"/>
                </a:lnTo>
                <a:lnTo>
                  <a:pt x="98" y="7"/>
                </a:lnTo>
                <a:lnTo>
                  <a:pt x="103" y="7"/>
                </a:lnTo>
                <a:lnTo>
                  <a:pt x="111" y="10"/>
                </a:lnTo>
                <a:lnTo>
                  <a:pt x="115" y="12"/>
                </a:lnTo>
                <a:lnTo>
                  <a:pt x="121" y="11"/>
                </a:lnTo>
                <a:lnTo>
                  <a:pt x="125" y="16"/>
                </a:lnTo>
                <a:lnTo>
                  <a:pt x="131" y="17"/>
                </a:lnTo>
                <a:lnTo>
                  <a:pt x="135" y="19"/>
                </a:lnTo>
                <a:lnTo>
                  <a:pt x="140" y="21"/>
                </a:lnTo>
                <a:lnTo>
                  <a:pt x="142" y="24"/>
                </a:lnTo>
                <a:lnTo>
                  <a:pt x="146" y="27"/>
                </a:lnTo>
                <a:lnTo>
                  <a:pt x="151" y="31"/>
                </a:lnTo>
                <a:lnTo>
                  <a:pt x="153" y="35"/>
                </a:lnTo>
                <a:lnTo>
                  <a:pt x="156" y="36"/>
                </a:lnTo>
                <a:lnTo>
                  <a:pt x="160" y="41"/>
                </a:lnTo>
                <a:lnTo>
                  <a:pt x="163" y="44"/>
                </a:lnTo>
                <a:lnTo>
                  <a:pt x="168" y="46"/>
                </a:lnTo>
                <a:lnTo>
                  <a:pt x="172" y="50"/>
                </a:lnTo>
                <a:lnTo>
                  <a:pt x="176" y="53"/>
                </a:lnTo>
                <a:lnTo>
                  <a:pt x="178" y="55"/>
                </a:lnTo>
                <a:lnTo>
                  <a:pt x="182" y="59"/>
                </a:lnTo>
                <a:lnTo>
                  <a:pt x="185" y="62"/>
                </a:lnTo>
                <a:lnTo>
                  <a:pt x="186" y="67"/>
                </a:lnTo>
                <a:lnTo>
                  <a:pt x="189" y="73"/>
                </a:lnTo>
                <a:lnTo>
                  <a:pt x="192" y="76"/>
                </a:lnTo>
                <a:lnTo>
                  <a:pt x="196" y="80"/>
                </a:lnTo>
                <a:lnTo>
                  <a:pt x="198" y="84"/>
                </a:lnTo>
                <a:lnTo>
                  <a:pt x="200" y="90"/>
                </a:lnTo>
                <a:lnTo>
                  <a:pt x="201" y="99"/>
                </a:lnTo>
                <a:lnTo>
                  <a:pt x="16" y="305"/>
                </a:lnTo>
              </a:path>
            </a:pathLst>
          </a:cu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21" name="Arc 15"/>
          <p:cNvSpPr>
            <a:spLocks/>
          </p:cNvSpPr>
          <p:nvPr/>
        </p:nvSpPr>
        <p:spPr bwMode="auto">
          <a:xfrm rot="-3146867">
            <a:off x="8519319" y="5838031"/>
            <a:ext cx="209550" cy="236538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18793110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2" name="Line 16"/>
          <p:cNvSpPr>
            <a:spLocks noChangeShapeType="1"/>
          </p:cNvSpPr>
          <p:nvPr/>
        </p:nvSpPr>
        <p:spPr bwMode="auto">
          <a:xfrm rot="-1766867">
            <a:off x="8526463" y="5768976"/>
            <a:ext cx="31750" cy="646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3" name="Oval 17"/>
          <p:cNvSpPr>
            <a:spLocks noChangeArrowheads="1"/>
          </p:cNvSpPr>
          <p:nvPr/>
        </p:nvSpPr>
        <p:spPr bwMode="auto">
          <a:xfrm rot="-5726867">
            <a:off x="8562976" y="5840413"/>
            <a:ext cx="112712" cy="1762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4" name="Line 18"/>
          <p:cNvSpPr>
            <a:spLocks noChangeShapeType="1"/>
          </p:cNvSpPr>
          <p:nvPr/>
        </p:nvSpPr>
        <p:spPr bwMode="auto">
          <a:xfrm rot="19833133" flipV="1">
            <a:off x="8572500" y="5827713"/>
            <a:ext cx="381000" cy="476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5" name="Freeform 19"/>
          <p:cNvSpPr>
            <a:spLocks/>
          </p:cNvSpPr>
          <p:nvPr/>
        </p:nvSpPr>
        <p:spPr bwMode="auto">
          <a:xfrm rot="1112195">
            <a:off x="5089525" y="4025901"/>
            <a:ext cx="285750" cy="485775"/>
          </a:xfrm>
          <a:custGeom>
            <a:avLst/>
            <a:gdLst>
              <a:gd name="T0" fmla="*/ 2147483647 w 202"/>
              <a:gd name="T1" fmla="*/ 2147483647 h 306"/>
              <a:gd name="T2" fmla="*/ 0 w 202"/>
              <a:gd name="T3" fmla="*/ 2147483647 h 306"/>
              <a:gd name="T4" fmla="*/ 2147483647 w 202"/>
              <a:gd name="T5" fmla="*/ 2147483647 h 306"/>
              <a:gd name="T6" fmla="*/ 2147483647 w 202"/>
              <a:gd name="T7" fmla="*/ 2147483647 h 306"/>
              <a:gd name="T8" fmla="*/ 2147483647 w 202"/>
              <a:gd name="T9" fmla="*/ 2147483647 h 306"/>
              <a:gd name="T10" fmla="*/ 2147483647 w 202"/>
              <a:gd name="T11" fmla="*/ 2147483647 h 306"/>
              <a:gd name="T12" fmla="*/ 2147483647 w 202"/>
              <a:gd name="T13" fmla="*/ 2147483647 h 306"/>
              <a:gd name="T14" fmla="*/ 2147483647 w 202"/>
              <a:gd name="T15" fmla="*/ 2147483647 h 306"/>
              <a:gd name="T16" fmla="*/ 2147483647 w 202"/>
              <a:gd name="T17" fmla="*/ 2147483647 h 306"/>
              <a:gd name="T18" fmla="*/ 2147483647 w 202"/>
              <a:gd name="T19" fmla="*/ 2147483647 h 306"/>
              <a:gd name="T20" fmla="*/ 2147483647 w 202"/>
              <a:gd name="T21" fmla="*/ 2147483647 h 306"/>
              <a:gd name="T22" fmla="*/ 2147483647 w 202"/>
              <a:gd name="T23" fmla="*/ 2147483647 h 306"/>
              <a:gd name="T24" fmla="*/ 2147483647 w 202"/>
              <a:gd name="T25" fmla="*/ 2147483647 h 306"/>
              <a:gd name="T26" fmla="*/ 2147483647 w 202"/>
              <a:gd name="T27" fmla="*/ 2147483647 h 306"/>
              <a:gd name="T28" fmla="*/ 2147483647 w 202"/>
              <a:gd name="T29" fmla="*/ 0 h 306"/>
              <a:gd name="T30" fmla="*/ 2147483647 w 202"/>
              <a:gd name="T31" fmla="*/ 0 h 306"/>
              <a:gd name="T32" fmla="*/ 2147483647 w 202"/>
              <a:gd name="T33" fmla="*/ 2147483647 h 306"/>
              <a:gd name="T34" fmla="*/ 2147483647 w 202"/>
              <a:gd name="T35" fmla="*/ 2147483647 h 306"/>
              <a:gd name="T36" fmla="*/ 2147483647 w 202"/>
              <a:gd name="T37" fmla="*/ 2147483647 h 306"/>
              <a:gd name="T38" fmla="*/ 2147483647 w 202"/>
              <a:gd name="T39" fmla="*/ 2147483647 h 306"/>
              <a:gd name="T40" fmla="*/ 2147483647 w 202"/>
              <a:gd name="T41" fmla="*/ 2147483647 h 306"/>
              <a:gd name="T42" fmla="*/ 2147483647 w 202"/>
              <a:gd name="T43" fmla="*/ 2147483647 h 306"/>
              <a:gd name="T44" fmla="*/ 2147483647 w 202"/>
              <a:gd name="T45" fmla="*/ 2147483647 h 306"/>
              <a:gd name="T46" fmla="*/ 2147483647 w 202"/>
              <a:gd name="T47" fmla="*/ 2147483647 h 306"/>
              <a:gd name="T48" fmla="*/ 2147483647 w 202"/>
              <a:gd name="T49" fmla="*/ 2147483647 h 306"/>
              <a:gd name="T50" fmla="*/ 2147483647 w 202"/>
              <a:gd name="T51" fmla="*/ 2147483647 h 306"/>
              <a:gd name="T52" fmla="*/ 2147483647 w 202"/>
              <a:gd name="T53" fmla="*/ 2147483647 h 306"/>
              <a:gd name="T54" fmla="*/ 2147483647 w 202"/>
              <a:gd name="T55" fmla="*/ 2147483647 h 306"/>
              <a:gd name="T56" fmla="*/ 2147483647 w 202"/>
              <a:gd name="T57" fmla="*/ 2147483647 h 306"/>
              <a:gd name="T58" fmla="*/ 2147483647 w 202"/>
              <a:gd name="T59" fmla="*/ 2147483647 h 306"/>
              <a:gd name="T60" fmla="*/ 2147483647 w 202"/>
              <a:gd name="T61" fmla="*/ 2147483647 h 306"/>
              <a:gd name="T62" fmla="*/ 2147483647 w 202"/>
              <a:gd name="T63" fmla="*/ 2147483647 h 306"/>
              <a:gd name="T64" fmla="*/ 2147483647 w 202"/>
              <a:gd name="T65" fmla="*/ 2147483647 h 306"/>
              <a:gd name="T66" fmla="*/ 2147483647 w 202"/>
              <a:gd name="T67" fmla="*/ 2147483647 h 306"/>
              <a:gd name="T68" fmla="*/ 2147483647 w 202"/>
              <a:gd name="T69" fmla="*/ 2147483647 h 306"/>
              <a:gd name="T70" fmla="*/ 2147483647 w 202"/>
              <a:gd name="T71" fmla="*/ 2147483647 h 306"/>
              <a:gd name="T72" fmla="*/ 2147483647 w 202"/>
              <a:gd name="T73" fmla="*/ 2147483647 h 306"/>
              <a:gd name="T74" fmla="*/ 2147483647 w 202"/>
              <a:gd name="T75" fmla="*/ 2147483647 h 306"/>
              <a:gd name="T76" fmla="*/ 2147483647 w 202"/>
              <a:gd name="T77" fmla="*/ 2147483647 h 306"/>
              <a:gd name="T78" fmla="*/ 2147483647 w 202"/>
              <a:gd name="T79" fmla="*/ 2147483647 h 306"/>
              <a:gd name="T80" fmla="*/ 2147483647 w 202"/>
              <a:gd name="T81" fmla="*/ 2147483647 h 306"/>
              <a:gd name="T82" fmla="*/ 2147483647 w 202"/>
              <a:gd name="T83" fmla="*/ 2147483647 h 306"/>
              <a:gd name="T84" fmla="*/ 2147483647 w 202"/>
              <a:gd name="T85" fmla="*/ 2147483647 h 306"/>
              <a:gd name="T86" fmla="*/ 2147483647 w 202"/>
              <a:gd name="T87" fmla="*/ 2147483647 h 306"/>
              <a:gd name="T88" fmla="*/ 2147483647 w 202"/>
              <a:gd name="T89" fmla="*/ 2147483647 h 306"/>
              <a:gd name="T90" fmla="*/ 2147483647 w 202"/>
              <a:gd name="T91" fmla="*/ 2147483647 h 306"/>
              <a:gd name="T92" fmla="*/ 2147483647 w 202"/>
              <a:gd name="T93" fmla="*/ 2147483647 h 306"/>
              <a:gd name="T94" fmla="*/ 2147483647 w 202"/>
              <a:gd name="T95" fmla="*/ 2147483647 h 306"/>
              <a:gd name="T96" fmla="*/ 2147483647 w 202"/>
              <a:gd name="T97" fmla="*/ 2147483647 h 306"/>
              <a:gd name="T98" fmla="*/ 2147483647 w 202"/>
              <a:gd name="T99" fmla="*/ 2147483647 h 30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02"/>
              <a:gd name="T151" fmla="*/ 0 h 306"/>
              <a:gd name="T152" fmla="*/ 202 w 202"/>
              <a:gd name="T153" fmla="*/ 306 h 30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02" h="306">
                <a:moveTo>
                  <a:pt x="16" y="305"/>
                </a:moveTo>
                <a:lnTo>
                  <a:pt x="0" y="22"/>
                </a:lnTo>
                <a:lnTo>
                  <a:pt x="9" y="13"/>
                </a:lnTo>
                <a:lnTo>
                  <a:pt x="15" y="14"/>
                </a:lnTo>
                <a:lnTo>
                  <a:pt x="21" y="13"/>
                </a:lnTo>
                <a:lnTo>
                  <a:pt x="22" y="10"/>
                </a:lnTo>
                <a:lnTo>
                  <a:pt x="27" y="11"/>
                </a:lnTo>
                <a:lnTo>
                  <a:pt x="31" y="7"/>
                </a:lnTo>
                <a:lnTo>
                  <a:pt x="37" y="9"/>
                </a:lnTo>
                <a:lnTo>
                  <a:pt x="41" y="6"/>
                </a:lnTo>
                <a:lnTo>
                  <a:pt x="46" y="5"/>
                </a:lnTo>
                <a:lnTo>
                  <a:pt x="52" y="3"/>
                </a:lnTo>
                <a:lnTo>
                  <a:pt x="57" y="4"/>
                </a:lnTo>
                <a:lnTo>
                  <a:pt x="62" y="3"/>
                </a:lnTo>
                <a:lnTo>
                  <a:pt x="66" y="0"/>
                </a:lnTo>
                <a:lnTo>
                  <a:pt x="74" y="0"/>
                </a:lnTo>
                <a:lnTo>
                  <a:pt x="80" y="1"/>
                </a:lnTo>
                <a:lnTo>
                  <a:pt x="83" y="1"/>
                </a:lnTo>
                <a:lnTo>
                  <a:pt x="86" y="3"/>
                </a:lnTo>
                <a:lnTo>
                  <a:pt x="92" y="4"/>
                </a:lnTo>
                <a:lnTo>
                  <a:pt x="98" y="7"/>
                </a:lnTo>
                <a:lnTo>
                  <a:pt x="103" y="7"/>
                </a:lnTo>
                <a:lnTo>
                  <a:pt x="111" y="10"/>
                </a:lnTo>
                <a:lnTo>
                  <a:pt x="115" y="12"/>
                </a:lnTo>
                <a:lnTo>
                  <a:pt x="121" y="11"/>
                </a:lnTo>
                <a:lnTo>
                  <a:pt x="125" y="16"/>
                </a:lnTo>
                <a:lnTo>
                  <a:pt x="131" y="17"/>
                </a:lnTo>
                <a:lnTo>
                  <a:pt x="135" y="19"/>
                </a:lnTo>
                <a:lnTo>
                  <a:pt x="140" y="21"/>
                </a:lnTo>
                <a:lnTo>
                  <a:pt x="142" y="24"/>
                </a:lnTo>
                <a:lnTo>
                  <a:pt x="146" y="27"/>
                </a:lnTo>
                <a:lnTo>
                  <a:pt x="151" y="31"/>
                </a:lnTo>
                <a:lnTo>
                  <a:pt x="153" y="35"/>
                </a:lnTo>
                <a:lnTo>
                  <a:pt x="156" y="36"/>
                </a:lnTo>
                <a:lnTo>
                  <a:pt x="160" y="41"/>
                </a:lnTo>
                <a:lnTo>
                  <a:pt x="163" y="44"/>
                </a:lnTo>
                <a:lnTo>
                  <a:pt x="168" y="46"/>
                </a:lnTo>
                <a:lnTo>
                  <a:pt x="172" y="50"/>
                </a:lnTo>
                <a:lnTo>
                  <a:pt x="176" y="53"/>
                </a:lnTo>
                <a:lnTo>
                  <a:pt x="178" y="55"/>
                </a:lnTo>
                <a:lnTo>
                  <a:pt x="182" y="59"/>
                </a:lnTo>
                <a:lnTo>
                  <a:pt x="185" y="62"/>
                </a:lnTo>
                <a:lnTo>
                  <a:pt x="186" y="67"/>
                </a:lnTo>
                <a:lnTo>
                  <a:pt x="189" y="73"/>
                </a:lnTo>
                <a:lnTo>
                  <a:pt x="192" y="76"/>
                </a:lnTo>
                <a:lnTo>
                  <a:pt x="196" y="80"/>
                </a:lnTo>
                <a:lnTo>
                  <a:pt x="198" y="84"/>
                </a:lnTo>
                <a:lnTo>
                  <a:pt x="200" y="90"/>
                </a:lnTo>
                <a:lnTo>
                  <a:pt x="201" y="99"/>
                </a:lnTo>
                <a:lnTo>
                  <a:pt x="16" y="305"/>
                </a:lnTo>
              </a:path>
            </a:pathLst>
          </a:cu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26" name="Arc 20"/>
          <p:cNvSpPr>
            <a:spLocks/>
          </p:cNvSpPr>
          <p:nvPr/>
        </p:nvSpPr>
        <p:spPr bwMode="auto">
          <a:xfrm rot="-267806">
            <a:off x="5183188" y="3998914"/>
            <a:ext cx="209550" cy="236537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18793110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7" name="Line 21"/>
          <p:cNvSpPr>
            <a:spLocks noChangeShapeType="1"/>
          </p:cNvSpPr>
          <p:nvPr/>
        </p:nvSpPr>
        <p:spPr bwMode="auto">
          <a:xfrm rot="1112195">
            <a:off x="5114925" y="3824288"/>
            <a:ext cx="31750" cy="646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8" name="Oval 22"/>
          <p:cNvSpPr>
            <a:spLocks noChangeArrowheads="1"/>
          </p:cNvSpPr>
          <p:nvPr/>
        </p:nvSpPr>
        <p:spPr bwMode="auto">
          <a:xfrm rot="-2847806">
            <a:off x="5248276" y="4008438"/>
            <a:ext cx="112712" cy="1762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9" name="Line 23"/>
          <p:cNvSpPr>
            <a:spLocks noChangeShapeType="1"/>
          </p:cNvSpPr>
          <p:nvPr/>
        </p:nvSpPr>
        <p:spPr bwMode="auto">
          <a:xfrm rot="1112195" flipV="1">
            <a:off x="5108575" y="4056063"/>
            <a:ext cx="381000" cy="476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30" name="Rectangle 2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Stereo image rectification</a:t>
            </a:r>
          </a:p>
        </p:txBody>
      </p:sp>
      <p:sp>
        <p:nvSpPr>
          <p:cNvPr id="43031" name="Oval 12"/>
          <p:cNvSpPr>
            <a:spLocks noChangeArrowheads="1"/>
          </p:cNvSpPr>
          <p:nvPr/>
        </p:nvSpPr>
        <p:spPr bwMode="auto">
          <a:xfrm>
            <a:off x="8507413" y="3397250"/>
            <a:ext cx="55562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32" name="Oval 13"/>
          <p:cNvSpPr>
            <a:spLocks noChangeArrowheads="1"/>
          </p:cNvSpPr>
          <p:nvPr/>
        </p:nvSpPr>
        <p:spPr bwMode="auto">
          <a:xfrm>
            <a:off x="6643688" y="2730500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reeform 2"/>
          <p:cNvSpPr>
            <a:spLocks/>
          </p:cNvSpPr>
          <p:nvPr/>
        </p:nvSpPr>
        <p:spPr bwMode="auto">
          <a:xfrm>
            <a:off x="8815389" y="685800"/>
            <a:ext cx="1220787" cy="839788"/>
          </a:xfrm>
          <a:custGeom>
            <a:avLst/>
            <a:gdLst>
              <a:gd name="T0" fmla="*/ 2147483647 w 865"/>
              <a:gd name="T1" fmla="*/ 0 h 529"/>
              <a:gd name="T2" fmla="*/ 2147483647 w 865"/>
              <a:gd name="T3" fmla="*/ 2147483647 h 529"/>
              <a:gd name="T4" fmla="*/ 2147483647 w 865"/>
              <a:gd name="T5" fmla="*/ 2147483647 h 529"/>
              <a:gd name="T6" fmla="*/ 2147483647 w 865"/>
              <a:gd name="T7" fmla="*/ 2147483647 h 529"/>
              <a:gd name="T8" fmla="*/ 2147483647 w 865"/>
              <a:gd name="T9" fmla="*/ 2147483647 h 529"/>
              <a:gd name="T10" fmla="*/ 2147483647 w 865"/>
              <a:gd name="T11" fmla="*/ 2147483647 h 529"/>
              <a:gd name="T12" fmla="*/ 2147483647 w 865"/>
              <a:gd name="T13" fmla="*/ 2147483647 h 529"/>
              <a:gd name="T14" fmla="*/ 2147483647 w 865"/>
              <a:gd name="T15" fmla="*/ 2147483647 h 529"/>
              <a:gd name="T16" fmla="*/ 2147483647 w 865"/>
              <a:gd name="T17" fmla="*/ 2147483647 h 529"/>
              <a:gd name="T18" fmla="*/ 0 w 865"/>
              <a:gd name="T19" fmla="*/ 2147483647 h 529"/>
              <a:gd name="T20" fmla="*/ 0 w 865"/>
              <a:gd name="T21" fmla="*/ 2147483647 h 529"/>
              <a:gd name="T22" fmla="*/ 0 w 865"/>
              <a:gd name="T23" fmla="*/ 2147483647 h 529"/>
              <a:gd name="T24" fmla="*/ 2147483647 w 865"/>
              <a:gd name="T25" fmla="*/ 2147483647 h 529"/>
              <a:gd name="T26" fmla="*/ 2147483647 w 865"/>
              <a:gd name="T27" fmla="*/ 2147483647 h 529"/>
              <a:gd name="T28" fmla="*/ 2147483647 w 865"/>
              <a:gd name="T29" fmla="*/ 2147483647 h 529"/>
              <a:gd name="T30" fmla="*/ 2147483647 w 865"/>
              <a:gd name="T31" fmla="*/ 2147483647 h 529"/>
              <a:gd name="T32" fmla="*/ 2147483647 w 865"/>
              <a:gd name="T33" fmla="*/ 2147483647 h 529"/>
              <a:gd name="T34" fmla="*/ 2147483647 w 865"/>
              <a:gd name="T35" fmla="*/ 2147483647 h 529"/>
              <a:gd name="T36" fmla="*/ 2147483647 w 865"/>
              <a:gd name="T37" fmla="*/ 2147483647 h 529"/>
              <a:gd name="T38" fmla="*/ 2147483647 w 865"/>
              <a:gd name="T39" fmla="*/ 2147483647 h 529"/>
              <a:gd name="T40" fmla="*/ 2147483647 w 865"/>
              <a:gd name="T41" fmla="*/ 2147483647 h 529"/>
              <a:gd name="T42" fmla="*/ 2147483647 w 865"/>
              <a:gd name="T43" fmla="*/ 2147483647 h 529"/>
              <a:gd name="T44" fmla="*/ 2147483647 w 865"/>
              <a:gd name="T45" fmla="*/ 2147483647 h 529"/>
              <a:gd name="T46" fmla="*/ 2147483647 w 865"/>
              <a:gd name="T47" fmla="*/ 2147483647 h 529"/>
              <a:gd name="T48" fmla="*/ 2147483647 w 865"/>
              <a:gd name="T49" fmla="*/ 2147483647 h 529"/>
              <a:gd name="T50" fmla="*/ 2147483647 w 865"/>
              <a:gd name="T51" fmla="*/ 2147483647 h 529"/>
              <a:gd name="T52" fmla="*/ 2147483647 w 865"/>
              <a:gd name="T53" fmla="*/ 2147483647 h 529"/>
              <a:gd name="T54" fmla="*/ 2147483647 w 865"/>
              <a:gd name="T55" fmla="*/ 2147483647 h 529"/>
              <a:gd name="T56" fmla="*/ 2147483647 w 865"/>
              <a:gd name="T57" fmla="*/ 2147483647 h 529"/>
              <a:gd name="T58" fmla="*/ 2147483647 w 865"/>
              <a:gd name="T59" fmla="*/ 2147483647 h 529"/>
              <a:gd name="T60" fmla="*/ 2147483647 w 865"/>
              <a:gd name="T61" fmla="*/ 2147483647 h 529"/>
              <a:gd name="T62" fmla="*/ 2147483647 w 865"/>
              <a:gd name="T63" fmla="*/ 2147483647 h 529"/>
              <a:gd name="T64" fmla="*/ 2147483647 w 865"/>
              <a:gd name="T65" fmla="*/ 2147483647 h 529"/>
              <a:gd name="T66" fmla="*/ 2147483647 w 865"/>
              <a:gd name="T67" fmla="*/ 2147483647 h 529"/>
              <a:gd name="T68" fmla="*/ 2147483647 w 865"/>
              <a:gd name="T69" fmla="*/ 2147483647 h 529"/>
              <a:gd name="T70" fmla="*/ 2147483647 w 865"/>
              <a:gd name="T71" fmla="*/ 2147483647 h 529"/>
              <a:gd name="T72" fmla="*/ 2147483647 w 865"/>
              <a:gd name="T73" fmla="*/ 2147483647 h 529"/>
              <a:gd name="T74" fmla="*/ 2147483647 w 865"/>
              <a:gd name="T75" fmla="*/ 2147483647 h 529"/>
              <a:gd name="T76" fmla="*/ 2147483647 w 865"/>
              <a:gd name="T77" fmla="*/ 2147483647 h 529"/>
              <a:gd name="T78" fmla="*/ 2147483647 w 865"/>
              <a:gd name="T79" fmla="*/ 0 h 52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865"/>
              <a:gd name="T121" fmla="*/ 0 h 529"/>
              <a:gd name="T122" fmla="*/ 865 w 865"/>
              <a:gd name="T123" fmla="*/ 529 h 529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865" h="529">
                <a:moveTo>
                  <a:pt x="84" y="0"/>
                </a:moveTo>
                <a:lnTo>
                  <a:pt x="72" y="24"/>
                </a:lnTo>
                <a:lnTo>
                  <a:pt x="72" y="48"/>
                </a:lnTo>
                <a:lnTo>
                  <a:pt x="48" y="72"/>
                </a:lnTo>
                <a:lnTo>
                  <a:pt x="36" y="96"/>
                </a:lnTo>
                <a:lnTo>
                  <a:pt x="36" y="120"/>
                </a:lnTo>
                <a:lnTo>
                  <a:pt x="36" y="144"/>
                </a:lnTo>
                <a:lnTo>
                  <a:pt x="24" y="168"/>
                </a:lnTo>
                <a:lnTo>
                  <a:pt x="12" y="192"/>
                </a:lnTo>
                <a:lnTo>
                  <a:pt x="0" y="216"/>
                </a:lnTo>
                <a:lnTo>
                  <a:pt x="0" y="240"/>
                </a:lnTo>
                <a:lnTo>
                  <a:pt x="0" y="264"/>
                </a:lnTo>
                <a:lnTo>
                  <a:pt x="12" y="288"/>
                </a:lnTo>
                <a:lnTo>
                  <a:pt x="12" y="312"/>
                </a:lnTo>
                <a:lnTo>
                  <a:pt x="24" y="336"/>
                </a:lnTo>
                <a:lnTo>
                  <a:pt x="24" y="360"/>
                </a:lnTo>
                <a:lnTo>
                  <a:pt x="36" y="384"/>
                </a:lnTo>
                <a:lnTo>
                  <a:pt x="36" y="408"/>
                </a:lnTo>
                <a:lnTo>
                  <a:pt x="48" y="432"/>
                </a:lnTo>
                <a:lnTo>
                  <a:pt x="60" y="456"/>
                </a:lnTo>
                <a:lnTo>
                  <a:pt x="852" y="528"/>
                </a:lnTo>
                <a:lnTo>
                  <a:pt x="804" y="480"/>
                </a:lnTo>
                <a:lnTo>
                  <a:pt x="792" y="456"/>
                </a:lnTo>
                <a:lnTo>
                  <a:pt x="780" y="420"/>
                </a:lnTo>
                <a:lnTo>
                  <a:pt x="768" y="396"/>
                </a:lnTo>
                <a:lnTo>
                  <a:pt x="756" y="372"/>
                </a:lnTo>
                <a:lnTo>
                  <a:pt x="744" y="348"/>
                </a:lnTo>
                <a:lnTo>
                  <a:pt x="744" y="324"/>
                </a:lnTo>
                <a:lnTo>
                  <a:pt x="744" y="288"/>
                </a:lnTo>
                <a:lnTo>
                  <a:pt x="744" y="264"/>
                </a:lnTo>
                <a:lnTo>
                  <a:pt x="744" y="240"/>
                </a:lnTo>
                <a:lnTo>
                  <a:pt x="768" y="216"/>
                </a:lnTo>
                <a:lnTo>
                  <a:pt x="768" y="192"/>
                </a:lnTo>
                <a:lnTo>
                  <a:pt x="780" y="168"/>
                </a:lnTo>
                <a:lnTo>
                  <a:pt x="804" y="156"/>
                </a:lnTo>
                <a:lnTo>
                  <a:pt x="804" y="132"/>
                </a:lnTo>
                <a:lnTo>
                  <a:pt x="828" y="108"/>
                </a:lnTo>
                <a:lnTo>
                  <a:pt x="852" y="96"/>
                </a:lnTo>
                <a:lnTo>
                  <a:pt x="864" y="72"/>
                </a:lnTo>
                <a:lnTo>
                  <a:pt x="84" y="0"/>
                </a:lnTo>
              </a:path>
            </a:pathLst>
          </a:custGeom>
          <a:gradFill rotWithShape="0">
            <a:gsLst>
              <a:gs pos="0">
                <a:srgbClr val="012501"/>
              </a:gs>
              <a:gs pos="100000">
                <a:srgbClr val="037C03"/>
              </a:gs>
            </a:gsLst>
            <a:lin ang="18900000" scaled="1"/>
          </a:gra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5" name="Line 3"/>
          <p:cNvSpPr>
            <a:spLocks noChangeShapeType="1"/>
          </p:cNvSpPr>
          <p:nvPr/>
        </p:nvSpPr>
        <p:spPr bwMode="auto">
          <a:xfrm>
            <a:off x="6224588" y="4038600"/>
            <a:ext cx="325120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 flipV="1">
            <a:off x="7545388" y="990600"/>
            <a:ext cx="1795462" cy="177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7" name="Freeform 5"/>
          <p:cNvSpPr>
            <a:spLocks/>
          </p:cNvSpPr>
          <p:nvPr/>
        </p:nvSpPr>
        <p:spPr bwMode="auto">
          <a:xfrm>
            <a:off x="6156325" y="1447800"/>
            <a:ext cx="1695450" cy="1601788"/>
          </a:xfrm>
          <a:custGeom>
            <a:avLst/>
            <a:gdLst>
              <a:gd name="T0" fmla="*/ 2147483647 w 1201"/>
              <a:gd name="T1" fmla="*/ 2147483647 h 1009"/>
              <a:gd name="T2" fmla="*/ 2147483647 w 1201"/>
              <a:gd name="T3" fmla="*/ 2147483647 h 1009"/>
              <a:gd name="T4" fmla="*/ 2147483647 w 1201"/>
              <a:gd name="T5" fmla="*/ 2147483647 h 1009"/>
              <a:gd name="T6" fmla="*/ 0 w 1201"/>
              <a:gd name="T7" fmla="*/ 0 h 1009"/>
              <a:gd name="T8" fmla="*/ 2147483647 w 1201"/>
              <a:gd name="T9" fmla="*/ 2147483647 h 10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009"/>
              <a:gd name="T17" fmla="*/ 1201 w 1201"/>
              <a:gd name="T18" fmla="*/ 1009 h 100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1" h="1009">
                <a:moveTo>
                  <a:pt x="336" y="576"/>
                </a:moveTo>
                <a:lnTo>
                  <a:pt x="1200" y="1008"/>
                </a:lnTo>
                <a:lnTo>
                  <a:pt x="864" y="432"/>
                </a:lnTo>
                <a:lnTo>
                  <a:pt x="0" y="0"/>
                </a:lnTo>
                <a:lnTo>
                  <a:pt x="336" y="576"/>
                </a:lnTo>
              </a:path>
            </a:pathLst>
          </a:custGeom>
          <a:solidFill>
            <a:srgbClr val="919191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8" name="Line 6"/>
          <p:cNvSpPr>
            <a:spLocks noChangeShapeType="1"/>
          </p:cNvSpPr>
          <p:nvPr/>
        </p:nvSpPr>
        <p:spPr bwMode="auto">
          <a:xfrm flipH="1" flipV="1">
            <a:off x="9340851" y="990600"/>
            <a:ext cx="66675" cy="2438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flipV="1">
            <a:off x="6867526" y="2743200"/>
            <a:ext cx="677863" cy="666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0" name="Freeform 8"/>
          <p:cNvSpPr>
            <a:spLocks/>
          </p:cNvSpPr>
          <p:nvPr/>
        </p:nvSpPr>
        <p:spPr bwMode="auto">
          <a:xfrm>
            <a:off x="6021389" y="2219325"/>
            <a:ext cx="1220787" cy="2001838"/>
          </a:xfrm>
          <a:custGeom>
            <a:avLst/>
            <a:gdLst>
              <a:gd name="T0" fmla="*/ 0 w 865"/>
              <a:gd name="T1" fmla="*/ 2147483647 h 1261"/>
              <a:gd name="T2" fmla="*/ 2147483647 w 865"/>
              <a:gd name="T3" fmla="*/ 2147483647 h 1261"/>
              <a:gd name="T4" fmla="*/ 2147483647 w 865"/>
              <a:gd name="T5" fmla="*/ 2147483647 h 1261"/>
              <a:gd name="T6" fmla="*/ 0 w 865"/>
              <a:gd name="T7" fmla="*/ 0 h 1261"/>
              <a:gd name="T8" fmla="*/ 0 w 865"/>
              <a:gd name="T9" fmla="*/ 2147483647 h 1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5"/>
              <a:gd name="T16" fmla="*/ 0 h 1261"/>
              <a:gd name="T17" fmla="*/ 865 w 865"/>
              <a:gd name="T18" fmla="*/ 1261 h 1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5" h="1261">
                <a:moveTo>
                  <a:pt x="0" y="828"/>
                </a:moveTo>
                <a:lnTo>
                  <a:pt x="864" y="1260"/>
                </a:lnTo>
                <a:lnTo>
                  <a:pt x="864" y="414"/>
                </a:lnTo>
                <a:lnTo>
                  <a:pt x="0" y="0"/>
                </a:lnTo>
                <a:lnTo>
                  <a:pt x="0" y="828"/>
                </a:lnTo>
              </a:path>
            </a:pathLst>
          </a:custGeom>
          <a:solidFill>
            <a:srgbClr val="FEBF02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1" name="Freeform 9"/>
          <p:cNvSpPr>
            <a:spLocks/>
          </p:cNvSpPr>
          <p:nvPr/>
        </p:nvSpPr>
        <p:spPr bwMode="auto">
          <a:xfrm>
            <a:off x="8934451" y="2743200"/>
            <a:ext cx="1558925" cy="1525588"/>
          </a:xfrm>
          <a:custGeom>
            <a:avLst/>
            <a:gdLst>
              <a:gd name="T0" fmla="*/ 0 w 1105"/>
              <a:gd name="T1" fmla="*/ 2147483647 h 961"/>
              <a:gd name="T2" fmla="*/ 0 w 1105"/>
              <a:gd name="T3" fmla="*/ 2147483647 h 961"/>
              <a:gd name="T4" fmla="*/ 2147483647 w 1105"/>
              <a:gd name="T5" fmla="*/ 2147483647 h 961"/>
              <a:gd name="T6" fmla="*/ 2147483647 w 1105"/>
              <a:gd name="T7" fmla="*/ 0 h 961"/>
              <a:gd name="T8" fmla="*/ 0 w 1105"/>
              <a:gd name="T9" fmla="*/ 2147483647 h 9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5"/>
              <a:gd name="T16" fmla="*/ 0 h 961"/>
              <a:gd name="T17" fmla="*/ 1105 w 1105"/>
              <a:gd name="T18" fmla="*/ 961 h 9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5" h="961">
                <a:moveTo>
                  <a:pt x="0" y="202"/>
                </a:moveTo>
                <a:lnTo>
                  <a:pt x="0" y="960"/>
                </a:lnTo>
                <a:lnTo>
                  <a:pt x="1104" y="758"/>
                </a:lnTo>
                <a:lnTo>
                  <a:pt x="1104" y="0"/>
                </a:lnTo>
                <a:lnTo>
                  <a:pt x="0" y="202"/>
                </a:lnTo>
              </a:path>
            </a:pathLst>
          </a:custGeom>
          <a:solidFill>
            <a:srgbClr val="919191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 flipH="1" flipV="1">
            <a:off x="9407526" y="3429000"/>
            <a:ext cx="34925" cy="142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3" name="Freeform 11"/>
          <p:cNvSpPr>
            <a:spLocks/>
          </p:cNvSpPr>
          <p:nvPr/>
        </p:nvSpPr>
        <p:spPr bwMode="auto">
          <a:xfrm>
            <a:off x="9137650" y="3937000"/>
            <a:ext cx="1220788" cy="2001838"/>
          </a:xfrm>
          <a:custGeom>
            <a:avLst/>
            <a:gdLst>
              <a:gd name="T0" fmla="*/ 0 w 865"/>
              <a:gd name="T1" fmla="*/ 2147483647 h 1261"/>
              <a:gd name="T2" fmla="*/ 2147483647 w 865"/>
              <a:gd name="T3" fmla="*/ 2147483647 h 1261"/>
              <a:gd name="T4" fmla="*/ 2147483647 w 865"/>
              <a:gd name="T5" fmla="*/ 2147483647 h 1261"/>
              <a:gd name="T6" fmla="*/ 0 w 865"/>
              <a:gd name="T7" fmla="*/ 0 h 1261"/>
              <a:gd name="T8" fmla="*/ 0 w 865"/>
              <a:gd name="T9" fmla="*/ 2147483647 h 1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5"/>
              <a:gd name="T16" fmla="*/ 0 h 1261"/>
              <a:gd name="T17" fmla="*/ 865 w 865"/>
              <a:gd name="T18" fmla="*/ 1261 h 12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5" h="1261">
                <a:moveTo>
                  <a:pt x="0" y="828"/>
                </a:moveTo>
                <a:lnTo>
                  <a:pt x="864" y="1260"/>
                </a:lnTo>
                <a:lnTo>
                  <a:pt x="864" y="414"/>
                </a:lnTo>
                <a:lnTo>
                  <a:pt x="0" y="0"/>
                </a:lnTo>
                <a:lnTo>
                  <a:pt x="0" y="828"/>
                </a:lnTo>
              </a:path>
            </a:pathLst>
          </a:custGeom>
          <a:solidFill>
            <a:srgbClr val="FEBF02"/>
          </a:solidFill>
          <a:ln w="127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 flipV="1">
            <a:off x="6224589" y="3409950"/>
            <a:ext cx="6429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5" name="Line 13"/>
          <p:cNvSpPr>
            <a:spLocks noChangeShapeType="1"/>
          </p:cNvSpPr>
          <p:nvPr/>
        </p:nvSpPr>
        <p:spPr bwMode="auto">
          <a:xfrm flipH="1" flipV="1">
            <a:off x="9442450" y="4857750"/>
            <a:ext cx="33338" cy="1009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Oval 16"/>
          <p:cNvSpPr>
            <a:spLocks noChangeArrowheads="1"/>
          </p:cNvSpPr>
          <p:nvPr/>
        </p:nvSpPr>
        <p:spPr bwMode="auto">
          <a:xfrm>
            <a:off x="9380538" y="3397250"/>
            <a:ext cx="55562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7" name="Oval 17"/>
          <p:cNvSpPr>
            <a:spLocks noChangeArrowheads="1"/>
          </p:cNvSpPr>
          <p:nvPr/>
        </p:nvSpPr>
        <p:spPr bwMode="auto">
          <a:xfrm>
            <a:off x="7516813" y="2730500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8" name="Freeform 18"/>
          <p:cNvSpPr>
            <a:spLocks/>
          </p:cNvSpPr>
          <p:nvPr/>
        </p:nvSpPr>
        <p:spPr bwMode="auto">
          <a:xfrm>
            <a:off x="5867400" y="3989388"/>
            <a:ext cx="393700" cy="387350"/>
          </a:xfrm>
          <a:custGeom>
            <a:avLst/>
            <a:gdLst>
              <a:gd name="T0" fmla="*/ 0 w 279"/>
              <a:gd name="T1" fmla="*/ 2147483647 h 244"/>
              <a:gd name="T2" fmla="*/ 2147483647 w 279"/>
              <a:gd name="T3" fmla="*/ 2147483647 h 244"/>
              <a:gd name="T4" fmla="*/ 2147483647 w 279"/>
              <a:gd name="T5" fmla="*/ 0 h 244"/>
              <a:gd name="T6" fmla="*/ 2147483647 w 279"/>
              <a:gd name="T7" fmla="*/ 2147483647 h 244"/>
              <a:gd name="T8" fmla="*/ 2147483647 w 279"/>
              <a:gd name="T9" fmla="*/ 2147483647 h 244"/>
              <a:gd name="T10" fmla="*/ 2147483647 w 279"/>
              <a:gd name="T11" fmla="*/ 2147483647 h 244"/>
              <a:gd name="T12" fmla="*/ 2147483647 w 279"/>
              <a:gd name="T13" fmla="*/ 2147483647 h 244"/>
              <a:gd name="T14" fmla="*/ 2147483647 w 279"/>
              <a:gd name="T15" fmla="*/ 2147483647 h 244"/>
              <a:gd name="T16" fmla="*/ 2147483647 w 279"/>
              <a:gd name="T17" fmla="*/ 2147483647 h 244"/>
              <a:gd name="T18" fmla="*/ 2147483647 w 279"/>
              <a:gd name="T19" fmla="*/ 2147483647 h 244"/>
              <a:gd name="T20" fmla="*/ 2147483647 w 279"/>
              <a:gd name="T21" fmla="*/ 2147483647 h 244"/>
              <a:gd name="T22" fmla="*/ 2147483647 w 279"/>
              <a:gd name="T23" fmla="*/ 2147483647 h 244"/>
              <a:gd name="T24" fmla="*/ 2147483647 w 279"/>
              <a:gd name="T25" fmla="*/ 2147483647 h 244"/>
              <a:gd name="T26" fmla="*/ 2147483647 w 279"/>
              <a:gd name="T27" fmla="*/ 2147483647 h 244"/>
              <a:gd name="T28" fmla="*/ 2147483647 w 279"/>
              <a:gd name="T29" fmla="*/ 2147483647 h 244"/>
              <a:gd name="T30" fmla="*/ 2147483647 w 279"/>
              <a:gd name="T31" fmla="*/ 2147483647 h 244"/>
              <a:gd name="T32" fmla="*/ 2147483647 w 279"/>
              <a:gd name="T33" fmla="*/ 2147483647 h 244"/>
              <a:gd name="T34" fmla="*/ 2147483647 w 279"/>
              <a:gd name="T35" fmla="*/ 2147483647 h 244"/>
              <a:gd name="T36" fmla="*/ 2147483647 w 279"/>
              <a:gd name="T37" fmla="*/ 2147483647 h 244"/>
              <a:gd name="T38" fmla="*/ 2147483647 w 279"/>
              <a:gd name="T39" fmla="*/ 2147483647 h 244"/>
              <a:gd name="T40" fmla="*/ 2147483647 w 279"/>
              <a:gd name="T41" fmla="*/ 2147483647 h 244"/>
              <a:gd name="T42" fmla="*/ 2147483647 w 279"/>
              <a:gd name="T43" fmla="*/ 2147483647 h 244"/>
              <a:gd name="T44" fmla="*/ 2147483647 w 279"/>
              <a:gd name="T45" fmla="*/ 2147483647 h 244"/>
              <a:gd name="T46" fmla="*/ 2147483647 w 279"/>
              <a:gd name="T47" fmla="*/ 2147483647 h 244"/>
              <a:gd name="T48" fmla="*/ 2147483647 w 279"/>
              <a:gd name="T49" fmla="*/ 2147483647 h 244"/>
              <a:gd name="T50" fmla="*/ 2147483647 w 279"/>
              <a:gd name="T51" fmla="*/ 2147483647 h 244"/>
              <a:gd name="T52" fmla="*/ 2147483647 w 279"/>
              <a:gd name="T53" fmla="*/ 2147483647 h 244"/>
              <a:gd name="T54" fmla="*/ 2147483647 w 279"/>
              <a:gd name="T55" fmla="*/ 2147483647 h 244"/>
              <a:gd name="T56" fmla="*/ 2147483647 w 279"/>
              <a:gd name="T57" fmla="*/ 2147483647 h 244"/>
              <a:gd name="T58" fmla="*/ 2147483647 w 279"/>
              <a:gd name="T59" fmla="*/ 2147483647 h 244"/>
              <a:gd name="T60" fmla="*/ 2147483647 w 279"/>
              <a:gd name="T61" fmla="*/ 2147483647 h 244"/>
              <a:gd name="T62" fmla="*/ 2147483647 w 279"/>
              <a:gd name="T63" fmla="*/ 2147483647 h 244"/>
              <a:gd name="T64" fmla="*/ 2147483647 w 279"/>
              <a:gd name="T65" fmla="*/ 2147483647 h 244"/>
              <a:gd name="T66" fmla="*/ 2147483647 w 279"/>
              <a:gd name="T67" fmla="*/ 2147483647 h 244"/>
              <a:gd name="T68" fmla="*/ 2147483647 w 279"/>
              <a:gd name="T69" fmla="*/ 2147483647 h 244"/>
              <a:gd name="T70" fmla="*/ 2147483647 w 279"/>
              <a:gd name="T71" fmla="*/ 2147483647 h 244"/>
              <a:gd name="T72" fmla="*/ 2147483647 w 279"/>
              <a:gd name="T73" fmla="*/ 2147483647 h 244"/>
              <a:gd name="T74" fmla="*/ 2147483647 w 279"/>
              <a:gd name="T75" fmla="*/ 2147483647 h 244"/>
              <a:gd name="T76" fmla="*/ 2147483647 w 279"/>
              <a:gd name="T77" fmla="*/ 2147483647 h 244"/>
              <a:gd name="T78" fmla="*/ 2147483647 w 279"/>
              <a:gd name="T79" fmla="*/ 2147483647 h 244"/>
              <a:gd name="T80" fmla="*/ 2147483647 w 279"/>
              <a:gd name="T81" fmla="*/ 2147483647 h 244"/>
              <a:gd name="T82" fmla="*/ 2147483647 w 279"/>
              <a:gd name="T83" fmla="*/ 2147483647 h 244"/>
              <a:gd name="T84" fmla="*/ 2147483647 w 279"/>
              <a:gd name="T85" fmla="*/ 2147483647 h 244"/>
              <a:gd name="T86" fmla="*/ 2147483647 w 279"/>
              <a:gd name="T87" fmla="*/ 2147483647 h 244"/>
              <a:gd name="T88" fmla="*/ 2147483647 w 279"/>
              <a:gd name="T89" fmla="*/ 2147483647 h 244"/>
              <a:gd name="T90" fmla="*/ 2147483647 w 279"/>
              <a:gd name="T91" fmla="*/ 2147483647 h 244"/>
              <a:gd name="T92" fmla="*/ 2147483647 w 279"/>
              <a:gd name="T93" fmla="*/ 2147483647 h 244"/>
              <a:gd name="T94" fmla="*/ 2147483647 w 279"/>
              <a:gd name="T95" fmla="*/ 2147483647 h 244"/>
              <a:gd name="T96" fmla="*/ 2147483647 w 279"/>
              <a:gd name="T97" fmla="*/ 2147483647 h 244"/>
              <a:gd name="T98" fmla="*/ 0 w 279"/>
              <a:gd name="T99" fmla="*/ 2147483647 h 24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79"/>
              <a:gd name="T151" fmla="*/ 0 h 244"/>
              <a:gd name="T152" fmla="*/ 279 w 279"/>
              <a:gd name="T153" fmla="*/ 244 h 244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79" h="244">
                <a:moveTo>
                  <a:pt x="0" y="243"/>
                </a:moveTo>
                <a:lnTo>
                  <a:pt x="148" y="1"/>
                </a:lnTo>
                <a:lnTo>
                  <a:pt x="160" y="0"/>
                </a:lnTo>
                <a:lnTo>
                  <a:pt x="167" y="3"/>
                </a:lnTo>
                <a:lnTo>
                  <a:pt x="168" y="6"/>
                </a:lnTo>
                <a:lnTo>
                  <a:pt x="173" y="5"/>
                </a:lnTo>
                <a:lnTo>
                  <a:pt x="177" y="9"/>
                </a:lnTo>
                <a:lnTo>
                  <a:pt x="182" y="7"/>
                </a:lnTo>
                <a:lnTo>
                  <a:pt x="184" y="12"/>
                </a:lnTo>
                <a:lnTo>
                  <a:pt x="190" y="13"/>
                </a:lnTo>
                <a:lnTo>
                  <a:pt x="196" y="14"/>
                </a:lnTo>
                <a:lnTo>
                  <a:pt x="201" y="15"/>
                </a:lnTo>
                <a:lnTo>
                  <a:pt x="205" y="19"/>
                </a:lnTo>
                <a:lnTo>
                  <a:pt x="210" y="20"/>
                </a:lnTo>
                <a:lnTo>
                  <a:pt x="215" y="23"/>
                </a:lnTo>
                <a:lnTo>
                  <a:pt x="222" y="25"/>
                </a:lnTo>
                <a:lnTo>
                  <a:pt x="226" y="29"/>
                </a:lnTo>
                <a:lnTo>
                  <a:pt x="229" y="32"/>
                </a:lnTo>
                <a:lnTo>
                  <a:pt x="231" y="36"/>
                </a:lnTo>
                <a:lnTo>
                  <a:pt x="235" y="39"/>
                </a:lnTo>
                <a:lnTo>
                  <a:pt x="238" y="45"/>
                </a:lnTo>
                <a:lnTo>
                  <a:pt x="242" y="46"/>
                </a:lnTo>
                <a:lnTo>
                  <a:pt x="248" y="55"/>
                </a:lnTo>
                <a:lnTo>
                  <a:pt x="249" y="58"/>
                </a:lnTo>
                <a:lnTo>
                  <a:pt x="255" y="63"/>
                </a:lnTo>
                <a:lnTo>
                  <a:pt x="256" y="67"/>
                </a:lnTo>
                <a:lnTo>
                  <a:pt x="261" y="71"/>
                </a:lnTo>
                <a:lnTo>
                  <a:pt x="261" y="75"/>
                </a:lnTo>
                <a:lnTo>
                  <a:pt x="264" y="81"/>
                </a:lnTo>
                <a:lnTo>
                  <a:pt x="264" y="86"/>
                </a:lnTo>
                <a:lnTo>
                  <a:pt x="266" y="90"/>
                </a:lnTo>
                <a:lnTo>
                  <a:pt x="266" y="95"/>
                </a:lnTo>
                <a:lnTo>
                  <a:pt x="268" y="99"/>
                </a:lnTo>
                <a:lnTo>
                  <a:pt x="267" y="103"/>
                </a:lnTo>
                <a:lnTo>
                  <a:pt x="268" y="109"/>
                </a:lnTo>
                <a:lnTo>
                  <a:pt x="269" y="113"/>
                </a:lnTo>
                <a:lnTo>
                  <a:pt x="273" y="119"/>
                </a:lnTo>
                <a:lnTo>
                  <a:pt x="274" y="124"/>
                </a:lnTo>
                <a:lnTo>
                  <a:pt x="275" y="128"/>
                </a:lnTo>
                <a:lnTo>
                  <a:pt x="276" y="134"/>
                </a:lnTo>
                <a:lnTo>
                  <a:pt x="277" y="138"/>
                </a:lnTo>
                <a:lnTo>
                  <a:pt x="277" y="143"/>
                </a:lnTo>
                <a:lnTo>
                  <a:pt x="277" y="147"/>
                </a:lnTo>
                <a:lnTo>
                  <a:pt x="274" y="153"/>
                </a:lnTo>
                <a:lnTo>
                  <a:pt x="276" y="156"/>
                </a:lnTo>
                <a:lnTo>
                  <a:pt x="277" y="162"/>
                </a:lnTo>
                <a:lnTo>
                  <a:pt x="278" y="167"/>
                </a:lnTo>
                <a:lnTo>
                  <a:pt x="275" y="172"/>
                </a:lnTo>
                <a:lnTo>
                  <a:pt x="271" y="181"/>
                </a:lnTo>
                <a:lnTo>
                  <a:pt x="0" y="243"/>
                </a:lnTo>
              </a:path>
            </a:pathLst>
          </a:custGeom>
          <a:noFill/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9" name="Arc 19"/>
          <p:cNvSpPr>
            <a:spLocks/>
          </p:cNvSpPr>
          <p:nvPr/>
        </p:nvSpPr>
        <p:spPr bwMode="auto">
          <a:xfrm rot="720000">
            <a:off x="6067425" y="4005264"/>
            <a:ext cx="211138" cy="236537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79876122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0" name="Line 20"/>
          <p:cNvSpPr>
            <a:spLocks noChangeShapeType="1"/>
          </p:cNvSpPr>
          <p:nvPr/>
        </p:nvSpPr>
        <p:spPr bwMode="auto">
          <a:xfrm flipH="1">
            <a:off x="5867401" y="3824288"/>
            <a:ext cx="303213" cy="550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1" name="Oval 21"/>
          <p:cNvSpPr>
            <a:spLocks noChangeArrowheads="1"/>
          </p:cNvSpPr>
          <p:nvPr/>
        </p:nvSpPr>
        <p:spPr bwMode="auto">
          <a:xfrm rot="-1860000">
            <a:off x="6145213" y="4010025"/>
            <a:ext cx="100012" cy="1984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2" name="Line 22"/>
          <p:cNvSpPr>
            <a:spLocks noChangeShapeType="1"/>
          </p:cNvSpPr>
          <p:nvPr/>
        </p:nvSpPr>
        <p:spPr bwMode="auto">
          <a:xfrm flipV="1">
            <a:off x="5867401" y="4230688"/>
            <a:ext cx="555625" cy="144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3" name="Freeform 23"/>
          <p:cNvSpPr>
            <a:spLocks/>
          </p:cNvSpPr>
          <p:nvPr/>
        </p:nvSpPr>
        <p:spPr bwMode="auto">
          <a:xfrm>
            <a:off x="9118600" y="5818188"/>
            <a:ext cx="393700" cy="387350"/>
          </a:xfrm>
          <a:custGeom>
            <a:avLst/>
            <a:gdLst>
              <a:gd name="T0" fmla="*/ 0 w 279"/>
              <a:gd name="T1" fmla="*/ 2147483647 h 244"/>
              <a:gd name="T2" fmla="*/ 2147483647 w 279"/>
              <a:gd name="T3" fmla="*/ 2147483647 h 244"/>
              <a:gd name="T4" fmla="*/ 2147483647 w 279"/>
              <a:gd name="T5" fmla="*/ 0 h 244"/>
              <a:gd name="T6" fmla="*/ 2147483647 w 279"/>
              <a:gd name="T7" fmla="*/ 2147483647 h 244"/>
              <a:gd name="T8" fmla="*/ 2147483647 w 279"/>
              <a:gd name="T9" fmla="*/ 2147483647 h 244"/>
              <a:gd name="T10" fmla="*/ 2147483647 w 279"/>
              <a:gd name="T11" fmla="*/ 2147483647 h 244"/>
              <a:gd name="T12" fmla="*/ 2147483647 w 279"/>
              <a:gd name="T13" fmla="*/ 2147483647 h 244"/>
              <a:gd name="T14" fmla="*/ 2147483647 w 279"/>
              <a:gd name="T15" fmla="*/ 2147483647 h 244"/>
              <a:gd name="T16" fmla="*/ 2147483647 w 279"/>
              <a:gd name="T17" fmla="*/ 2147483647 h 244"/>
              <a:gd name="T18" fmla="*/ 2147483647 w 279"/>
              <a:gd name="T19" fmla="*/ 2147483647 h 244"/>
              <a:gd name="T20" fmla="*/ 2147483647 w 279"/>
              <a:gd name="T21" fmla="*/ 2147483647 h 244"/>
              <a:gd name="T22" fmla="*/ 2147483647 w 279"/>
              <a:gd name="T23" fmla="*/ 2147483647 h 244"/>
              <a:gd name="T24" fmla="*/ 2147483647 w 279"/>
              <a:gd name="T25" fmla="*/ 2147483647 h 244"/>
              <a:gd name="T26" fmla="*/ 2147483647 w 279"/>
              <a:gd name="T27" fmla="*/ 2147483647 h 244"/>
              <a:gd name="T28" fmla="*/ 2147483647 w 279"/>
              <a:gd name="T29" fmla="*/ 2147483647 h 244"/>
              <a:gd name="T30" fmla="*/ 2147483647 w 279"/>
              <a:gd name="T31" fmla="*/ 2147483647 h 244"/>
              <a:gd name="T32" fmla="*/ 2147483647 w 279"/>
              <a:gd name="T33" fmla="*/ 2147483647 h 244"/>
              <a:gd name="T34" fmla="*/ 2147483647 w 279"/>
              <a:gd name="T35" fmla="*/ 2147483647 h 244"/>
              <a:gd name="T36" fmla="*/ 2147483647 w 279"/>
              <a:gd name="T37" fmla="*/ 2147483647 h 244"/>
              <a:gd name="T38" fmla="*/ 2147483647 w 279"/>
              <a:gd name="T39" fmla="*/ 2147483647 h 244"/>
              <a:gd name="T40" fmla="*/ 2147483647 w 279"/>
              <a:gd name="T41" fmla="*/ 2147483647 h 244"/>
              <a:gd name="T42" fmla="*/ 2147483647 w 279"/>
              <a:gd name="T43" fmla="*/ 2147483647 h 244"/>
              <a:gd name="T44" fmla="*/ 2147483647 w 279"/>
              <a:gd name="T45" fmla="*/ 2147483647 h 244"/>
              <a:gd name="T46" fmla="*/ 2147483647 w 279"/>
              <a:gd name="T47" fmla="*/ 2147483647 h 244"/>
              <a:gd name="T48" fmla="*/ 2147483647 w 279"/>
              <a:gd name="T49" fmla="*/ 2147483647 h 244"/>
              <a:gd name="T50" fmla="*/ 2147483647 w 279"/>
              <a:gd name="T51" fmla="*/ 2147483647 h 244"/>
              <a:gd name="T52" fmla="*/ 2147483647 w 279"/>
              <a:gd name="T53" fmla="*/ 2147483647 h 244"/>
              <a:gd name="T54" fmla="*/ 2147483647 w 279"/>
              <a:gd name="T55" fmla="*/ 2147483647 h 244"/>
              <a:gd name="T56" fmla="*/ 2147483647 w 279"/>
              <a:gd name="T57" fmla="*/ 2147483647 h 244"/>
              <a:gd name="T58" fmla="*/ 2147483647 w 279"/>
              <a:gd name="T59" fmla="*/ 2147483647 h 244"/>
              <a:gd name="T60" fmla="*/ 2147483647 w 279"/>
              <a:gd name="T61" fmla="*/ 2147483647 h 244"/>
              <a:gd name="T62" fmla="*/ 2147483647 w 279"/>
              <a:gd name="T63" fmla="*/ 2147483647 h 244"/>
              <a:gd name="T64" fmla="*/ 2147483647 w 279"/>
              <a:gd name="T65" fmla="*/ 2147483647 h 244"/>
              <a:gd name="T66" fmla="*/ 2147483647 w 279"/>
              <a:gd name="T67" fmla="*/ 2147483647 h 244"/>
              <a:gd name="T68" fmla="*/ 2147483647 w 279"/>
              <a:gd name="T69" fmla="*/ 2147483647 h 244"/>
              <a:gd name="T70" fmla="*/ 2147483647 w 279"/>
              <a:gd name="T71" fmla="*/ 2147483647 h 244"/>
              <a:gd name="T72" fmla="*/ 2147483647 w 279"/>
              <a:gd name="T73" fmla="*/ 2147483647 h 244"/>
              <a:gd name="T74" fmla="*/ 2147483647 w 279"/>
              <a:gd name="T75" fmla="*/ 2147483647 h 244"/>
              <a:gd name="T76" fmla="*/ 2147483647 w 279"/>
              <a:gd name="T77" fmla="*/ 2147483647 h 244"/>
              <a:gd name="T78" fmla="*/ 2147483647 w 279"/>
              <a:gd name="T79" fmla="*/ 2147483647 h 244"/>
              <a:gd name="T80" fmla="*/ 2147483647 w 279"/>
              <a:gd name="T81" fmla="*/ 2147483647 h 244"/>
              <a:gd name="T82" fmla="*/ 2147483647 w 279"/>
              <a:gd name="T83" fmla="*/ 2147483647 h 244"/>
              <a:gd name="T84" fmla="*/ 2147483647 w 279"/>
              <a:gd name="T85" fmla="*/ 2147483647 h 244"/>
              <a:gd name="T86" fmla="*/ 2147483647 w 279"/>
              <a:gd name="T87" fmla="*/ 2147483647 h 244"/>
              <a:gd name="T88" fmla="*/ 2147483647 w 279"/>
              <a:gd name="T89" fmla="*/ 2147483647 h 244"/>
              <a:gd name="T90" fmla="*/ 2147483647 w 279"/>
              <a:gd name="T91" fmla="*/ 2147483647 h 244"/>
              <a:gd name="T92" fmla="*/ 2147483647 w 279"/>
              <a:gd name="T93" fmla="*/ 2147483647 h 244"/>
              <a:gd name="T94" fmla="*/ 2147483647 w 279"/>
              <a:gd name="T95" fmla="*/ 2147483647 h 244"/>
              <a:gd name="T96" fmla="*/ 2147483647 w 279"/>
              <a:gd name="T97" fmla="*/ 2147483647 h 244"/>
              <a:gd name="T98" fmla="*/ 0 w 279"/>
              <a:gd name="T99" fmla="*/ 2147483647 h 24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79"/>
              <a:gd name="T151" fmla="*/ 0 h 244"/>
              <a:gd name="T152" fmla="*/ 279 w 279"/>
              <a:gd name="T153" fmla="*/ 244 h 244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79" h="244">
                <a:moveTo>
                  <a:pt x="0" y="243"/>
                </a:moveTo>
                <a:lnTo>
                  <a:pt x="148" y="1"/>
                </a:lnTo>
                <a:lnTo>
                  <a:pt x="160" y="0"/>
                </a:lnTo>
                <a:lnTo>
                  <a:pt x="167" y="3"/>
                </a:lnTo>
                <a:lnTo>
                  <a:pt x="168" y="6"/>
                </a:lnTo>
                <a:lnTo>
                  <a:pt x="173" y="5"/>
                </a:lnTo>
                <a:lnTo>
                  <a:pt x="177" y="9"/>
                </a:lnTo>
                <a:lnTo>
                  <a:pt x="182" y="7"/>
                </a:lnTo>
                <a:lnTo>
                  <a:pt x="184" y="12"/>
                </a:lnTo>
                <a:lnTo>
                  <a:pt x="190" y="13"/>
                </a:lnTo>
                <a:lnTo>
                  <a:pt x="196" y="14"/>
                </a:lnTo>
                <a:lnTo>
                  <a:pt x="201" y="15"/>
                </a:lnTo>
                <a:lnTo>
                  <a:pt x="205" y="19"/>
                </a:lnTo>
                <a:lnTo>
                  <a:pt x="210" y="20"/>
                </a:lnTo>
                <a:lnTo>
                  <a:pt x="215" y="23"/>
                </a:lnTo>
                <a:lnTo>
                  <a:pt x="222" y="25"/>
                </a:lnTo>
                <a:lnTo>
                  <a:pt x="226" y="29"/>
                </a:lnTo>
                <a:lnTo>
                  <a:pt x="229" y="32"/>
                </a:lnTo>
                <a:lnTo>
                  <a:pt x="231" y="36"/>
                </a:lnTo>
                <a:lnTo>
                  <a:pt x="235" y="39"/>
                </a:lnTo>
                <a:lnTo>
                  <a:pt x="238" y="45"/>
                </a:lnTo>
                <a:lnTo>
                  <a:pt x="242" y="46"/>
                </a:lnTo>
                <a:lnTo>
                  <a:pt x="248" y="55"/>
                </a:lnTo>
                <a:lnTo>
                  <a:pt x="249" y="58"/>
                </a:lnTo>
                <a:lnTo>
                  <a:pt x="255" y="63"/>
                </a:lnTo>
                <a:lnTo>
                  <a:pt x="256" y="67"/>
                </a:lnTo>
                <a:lnTo>
                  <a:pt x="261" y="71"/>
                </a:lnTo>
                <a:lnTo>
                  <a:pt x="261" y="75"/>
                </a:lnTo>
                <a:lnTo>
                  <a:pt x="264" y="81"/>
                </a:lnTo>
                <a:lnTo>
                  <a:pt x="264" y="86"/>
                </a:lnTo>
                <a:lnTo>
                  <a:pt x="266" y="90"/>
                </a:lnTo>
                <a:lnTo>
                  <a:pt x="266" y="95"/>
                </a:lnTo>
                <a:lnTo>
                  <a:pt x="268" y="99"/>
                </a:lnTo>
                <a:lnTo>
                  <a:pt x="267" y="103"/>
                </a:lnTo>
                <a:lnTo>
                  <a:pt x="268" y="109"/>
                </a:lnTo>
                <a:lnTo>
                  <a:pt x="269" y="113"/>
                </a:lnTo>
                <a:lnTo>
                  <a:pt x="273" y="119"/>
                </a:lnTo>
                <a:lnTo>
                  <a:pt x="274" y="124"/>
                </a:lnTo>
                <a:lnTo>
                  <a:pt x="275" y="128"/>
                </a:lnTo>
                <a:lnTo>
                  <a:pt x="276" y="134"/>
                </a:lnTo>
                <a:lnTo>
                  <a:pt x="277" y="138"/>
                </a:lnTo>
                <a:lnTo>
                  <a:pt x="277" y="143"/>
                </a:lnTo>
                <a:lnTo>
                  <a:pt x="277" y="147"/>
                </a:lnTo>
                <a:lnTo>
                  <a:pt x="274" y="153"/>
                </a:lnTo>
                <a:lnTo>
                  <a:pt x="276" y="156"/>
                </a:lnTo>
                <a:lnTo>
                  <a:pt x="277" y="162"/>
                </a:lnTo>
                <a:lnTo>
                  <a:pt x="278" y="167"/>
                </a:lnTo>
                <a:lnTo>
                  <a:pt x="275" y="172"/>
                </a:lnTo>
                <a:lnTo>
                  <a:pt x="271" y="181"/>
                </a:lnTo>
                <a:lnTo>
                  <a:pt x="0" y="243"/>
                </a:lnTo>
              </a:path>
            </a:pathLst>
          </a:custGeom>
          <a:noFill/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54" name="Arc 24"/>
          <p:cNvSpPr>
            <a:spLocks/>
          </p:cNvSpPr>
          <p:nvPr/>
        </p:nvSpPr>
        <p:spPr bwMode="auto">
          <a:xfrm rot="720000">
            <a:off x="9318625" y="5834064"/>
            <a:ext cx="211138" cy="236537"/>
          </a:xfrm>
          <a:custGeom>
            <a:avLst/>
            <a:gdLst>
              <a:gd name="T0" fmla="*/ 0 w 21745"/>
              <a:gd name="T1" fmla="*/ 0 h 21600"/>
              <a:gd name="T2" fmla="*/ 2147483647 w 21745"/>
              <a:gd name="T3" fmla="*/ 2147483647 h 21600"/>
              <a:gd name="T4" fmla="*/ 1179876122 w 21745"/>
              <a:gd name="T5" fmla="*/ 2147483647 h 21600"/>
              <a:gd name="T6" fmla="*/ 0 60000 65536"/>
              <a:gd name="T7" fmla="*/ 0 60000 65536"/>
              <a:gd name="T8" fmla="*/ 0 60000 65536"/>
              <a:gd name="T9" fmla="*/ 0 w 21745"/>
              <a:gd name="T10" fmla="*/ 0 h 21600"/>
              <a:gd name="T11" fmla="*/ 21745 w 217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5" h="21600" fill="none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</a:path>
              <a:path w="21745" h="21600" stroke="0" extrusionOk="0">
                <a:moveTo>
                  <a:pt x="0" y="0"/>
                </a:moveTo>
                <a:cubicBezTo>
                  <a:pt x="48" y="0"/>
                  <a:pt x="96" y="-1"/>
                  <a:pt x="145" y="0"/>
                </a:cubicBezTo>
                <a:cubicBezTo>
                  <a:pt x="12074" y="0"/>
                  <a:pt x="21745" y="9670"/>
                  <a:pt x="21745" y="21600"/>
                </a:cubicBezTo>
                <a:lnTo>
                  <a:pt x="145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5" name="Line 25"/>
          <p:cNvSpPr>
            <a:spLocks noChangeShapeType="1"/>
          </p:cNvSpPr>
          <p:nvPr/>
        </p:nvSpPr>
        <p:spPr bwMode="auto">
          <a:xfrm flipH="1">
            <a:off x="9118601" y="5653088"/>
            <a:ext cx="303213" cy="550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6" name="Oval 26"/>
          <p:cNvSpPr>
            <a:spLocks noChangeArrowheads="1"/>
          </p:cNvSpPr>
          <p:nvPr/>
        </p:nvSpPr>
        <p:spPr bwMode="auto">
          <a:xfrm rot="-1860000">
            <a:off x="9396413" y="5838825"/>
            <a:ext cx="100012" cy="1984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7" name="Line 27"/>
          <p:cNvSpPr>
            <a:spLocks noChangeShapeType="1"/>
          </p:cNvSpPr>
          <p:nvPr/>
        </p:nvSpPr>
        <p:spPr bwMode="auto">
          <a:xfrm flipV="1">
            <a:off x="9118601" y="6059488"/>
            <a:ext cx="555625" cy="144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8" name="Rectangle 2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Stereo image rectification</a:t>
            </a:r>
          </a:p>
        </p:txBody>
      </p:sp>
      <p:sp>
        <p:nvSpPr>
          <p:cNvPr id="416797" name="Rectangle 29"/>
          <p:cNvSpPr>
            <a:spLocks noGrp="1" noChangeArrowheads="1"/>
          </p:cNvSpPr>
          <p:nvPr>
            <p:ph type="body" idx="1"/>
          </p:nvPr>
        </p:nvSpPr>
        <p:spPr>
          <a:xfrm>
            <a:off x="1600200" y="1219201"/>
            <a:ext cx="4191000" cy="5541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Char char="•"/>
              <a:defRPr/>
            </a:pPr>
            <a:r>
              <a:rPr lang="en-US" dirty="0" err="1"/>
              <a:t>Reproject</a:t>
            </a:r>
            <a:r>
              <a:rPr lang="en-US" dirty="0"/>
              <a:t> image planes onto a common plane parallel to the line between camera centers</a:t>
            </a:r>
          </a:p>
          <a:p>
            <a:pPr>
              <a:lnSpc>
                <a:spcPct val="80000"/>
              </a:lnSpc>
              <a:buFontTx/>
              <a:buChar char="•"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Char char="•"/>
              <a:defRPr/>
            </a:pPr>
            <a:r>
              <a:rPr lang="en-US" dirty="0"/>
              <a:t>Pixel motion is horizontal after this transformation</a:t>
            </a:r>
          </a:p>
          <a:p>
            <a:pPr>
              <a:lnSpc>
                <a:spcPct val="80000"/>
              </a:lnSpc>
              <a:buFontTx/>
              <a:buChar char="•"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Char char="•"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Char char="•"/>
              <a:defRPr/>
            </a:pPr>
            <a:r>
              <a:rPr lang="en-US" dirty="0"/>
              <a:t>Two </a:t>
            </a:r>
            <a:r>
              <a:rPr lang="en-US" dirty="0" err="1"/>
              <a:t>homographies</a:t>
            </a:r>
            <a:r>
              <a:rPr lang="en-US" dirty="0"/>
              <a:t> (3x3 transform), one for each input image </a:t>
            </a:r>
            <a:r>
              <a:rPr lang="en-US" dirty="0" err="1"/>
              <a:t>reprojection</a:t>
            </a:r>
            <a:endParaRPr lang="en-US" dirty="0"/>
          </a:p>
          <a:p>
            <a:pPr>
              <a:lnSpc>
                <a:spcPct val="80000"/>
              </a:lnSpc>
              <a:buFont typeface="Wingdings" pitchFamily="2" charset="2"/>
              <a:buChar char="Ø"/>
              <a:defRPr/>
            </a:pP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2000" dirty="0"/>
              <a:t>C. Loop and Z. Zhang. </a:t>
            </a:r>
            <a:r>
              <a:rPr lang="en-US" sz="2000" dirty="0">
                <a:hlinkClick r:id="rId3"/>
              </a:rPr>
              <a:t>Computing Rectifying </a:t>
            </a:r>
            <a:r>
              <a:rPr lang="en-US" sz="2000" dirty="0" err="1">
                <a:hlinkClick r:id="rId3"/>
              </a:rPr>
              <a:t>Homographies</a:t>
            </a:r>
            <a:r>
              <a:rPr lang="en-US" sz="2000" dirty="0">
                <a:hlinkClick r:id="rId3"/>
              </a:rPr>
              <a:t> for Stereo Vision</a:t>
            </a:r>
            <a:r>
              <a:rPr lang="en-US" sz="2000" dirty="0"/>
              <a:t>. IEEE Conf. Computer Vision and Pattern Recognition, 1999</a:t>
            </a:r>
            <a:r>
              <a:rPr lang="en-US" sz="2400" dirty="0"/>
              <a:t>.</a:t>
            </a:r>
          </a:p>
        </p:txBody>
      </p:sp>
      <p:sp>
        <p:nvSpPr>
          <p:cNvPr id="44060" name="Line 35"/>
          <p:cNvSpPr>
            <a:spLocks noChangeShapeType="1"/>
          </p:cNvSpPr>
          <p:nvPr/>
        </p:nvSpPr>
        <p:spPr bwMode="auto">
          <a:xfrm>
            <a:off x="7250114" y="2886076"/>
            <a:ext cx="1893887" cy="10461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61" name="Line 36"/>
          <p:cNvSpPr>
            <a:spLocks noChangeShapeType="1"/>
          </p:cNvSpPr>
          <p:nvPr/>
        </p:nvSpPr>
        <p:spPr bwMode="auto">
          <a:xfrm>
            <a:off x="7242175" y="4216401"/>
            <a:ext cx="1893888" cy="10461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6798" name="Line 30"/>
          <p:cNvSpPr>
            <a:spLocks noChangeShapeType="1"/>
          </p:cNvSpPr>
          <p:nvPr/>
        </p:nvSpPr>
        <p:spPr bwMode="auto">
          <a:xfrm>
            <a:off x="6021389" y="2936875"/>
            <a:ext cx="1209675" cy="668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6799" name="Line 31"/>
          <p:cNvSpPr>
            <a:spLocks noChangeShapeType="1"/>
          </p:cNvSpPr>
          <p:nvPr/>
        </p:nvSpPr>
        <p:spPr bwMode="auto">
          <a:xfrm>
            <a:off x="9153526" y="4683125"/>
            <a:ext cx="1209675" cy="668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6806" name="Line 38"/>
          <p:cNvSpPr>
            <a:spLocks noChangeShapeType="1"/>
          </p:cNvSpPr>
          <p:nvPr/>
        </p:nvSpPr>
        <p:spPr bwMode="auto">
          <a:xfrm>
            <a:off x="7250114" y="3622676"/>
            <a:ext cx="1893887" cy="10461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65" name="Oval 14"/>
          <p:cNvSpPr>
            <a:spLocks noChangeArrowheads="1"/>
          </p:cNvSpPr>
          <p:nvPr/>
        </p:nvSpPr>
        <p:spPr bwMode="auto">
          <a:xfrm>
            <a:off x="9413875" y="4810125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66" name="Oval 15"/>
          <p:cNvSpPr>
            <a:spLocks noChangeArrowheads="1"/>
          </p:cNvSpPr>
          <p:nvPr/>
        </p:nvSpPr>
        <p:spPr bwMode="auto">
          <a:xfrm>
            <a:off x="6838950" y="3378200"/>
            <a:ext cx="57150" cy="63500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6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6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1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6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6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6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98" grpId="0" animBg="1"/>
      <p:bldP spid="416799" grpId="0" animBg="1"/>
      <p:bldP spid="41680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Rectification example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5060" name="Picture 5" descr="Rectification3"/>
          <p:cNvPicPr>
            <a:picLocks noChangeAspect="1" noChangeArrowheads="1"/>
          </p:cNvPicPr>
          <p:nvPr/>
        </p:nvPicPr>
        <p:blipFill>
          <a:blip r:embed="rId3" cstate="print"/>
          <a:srcRect r="26967" b="55083"/>
          <a:stretch>
            <a:fillRect/>
          </a:stretch>
        </p:blipFill>
        <p:spPr bwMode="auto">
          <a:xfrm>
            <a:off x="3124200" y="1143000"/>
            <a:ext cx="5715000" cy="240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1" name="Picture 6" descr="Rectification4"/>
          <p:cNvPicPr>
            <a:picLocks noChangeAspect="1" noChangeArrowheads="1"/>
          </p:cNvPicPr>
          <p:nvPr/>
        </p:nvPicPr>
        <p:blipFill>
          <a:blip r:embed="rId4" cstate="print"/>
          <a:srcRect t="48813" r="22858"/>
          <a:stretch>
            <a:fillRect/>
          </a:stretch>
        </p:blipFill>
        <p:spPr bwMode="auto">
          <a:xfrm>
            <a:off x="2971800" y="3560764"/>
            <a:ext cx="6248400" cy="268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stereo matching algorithm</a:t>
            </a:r>
          </a:p>
        </p:txBody>
      </p:sp>
      <p:pic>
        <p:nvPicPr>
          <p:cNvPr id="46083" name="Picture 3" descr="lincoln_ful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1066801"/>
            <a:ext cx="5029200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1140" name="Line 4"/>
          <p:cNvSpPr>
            <a:spLocks noChangeShapeType="1"/>
          </p:cNvSpPr>
          <p:nvPr/>
        </p:nvSpPr>
        <p:spPr bwMode="auto">
          <a:xfrm>
            <a:off x="6096000" y="3124200"/>
            <a:ext cx="2514600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876800" y="2971800"/>
            <a:ext cx="304800" cy="304800"/>
            <a:chOff x="2112" y="1872"/>
            <a:chExt cx="192" cy="192"/>
          </a:xfrm>
        </p:grpSpPr>
        <p:sp>
          <p:nvSpPr>
            <p:cNvPr id="46096" name="Oval 6"/>
            <p:cNvSpPr>
              <a:spLocks noChangeArrowheads="1"/>
            </p:cNvSpPr>
            <p:nvPr/>
          </p:nvSpPr>
          <p:spPr bwMode="auto">
            <a:xfrm>
              <a:off x="2174" y="1941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7" name="Rectangle 7"/>
            <p:cNvSpPr>
              <a:spLocks noChangeArrowheads="1"/>
            </p:cNvSpPr>
            <p:nvPr/>
          </p:nvSpPr>
          <p:spPr bwMode="auto">
            <a:xfrm>
              <a:off x="2112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781800" y="2971800"/>
            <a:ext cx="304800" cy="304800"/>
            <a:chOff x="3600" y="1872"/>
            <a:chExt cx="192" cy="192"/>
          </a:xfrm>
        </p:grpSpPr>
        <p:sp>
          <p:nvSpPr>
            <p:cNvPr id="46094" name="Oval 9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5" name="Rectangle 10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3114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1828800" y="4114800"/>
            <a:ext cx="8686800" cy="2438400"/>
          </a:xfrm>
        </p:spPr>
        <p:txBody>
          <a:bodyPr>
            <a:normAutofit lnSpcReduction="10000"/>
          </a:bodyPr>
          <a:lstStyle/>
          <a:p>
            <a:pPr>
              <a:buFontTx/>
              <a:buChar char="•"/>
              <a:defRPr/>
            </a:pPr>
            <a:r>
              <a:rPr lang="en-US" dirty="0"/>
              <a:t>If necessary, rectify the two stereo images to transform </a:t>
            </a:r>
            <a:r>
              <a:rPr lang="en-US" dirty="0" err="1"/>
              <a:t>epipolar</a:t>
            </a:r>
            <a:r>
              <a:rPr lang="en-US" dirty="0"/>
              <a:t> lines into </a:t>
            </a:r>
            <a:r>
              <a:rPr lang="en-US" dirty="0" err="1"/>
              <a:t>scanlines</a:t>
            </a:r>
            <a:endParaRPr lang="en-US" dirty="0"/>
          </a:p>
          <a:p>
            <a:pPr>
              <a:buFontTx/>
              <a:buChar char="•"/>
              <a:defRPr/>
            </a:pPr>
            <a:r>
              <a:rPr lang="en-US" dirty="0"/>
              <a:t>For each pixel x in the first image</a:t>
            </a:r>
          </a:p>
          <a:p>
            <a:pPr lvl="1">
              <a:defRPr/>
            </a:pPr>
            <a:r>
              <a:rPr lang="en-US" dirty="0"/>
              <a:t>Find corresponding </a:t>
            </a:r>
            <a:r>
              <a:rPr lang="en-US" dirty="0" err="1"/>
              <a:t>epipolar</a:t>
            </a:r>
            <a:r>
              <a:rPr lang="en-US" dirty="0"/>
              <a:t> </a:t>
            </a:r>
            <a:r>
              <a:rPr lang="en-US" dirty="0" err="1"/>
              <a:t>scanline</a:t>
            </a:r>
            <a:r>
              <a:rPr lang="en-US" dirty="0"/>
              <a:t> in the right image</a:t>
            </a:r>
          </a:p>
          <a:p>
            <a:pPr lvl="1">
              <a:defRPr/>
            </a:pPr>
            <a:r>
              <a:rPr lang="en-US" dirty="0"/>
              <a:t>Search the </a:t>
            </a:r>
            <a:r>
              <a:rPr lang="en-US" dirty="0" err="1"/>
              <a:t>scanline</a:t>
            </a:r>
            <a:r>
              <a:rPr lang="en-US" dirty="0"/>
              <a:t> and pick the best match x’</a:t>
            </a:r>
          </a:p>
          <a:p>
            <a:pPr lvl="1">
              <a:defRPr/>
            </a:pPr>
            <a:r>
              <a:rPr lang="en-US" dirty="0"/>
              <a:t>Compute disparity x-x’ and set depth(x) = </a:t>
            </a:r>
            <a:r>
              <a:rPr lang="en-US" dirty="0" err="1"/>
              <a:t>fB</a:t>
            </a:r>
            <a:r>
              <a:rPr lang="en-US" dirty="0"/>
              <a:t>/(x-x’)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6324600" y="2971800"/>
            <a:ext cx="304800" cy="304800"/>
            <a:chOff x="3600" y="1872"/>
            <a:chExt cx="192" cy="192"/>
          </a:xfrm>
        </p:grpSpPr>
        <p:sp>
          <p:nvSpPr>
            <p:cNvPr id="46092" name="Oval 13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3" name="Rectangle 14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7239000" y="2971800"/>
            <a:ext cx="304800" cy="304800"/>
            <a:chOff x="3600" y="1872"/>
            <a:chExt cx="192" cy="192"/>
          </a:xfrm>
        </p:grpSpPr>
        <p:sp>
          <p:nvSpPr>
            <p:cNvPr id="46090" name="Oval 16"/>
            <p:cNvSpPr>
              <a:spLocks noChangeArrowheads="1"/>
            </p:cNvSpPr>
            <p:nvPr/>
          </p:nvSpPr>
          <p:spPr bwMode="auto">
            <a:xfrm>
              <a:off x="3675" y="1947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1" name="Rectangle 17"/>
            <p:cNvSpPr>
              <a:spLocks noChangeArrowheads="1"/>
            </p:cNvSpPr>
            <p:nvPr/>
          </p:nvSpPr>
          <p:spPr bwMode="auto">
            <a:xfrm>
              <a:off x="3600" y="1872"/>
              <a:ext cx="192" cy="192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40" grpId="0" uiExpand="1" animBg="1"/>
      <p:bldP spid="731147" grpId="0" uiExpand="1" build="p" bldLvl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reeform 5"/>
          <p:cNvSpPr>
            <a:spLocks/>
          </p:cNvSpPr>
          <p:nvPr/>
        </p:nvSpPr>
        <p:spPr bwMode="auto">
          <a:xfrm>
            <a:off x="7229476" y="3859214"/>
            <a:ext cx="1884363" cy="314325"/>
          </a:xfrm>
          <a:custGeom>
            <a:avLst/>
            <a:gdLst>
              <a:gd name="T0" fmla="*/ 0 w 1468"/>
              <a:gd name="T1" fmla="*/ 2147483647 h 252"/>
              <a:gd name="T2" fmla="*/ 2147483647 w 1468"/>
              <a:gd name="T3" fmla="*/ 2147483647 h 252"/>
              <a:gd name="T4" fmla="*/ 2147483647 w 1468"/>
              <a:gd name="T5" fmla="*/ 2147483647 h 252"/>
              <a:gd name="T6" fmla="*/ 2147483647 w 1468"/>
              <a:gd name="T7" fmla="*/ 2147483647 h 252"/>
              <a:gd name="T8" fmla="*/ 2147483647 w 1468"/>
              <a:gd name="T9" fmla="*/ 2147483647 h 252"/>
              <a:gd name="T10" fmla="*/ 2147483647 w 1468"/>
              <a:gd name="T11" fmla="*/ 0 h 252"/>
              <a:gd name="T12" fmla="*/ 2147483647 w 1468"/>
              <a:gd name="T13" fmla="*/ 2147483647 h 252"/>
              <a:gd name="T14" fmla="*/ 2147483647 w 1468"/>
              <a:gd name="T15" fmla="*/ 2147483647 h 252"/>
              <a:gd name="T16" fmla="*/ 2147483647 w 1468"/>
              <a:gd name="T17" fmla="*/ 2147483647 h 252"/>
              <a:gd name="T18" fmla="*/ 2147483647 w 1468"/>
              <a:gd name="T19" fmla="*/ 2147483647 h 252"/>
              <a:gd name="T20" fmla="*/ 2147483647 w 1468"/>
              <a:gd name="T21" fmla="*/ 2147483647 h 252"/>
              <a:gd name="T22" fmla="*/ 2147483647 w 1468"/>
              <a:gd name="T23" fmla="*/ 2147483647 h 252"/>
              <a:gd name="T24" fmla="*/ 2147483647 w 1468"/>
              <a:gd name="T25" fmla="*/ 2147483647 h 252"/>
              <a:gd name="T26" fmla="*/ 2147483647 w 1468"/>
              <a:gd name="T27" fmla="*/ 2147483647 h 252"/>
              <a:gd name="T28" fmla="*/ 2147483647 w 1468"/>
              <a:gd name="T29" fmla="*/ 2147483647 h 252"/>
              <a:gd name="T30" fmla="*/ 2147483647 w 1468"/>
              <a:gd name="T31" fmla="*/ 2147483647 h 252"/>
              <a:gd name="T32" fmla="*/ 2147483647 w 1468"/>
              <a:gd name="T33" fmla="*/ 2147483647 h 252"/>
              <a:gd name="T34" fmla="*/ 2147483647 w 1468"/>
              <a:gd name="T35" fmla="*/ 2147483647 h 252"/>
              <a:gd name="T36" fmla="*/ 2147483647 w 1468"/>
              <a:gd name="T37" fmla="*/ 2147483647 h 252"/>
              <a:gd name="T38" fmla="*/ 2147483647 w 1468"/>
              <a:gd name="T39" fmla="*/ 2147483647 h 252"/>
              <a:gd name="T40" fmla="*/ 2147483647 w 1468"/>
              <a:gd name="T41" fmla="*/ 2147483647 h 252"/>
              <a:gd name="T42" fmla="*/ 2147483647 w 1468"/>
              <a:gd name="T43" fmla="*/ 2147483647 h 252"/>
              <a:gd name="T44" fmla="*/ 2147483647 w 1468"/>
              <a:gd name="T45" fmla="*/ 2147483647 h 252"/>
              <a:gd name="T46" fmla="*/ 2147483647 w 1468"/>
              <a:gd name="T47" fmla="*/ 2147483647 h 252"/>
              <a:gd name="T48" fmla="*/ 2147483647 w 1468"/>
              <a:gd name="T49" fmla="*/ 2147483647 h 252"/>
              <a:gd name="T50" fmla="*/ 2147483647 w 1468"/>
              <a:gd name="T51" fmla="*/ 2147483647 h 252"/>
              <a:gd name="T52" fmla="*/ 2147483647 w 1468"/>
              <a:gd name="T53" fmla="*/ 2147483647 h 252"/>
              <a:gd name="T54" fmla="*/ 2147483647 w 1468"/>
              <a:gd name="T55" fmla="*/ 2147483647 h 252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468"/>
              <a:gd name="T85" fmla="*/ 0 h 252"/>
              <a:gd name="T86" fmla="*/ 1468 w 1468"/>
              <a:gd name="T87" fmla="*/ 252 h 252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468" h="252">
                <a:moveTo>
                  <a:pt x="0" y="5"/>
                </a:moveTo>
                <a:cubicBezTo>
                  <a:pt x="22" y="20"/>
                  <a:pt x="30" y="32"/>
                  <a:pt x="56" y="41"/>
                </a:cubicBezTo>
                <a:cubicBezTo>
                  <a:pt x="61" y="39"/>
                  <a:pt x="67" y="39"/>
                  <a:pt x="71" y="36"/>
                </a:cubicBezTo>
                <a:cubicBezTo>
                  <a:pt x="75" y="33"/>
                  <a:pt x="77" y="27"/>
                  <a:pt x="81" y="25"/>
                </a:cubicBezTo>
                <a:cubicBezTo>
                  <a:pt x="95" y="18"/>
                  <a:pt x="112" y="15"/>
                  <a:pt x="127" y="10"/>
                </a:cubicBezTo>
                <a:cubicBezTo>
                  <a:pt x="137" y="7"/>
                  <a:pt x="157" y="0"/>
                  <a:pt x="157" y="0"/>
                </a:cubicBezTo>
                <a:cubicBezTo>
                  <a:pt x="196" y="13"/>
                  <a:pt x="233" y="31"/>
                  <a:pt x="273" y="41"/>
                </a:cubicBezTo>
                <a:cubicBezTo>
                  <a:pt x="283" y="40"/>
                  <a:pt x="353" y="26"/>
                  <a:pt x="369" y="30"/>
                </a:cubicBezTo>
                <a:cubicBezTo>
                  <a:pt x="390" y="54"/>
                  <a:pt x="366" y="30"/>
                  <a:pt x="395" y="46"/>
                </a:cubicBezTo>
                <a:cubicBezTo>
                  <a:pt x="406" y="52"/>
                  <a:pt x="450" y="137"/>
                  <a:pt x="455" y="121"/>
                </a:cubicBezTo>
                <a:cubicBezTo>
                  <a:pt x="486" y="168"/>
                  <a:pt x="519" y="233"/>
                  <a:pt x="576" y="252"/>
                </a:cubicBezTo>
                <a:cubicBezTo>
                  <a:pt x="603" y="245"/>
                  <a:pt x="593" y="186"/>
                  <a:pt x="615" y="171"/>
                </a:cubicBezTo>
                <a:cubicBezTo>
                  <a:pt x="618" y="161"/>
                  <a:pt x="624" y="139"/>
                  <a:pt x="627" y="129"/>
                </a:cubicBezTo>
                <a:cubicBezTo>
                  <a:pt x="629" y="124"/>
                  <a:pt x="646" y="102"/>
                  <a:pt x="651" y="99"/>
                </a:cubicBezTo>
                <a:cubicBezTo>
                  <a:pt x="661" y="92"/>
                  <a:pt x="681" y="78"/>
                  <a:pt x="681" y="78"/>
                </a:cubicBezTo>
                <a:cubicBezTo>
                  <a:pt x="694" y="59"/>
                  <a:pt x="724" y="71"/>
                  <a:pt x="747" y="78"/>
                </a:cubicBezTo>
                <a:cubicBezTo>
                  <a:pt x="768" y="86"/>
                  <a:pt x="791" y="116"/>
                  <a:pt x="809" y="126"/>
                </a:cubicBezTo>
                <a:cubicBezTo>
                  <a:pt x="824" y="127"/>
                  <a:pt x="854" y="137"/>
                  <a:pt x="854" y="137"/>
                </a:cubicBezTo>
                <a:cubicBezTo>
                  <a:pt x="919" y="131"/>
                  <a:pt x="895" y="133"/>
                  <a:pt x="935" y="106"/>
                </a:cubicBezTo>
                <a:cubicBezTo>
                  <a:pt x="954" y="94"/>
                  <a:pt x="979" y="98"/>
                  <a:pt x="1001" y="96"/>
                </a:cubicBezTo>
                <a:cubicBezTo>
                  <a:pt x="1020" y="83"/>
                  <a:pt x="1042" y="78"/>
                  <a:pt x="1062" y="66"/>
                </a:cubicBezTo>
                <a:cubicBezTo>
                  <a:pt x="1096" y="71"/>
                  <a:pt x="1169" y="82"/>
                  <a:pt x="1198" y="101"/>
                </a:cubicBezTo>
                <a:cubicBezTo>
                  <a:pt x="1221" y="117"/>
                  <a:pt x="1247" y="133"/>
                  <a:pt x="1274" y="142"/>
                </a:cubicBezTo>
                <a:cubicBezTo>
                  <a:pt x="1291" y="159"/>
                  <a:pt x="1312" y="170"/>
                  <a:pt x="1334" y="177"/>
                </a:cubicBezTo>
                <a:cubicBezTo>
                  <a:pt x="1370" y="173"/>
                  <a:pt x="1383" y="175"/>
                  <a:pt x="1410" y="157"/>
                </a:cubicBezTo>
                <a:cubicBezTo>
                  <a:pt x="1417" y="135"/>
                  <a:pt x="1429" y="117"/>
                  <a:pt x="1446" y="101"/>
                </a:cubicBezTo>
                <a:cubicBezTo>
                  <a:pt x="1448" y="96"/>
                  <a:pt x="1447" y="90"/>
                  <a:pt x="1451" y="86"/>
                </a:cubicBezTo>
                <a:cubicBezTo>
                  <a:pt x="1468" y="69"/>
                  <a:pt x="1466" y="90"/>
                  <a:pt x="1466" y="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7107" name="Group 6"/>
          <p:cNvGrpSpPr>
            <a:grpSpLocks/>
          </p:cNvGrpSpPr>
          <p:nvPr/>
        </p:nvGrpSpPr>
        <p:grpSpPr bwMode="auto">
          <a:xfrm>
            <a:off x="7232651" y="3721100"/>
            <a:ext cx="1909763" cy="477838"/>
            <a:chOff x="2064" y="2160"/>
            <a:chExt cx="1488" cy="384"/>
          </a:xfrm>
        </p:grpSpPr>
        <p:sp>
          <p:nvSpPr>
            <p:cNvPr id="47126" name="Line 7"/>
            <p:cNvSpPr>
              <a:spLocks noChangeShapeType="1"/>
            </p:cNvSpPr>
            <p:nvPr/>
          </p:nvSpPr>
          <p:spPr bwMode="auto">
            <a:xfrm flipV="1">
              <a:off x="2064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7" name="Line 8"/>
            <p:cNvSpPr>
              <a:spLocks noChangeShapeType="1"/>
            </p:cNvSpPr>
            <p:nvPr/>
          </p:nvSpPr>
          <p:spPr bwMode="auto">
            <a:xfrm>
              <a:off x="2064" y="254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08" name="Text Box 9"/>
          <p:cNvSpPr txBox="1">
            <a:spLocks noChangeArrowheads="1"/>
          </p:cNvSpPr>
          <p:nvPr/>
        </p:nvSpPr>
        <p:spPr bwMode="auto">
          <a:xfrm>
            <a:off x="5867401" y="3581400"/>
            <a:ext cx="1344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Matching cost</a:t>
            </a:r>
          </a:p>
        </p:txBody>
      </p:sp>
      <p:sp>
        <p:nvSpPr>
          <p:cNvPr id="47109" name="Text Box 10"/>
          <p:cNvSpPr txBox="1">
            <a:spLocks noChangeArrowheads="1"/>
          </p:cNvSpPr>
          <p:nvPr/>
        </p:nvSpPr>
        <p:spPr bwMode="auto">
          <a:xfrm>
            <a:off x="9159876" y="3962400"/>
            <a:ext cx="898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disparity</a:t>
            </a:r>
          </a:p>
        </p:txBody>
      </p:sp>
      <p:pic>
        <p:nvPicPr>
          <p:cNvPr id="47110" name="Picture 11" descr="lef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8013" y="1212851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1" name="Picture 12" descr="rig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35738" y="1212851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2" name="Line 13"/>
          <p:cNvSpPr>
            <a:spLocks noChangeShapeType="1"/>
          </p:cNvSpPr>
          <p:nvPr/>
        </p:nvSpPr>
        <p:spPr bwMode="auto">
          <a:xfrm>
            <a:off x="2963864" y="2108200"/>
            <a:ext cx="671353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113" name="Rectangle 14"/>
          <p:cNvSpPr>
            <a:spLocks noChangeArrowheads="1"/>
          </p:cNvSpPr>
          <p:nvPr/>
        </p:nvSpPr>
        <p:spPr bwMode="auto">
          <a:xfrm>
            <a:off x="4541839" y="2049463"/>
            <a:ext cx="123825" cy="11906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114" name="Group 15"/>
          <p:cNvGrpSpPr>
            <a:grpSpLocks/>
          </p:cNvGrpSpPr>
          <p:nvPr/>
        </p:nvGrpSpPr>
        <p:grpSpPr bwMode="auto">
          <a:xfrm>
            <a:off x="7545388" y="2049463"/>
            <a:ext cx="862012" cy="119062"/>
            <a:chOff x="3111" y="3838"/>
            <a:chExt cx="672" cy="96"/>
          </a:xfrm>
        </p:grpSpPr>
        <p:sp>
          <p:nvSpPr>
            <p:cNvPr id="47121" name="Rectangle 16"/>
            <p:cNvSpPr>
              <a:spLocks noChangeArrowheads="1"/>
            </p:cNvSpPr>
            <p:nvPr/>
          </p:nvSpPr>
          <p:spPr bwMode="auto">
            <a:xfrm>
              <a:off x="3399" y="3838"/>
              <a:ext cx="96" cy="96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2" name="Rectangle 17"/>
            <p:cNvSpPr>
              <a:spLocks noChangeArrowheads="1"/>
            </p:cNvSpPr>
            <p:nvPr/>
          </p:nvSpPr>
          <p:spPr bwMode="auto">
            <a:xfrm>
              <a:off x="3111" y="3838"/>
              <a:ext cx="96" cy="96"/>
            </a:xfrm>
            <a:prstGeom prst="rect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3" name="Rectangle 18"/>
            <p:cNvSpPr>
              <a:spLocks noChangeArrowheads="1"/>
            </p:cNvSpPr>
            <p:nvPr/>
          </p:nvSpPr>
          <p:spPr bwMode="auto">
            <a:xfrm>
              <a:off x="3255" y="3838"/>
              <a:ext cx="96" cy="96"/>
            </a:xfrm>
            <a:prstGeom prst="rect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4" name="Rectangle 19"/>
            <p:cNvSpPr>
              <a:spLocks noChangeArrowheads="1"/>
            </p:cNvSpPr>
            <p:nvPr/>
          </p:nvSpPr>
          <p:spPr bwMode="auto">
            <a:xfrm>
              <a:off x="3543" y="3838"/>
              <a:ext cx="96" cy="96"/>
            </a:xfrm>
            <a:prstGeom prst="rect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5" name="Rectangle 20"/>
            <p:cNvSpPr>
              <a:spLocks noChangeArrowheads="1"/>
            </p:cNvSpPr>
            <p:nvPr/>
          </p:nvSpPr>
          <p:spPr bwMode="auto">
            <a:xfrm>
              <a:off x="3687" y="3838"/>
              <a:ext cx="96" cy="96"/>
            </a:xfrm>
            <a:prstGeom prst="rect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15" name="Text Box 21"/>
          <p:cNvSpPr txBox="1">
            <a:spLocks noChangeArrowheads="1"/>
          </p:cNvSpPr>
          <p:nvPr/>
        </p:nvSpPr>
        <p:spPr bwMode="auto">
          <a:xfrm>
            <a:off x="4449764" y="914400"/>
            <a:ext cx="523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Left</a:t>
            </a:r>
          </a:p>
        </p:txBody>
      </p:sp>
      <p:sp>
        <p:nvSpPr>
          <p:cNvPr id="47116" name="Text Box 22"/>
          <p:cNvSpPr txBox="1">
            <a:spLocks noChangeArrowheads="1"/>
          </p:cNvSpPr>
          <p:nvPr/>
        </p:nvSpPr>
        <p:spPr bwMode="auto">
          <a:xfrm>
            <a:off x="7747000" y="914400"/>
            <a:ext cx="636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Right</a:t>
            </a:r>
          </a:p>
        </p:txBody>
      </p:sp>
      <p:sp>
        <p:nvSpPr>
          <p:cNvPr id="47117" name="Freeform 23"/>
          <p:cNvSpPr>
            <a:spLocks/>
          </p:cNvSpPr>
          <p:nvPr/>
        </p:nvSpPr>
        <p:spPr bwMode="auto">
          <a:xfrm>
            <a:off x="7954963" y="1212850"/>
            <a:ext cx="23812" cy="3219450"/>
          </a:xfrm>
          <a:custGeom>
            <a:avLst/>
            <a:gdLst>
              <a:gd name="T0" fmla="*/ 2147483647 w 18"/>
              <a:gd name="T1" fmla="*/ 0 h 2587"/>
              <a:gd name="T2" fmla="*/ 0 w 18"/>
              <a:gd name="T3" fmla="*/ 2147483647 h 2587"/>
              <a:gd name="T4" fmla="*/ 0 60000 65536"/>
              <a:gd name="T5" fmla="*/ 0 60000 65536"/>
              <a:gd name="T6" fmla="*/ 0 w 18"/>
              <a:gd name="T7" fmla="*/ 0 h 2587"/>
              <a:gd name="T8" fmla="*/ 18 w 18"/>
              <a:gd name="T9" fmla="*/ 2587 h 258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" h="2587">
                <a:moveTo>
                  <a:pt x="18" y="0"/>
                </a:moveTo>
                <a:lnTo>
                  <a:pt x="0" y="2587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118" name="Text Box 24"/>
          <p:cNvSpPr txBox="1">
            <a:spLocks noChangeArrowheads="1"/>
          </p:cNvSpPr>
          <p:nvPr/>
        </p:nvSpPr>
        <p:spPr bwMode="auto">
          <a:xfrm>
            <a:off x="2119314" y="1905000"/>
            <a:ext cx="8524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scanline</a:t>
            </a:r>
          </a:p>
        </p:txBody>
      </p:sp>
      <p:sp>
        <p:nvSpPr>
          <p:cNvPr id="47119" name="Rectangle 25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8382000" cy="838200"/>
          </a:xfrm>
        </p:spPr>
        <p:txBody>
          <a:bodyPr/>
          <a:lstStyle/>
          <a:p>
            <a:r>
              <a:rPr lang="en-US" sz="3000"/>
              <a:t>Correspondence search</a:t>
            </a:r>
          </a:p>
        </p:txBody>
      </p:sp>
      <p:sp>
        <p:nvSpPr>
          <p:cNvPr id="25616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2209800" y="4572000"/>
            <a:ext cx="7772400" cy="1981200"/>
          </a:xfrm>
        </p:spPr>
        <p:txBody>
          <a:bodyPr>
            <a:normAutofit/>
          </a:bodyPr>
          <a:lstStyle/>
          <a:p>
            <a:pPr>
              <a:buFontTx/>
              <a:buChar char="•"/>
              <a:defRPr/>
            </a:pPr>
            <a:r>
              <a:rPr lang="en-US"/>
              <a:t>Slide a window along the right scanline and compare contents of that window with the reference window in the left image</a:t>
            </a:r>
          </a:p>
          <a:p>
            <a:pPr>
              <a:buFontTx/>
              <a:buChar char="•"/>
              <a:defRPr/>
            </a:pPr>
            <a:r>
              <a:rPr lang="en-US"/>
              <a:t>Matching cost: SSD or normalized correlation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8" descr="lef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8013" y="1212851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1" name="Picture 9" descr="rig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35738" y="1212851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Line 10"/>
          <p:cNvSpPr>
            <a:spLocks noChangeShapeType="1"/>
          </p:cNvSpPr>
          <p:nvPr/>
        </p:nvSpPr>
        <p:spPr bwMode="auto">
          <a:xfrm>
            <a:off x="2963864" y="2108200"/>
            <a:ext cx="671353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8133" name="Rectangle 11"/>
          <p:cNvSpPr>
            <a:spLocks noChangeArrowheads="1"/>
          </p:cNvSpPr>
          <p:nvPr/>
        </p:nvSpPr>
        <p:spPr bwMode="auto">
          <a:xfrm>
            <a:off x="4541839" y="2049463"/>
            <a:ext cx="123825" cy="11906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4" name="Text Box 18"/>
          <p:cNvSpPr txBox="1">
            <a:spLocks noChangeArrowheads="1"/>
          </p:cNvSpPr>
          <p:nvPr/>
        </p:nvSpPr>
        <p:spPr bwMode="auto">
          <a:xfrm>
            <a:off x="4449764" y="914400"/>
            <a:ext cx="523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Left</a:t>
            </a:r>
          </a:p>
        </p:txBody>
      </p:sp>
      <p:sp>
        <p:nvSpPr>
          <p:cNvPr id="48135" name="Text Box 19"/>
          <p:cNvSpPr txBox="1">
            <a:spLocks noChangeArrowheads="1"/>
          </p:cNvSpPr>
          <p:nvPr/>
        </p:nvSpPr>
        <p:spPr bwMode="auto">
          <a:xfrm>
            <a:off x="7747000" y="914400"/>
            <a:ext cx="636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Right</a:t>
            </a:r>
          </a:p>
        </p:txBody>
      </p:sp>
      <p:sp>
        <p:nvSpPr>
          <p:cNvPr id="48136" name="Text Box 21"/>
          <p:cNvSpPr txBox="1">
            <a:spLocks noChangeArrowheads="1"/>
          </p:cNvSpPr>
          <p:nvPr/>
        </p:nvSpPr>
        <p:spPr bwMode="auto">
          <a:xfrm>
            <a:off x="2119314" y="1905000"/>
            <a:ext cx="8524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scanline</a:t>
            </a:r>
          </a:p>
        </p:txBody>
      </p:sp>
      <p:sp>
        <p:nvSpPr>
          <p:cNvPr id="48137" name="Rectangle 2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8382000" cy="838200"/>
          </a:xfrm>
        </p:spPr>
        <p:txBody>
          <a:bodyPr/>
          <a:lstStyle/>
          <a:p>
            <a:r>
              <a:rPr lang="en-US" sz="3000"/>
              <a:t>Correspondence search</a:t>
            </a:r>
          </a:p>
        </p:txBody>
      </p:sp>
      <p:pic>
        <p:nvPicPr>
          <p:cNvPr id="48138" name="Picture 2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40488" y="3733801"/>
            <a:ext cx="3200400" cy="239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9" name="Text Box 26"/>
          <p:cNvSpPr txBox="1">
            <a:spLocks noChangeArrowheads="1"/>
          </p:cNvSpPr>
          <p:nvPr/>
        </p:nvSpPr>
        <p:spPr bwMode="auto">
          <a:xfrm>
            <a:off x="7651750" y="6262688"/>
            <a:ext cx="5389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SSD</a:t>
            </a:r>
          </a:p>
        </p:txBody>
      </p:sp>
      <p:sp>
        <p:nvSpPr>
          <p:cNvPr id="48140" name="Freeform 27"/>
          <p:cNvSpPr>
            <a:spLocks/>
          </p:cNvSpPr>
          <p:nvPr/>
        </p:nvSpPr>
        <p:spPr bwMode="auto">
          <a:xfrm>
            <a:off x="7978776" y="1212850"/>
            <a:ext cx="4763" cy="5043488"/>
          </a:xfrm>
          <a:custGeom>
            <a:avLst/>
            <a:gdLst>
              <a:gd name="T0" fmla="*/ 0 w 3"/>
              <a:gd name="T1" fmla="*/ 0 h 3177"/>
              <a:gd name="T2" fmla="*/ 2147483647 w 3"/>
              <a:gd name="T3" fmla="*/ 2147483647 h 3177"/>
              <a:gd name="T4" fmla="*/ 0 60000 65536"/>
              <a:gd name="T5" fmla="*/ 0 60000 65536"/>
              <a:gd name="T6" fmla="*/ 0 w 3"/>
              <a:gd name="T7" fmla="*/ 0 h 3177"/>
              <a:gd name="T8" fmla="*/ 3 w 3"/>
              <a:gd name="T9" fmla="*/ 3177 h 317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177">
                <a:moveTo>
                  <a:pt x="0" y="0"/>
                </a:moveTo>
                <a:lnTo>
                  <a:pt x="3" y="3177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lef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8013" y="1212851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 descr="rig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35738" y="1212851"/>
            <a:ext cx="2957512" cy="215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6" name="Line 4"/>
          <p:cNvSpPr>
            <a:spLocks noChangeShapeType="1"/>
          </p:cNvSpPr>
          <p:nvPr/>
        </p:nvSpPr>
        <p:spPr bwMode="auto">
          <a:xfrm>
            <a:off x="2963864" y="2108200"/>
            <a:ext cx="671353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4541839" y="2049463"/>
            <a:ext cx="123825" cy="11906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4449764" y="914400"/>
            <a:ext cx="523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Left</a:t>
            </a: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7747000" y="914400"/>
            <a:ext cx="636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Right</a:t>
            </a:r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2119314" y="1905000"/>
            <a:ext cx="8524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Times New Roman" pitchFamily="18" charset="0"/>
                <a:ea typeface="SimSun" pitchFamily="2" charset="-122"/>
              </a:rPr>
              <a:t>scanline</a:t>
            </a:r>
          </a:p>
        </p:txBody>
      </p:sp>
      <p:sp>
        <p:nvSpPr>
          <p:cNvPr id="49161" name="Rectangle 9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8382000" cy="838200"/>
          </a:xfrm>
        </p:spPr>
        <p:txBody>
          <a:bodyPr/>
          <a:lstStyle/>
          <a:p>
            <a:r>
              <a:rPr lang="en-US" sz="3000"/>
              <a:t>Correspondence search</a:t>
            </a:r>
          </a:p>
        </p:txBody>
      </p:sp>
      <p:sp>
        <p:nvSpPr>
          <p:cNvPr id="49162" name="Text Box 11"/>
          <p:cNvSpPr txBox="1">
            <a:spLocks noChangeArrowheads="1"/>
          </p:cNvSpPr>
          <p:nvPr/>
        </p:nvSpPr>
        <p:spPr bwMode="auto">
          <a:xfrm>
            <a:off x="7359650" y="6262688"/>
            <a:ext cx="12086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Norm. corr</a:t>
            </a:r>
          </a:p>
        </p:txBody>
      </p:sp>
      <p:pic>
        <p:nvPicPr>
          <p:cNvPr id="49163" name="Picture 1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24614" y="3730626"/>
            <a:ext cx="3176587" cy="236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64" name="Freeform 12"/>
          <p:cNvSpPr>
            <a:spLocks/>
          </p:cNvSpPr>
          <p:nvPr/>
        </p:nvSpPr>
        <p:spPr bwMode="auto">
          <a:xfrm>
            <a:off x="7978776" y="1212850"/>
            <a:ext cx="4763" cy="5043488"/>
          </a:xfrm>
          <a:custGeom>
            <a:avLst/>
            <a:gdLst>
              <a:gd name="T0" fmla="*/ 0 w 3"/>
              <a:gd name="T1" fmla="*/ 0 h 3177"/>
              <a:gd name="T2" fmla="*/ 2147483647 w 3"/>
              <a:gd name="T3" fmla="*/ 2147483647 h 3177"/>
              <a:gd name="T4" fmla="*/ 0 60000 65536"/>
              <a:gd name="T5" fmla="*/ 0 60000 65536"/>
              <a:gd name="T6" fmla="*/ 0 w 3"/>
              <a:gd name="T7" fmla="*/ 0 h 3177"/>
              <a:gd name="T8" fmla="*/ 3 w 3"/>
              <a:gd name="T9" fmla="*/ 3177 h 317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177">
                <a:moveTo>
                  <a:pt x="0" y="0"/>
                </a:moveTo>
                <a:lnTo>
                  <a:pt x="3" y="3177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 of window size</a:t>
            </a:r>
          </a:p>
        </p:txBody>
      </p:sp>
      <p:pic>
        <p:nvPicPr>
          <p:cNvPr id="50180" name="Picture 5" descr="sri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057276"/>
            <a:ext cx="2522538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1" name="Picture 2" descr="SSDWindowSiz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1012825"/>
            <a:ext cx="5562600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5715000" y="3505200"/>
            <a:ext cx="7591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W = 3</a:t>
            </a: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8501063" y="3505200"/>
            <a:ext cx="8745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W = 20</a:t>
            </a:r>
          </a:p>
        </p:txBody>
      </p:sp>
      <p:pic>
        <p:nvPicPr>
          <p:cNvPr id="50184" name="Picture 9" descr="sri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209676"/>
            <a:ext cx="2522538" cy="22955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1752600" y="3886200"/>
            <a:ext cx="8229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US" sz="2400" dirty="0"/>
              <a:t>Smaller window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dirty="0"/>
              <a:t>+	More detail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/>
            </a:pPr>
            <a:r>
              <a:rPr lang="en-US" sz="2000" dirty="0"/>
              <a:t>More noise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US" sz="2400" dirty="0"/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US" sz="2400" dirty="0"/>
              <a:t>Larger window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dirty="0"/>
              <a:t>+	Smoother disparity maps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/>
            </a:pPr>
            <a:r>
              <a:rPr lang="en-US" sz="2000" dirty="0"/>
              <a:t>Less detail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/>
            </a:pPr>
            <a:r>
              <a:rPr lang="en-US" sz="2000" dirty="0"/>
              <a:t>Fails near boundaries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US" sz="24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Failures of correspondence search</a:t>
            </a:r>
          </a:p>
        </p:txBody>
      </p:sp>
      <p:pic>
        <p:nvPicPr>
          <p:cNvPr id="6246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1074739"/>
            <a:ext cx="3733800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4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1066800"/>
            <a:ext cx="419100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46" name="Text Box 6"/>
          <p:cNvSpPr txBox="1">
            <a:spLocks noChangeArrowheads="1"/>
          </p:cNvSpPr>
          <p:nvPr/>
        </p:nvSpPr>
        <p:spPr bwMode="auto">
          <a:xfrm>
            <a:off x="2362200" y="3276600"/>
            <a:ext cx="20518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Textureless surfaces</a:t>
            </a:r>
          </a:p>
        </p:txBody>
      </p:sp>
      <p:sp>
        <p:nvSpPr>
          <p:cNvPr id="624647" name="Text Box 7"/>
          <p:cNvSpPr txBox="1">
            <a:spLocks noChangeArrowheads="1"/>
          </p:cNvSpPr>
          <p:nvPr/>
        </p:nvSpPr>
        <p:spPr bwMode="auto">
          <a:xfrm>
            <a:off x="6477000" y="3198813"/>
            <a:ext cx="22258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Occlusions, repetition</a:t>
            </a:r>
          </a:p>
        </p:txBody>
      </p:sp>
      <p:sp>
        <p:nvSpPr>
          <p:cNvPr id="624648" name="Text Box 8"/>
          <p:cNvSpPr txBox="1">
            <a:spLocks noChangeArrowheads="1"/>
          </p:cNvSpPr>
          <p:nvPr/>
        </p:nvSpPr>
        <p:spPr bwMode="auto">
          <a:xfrm>
            <a:off x="3287713" y="6248400"/>
            <a:ext cx="38334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Non-Lambertian surfaces, specularities</a:t>
            </a:r>
          </a:p>
        </p:txBody>
      </p:sp>
      <p:pic>
        <p:nvPicPr>
          <p:cNvPr id="624652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90800" y="3886201"/>
            <a:ext cx="2268538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53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72050" y="3886201"/>
            <a:ext cx="2268538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54" name="Picture 1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91401" y="3886200"/>
            <a:ext cx="2257425" cy="238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6" grpId="0"/>
      <p:bldP spid="624647" grpId="0"/>
      <p:bldP spid="62464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with window search</a:t>
            </a:r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6781800" y="4332288"/>
          <a:ext cx="3276600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422167" imgH="3202259" progId="">
                  <p:embed/>
                </p:oleObj>
              </mc:Choice>
              <mc:Fallback>
                <p:oleObj name="Image" r:id="rId3" imgW="4422167" imgH="3202259" progId="">
                  <p:embed/>
                  <p:pic>
                    <p:nvPicPr>
                      <p:cNvPr id="1433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332288"/>
                        <a:ext cx="3276600" cy="2373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2844105" y="3810000"/>
            <a:ext cx="2520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Window-based matching</a:t>
            </a:r>
          </a:p>
        </p:txBody>
      </p:sp>
      <p:graphicFrame>
        <p:nvGraphicFramePr>
          <p:cNvPr id="14339" name="Object 5"/>
          <p:cNvGraphicFramePr>
            <a:graphicFrameLocks noChangeAspect="1"/>
          </p:cNvGraphicFramePr>
          <p:nvPr/>
        </p:nvGraphicFramePr>
        <p:xfrm>
          <a:off x="2438400" y="4332288"/>
          <a:ext cx="3276600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4422167" imgH="3202259" progId="">
                  <p:embed/>
                </p:oleObj>
              </mc:Choice>
              <mc:Fallback>
                <p:oleObj name="Image" r:id="rId5" imgW="4422167" imgH="3202259" progId="">
                  <p:embed/>
                  <p:pic>
                    <p:nvPicPr>
                      <p:cNvPr id="1433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332288"/>
                        <a:ext cx="3276600" cy="2373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7723538" y="3810000"/>
            <a:ext cx="14248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Ground truth</a:t>
            </a:r>
          </a:p>
        </p:txBody>
      </p:sp>
      <p:pic>
        <p:nvPicPr>
          <p:cNvPr id="14343" name="Picture 7" descr="scene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72000" y="1276350"/>
            <a:ext cx="32766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4" name="Text Box 6"/>
          <p:cNvSpPr txBox="1">
            <a:spLocks noChangeArrowheads="1"/>
          </p:cNvSpPr>
          <p:nvPr/>
        </p:nvSpPr>
        <p:spPr bwMode="auto">
          <a:xfrm>
            <a:off x="5973048" y="838200"/>
            <a:ext cx="6205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Data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err="1"/>
              <a:t>Epipolar</a:t>
            </a:r>
            <a:r>
              <a:rPr lang="en-US" dirty="0"/>
              <a:t> geometry</a:t>
            </a:r>
          </a:p>
          <a:p>
            <a:pPr lvl="1">
              <a:defRPr/>
            </a:pPr>
            <a:r>
              <a:rPr lang="en-US" dirty="0" err="1"/>
              <a:t>Epipoles</a:t>
            </a:r>
            <a:r>
              <a:rPr lang="en-US" dirty="0"/>
              <a:t> are intersection of baseline with image planes</a:t>
            </a:r>
          </a:p>
          <a:p>
            <a:pPr lvl="1">
              <a:defRPr/>
            </a:pPr>
            <a:r>
              <a:rPr lang="en-US" dirty="0"/>
              <a:t>Matching point in second image is on a line passing through its </a:t>
            </a:r>
            <a:r>
              <a:rPr lang="en-US" dirty="0" err="1"/>
              <a:t>epipole</a:t>
            </a:r>
            <a:endParaRPr lang="en-US" dirty="0"/>
          </a:p>
          <a:p>
            <a:pPr lvl="1">
              <a:defRPr/>
            </a:pPr>
            <a:r>
              <a:rPr lang="en-US" dirty="0"/>
              <a:t>Fundamental matrix maps from a point in one image to a line (its </a:t>
            </a:r>
            <a:r>
              <a:rPr lang="en-US" dirty="0" err="1"/>
              <a:t>epipolar</a:t>
            </a:r>
            <a:r>
              <a:rPr lang="en-US" dirty="0"/>
              <a:t> line) in the other</a:t>
            </a:r>
          </a:p>
          <a:p>
            <a:pPr lvl="1">
              <a:defRPr/>
            </a:pPr>
            <a:r>
              <a:rPr lang="en-US" dirty="0"/>
              <a:t>Can solve for F given corresponding points (e.g., interest points)</a:t>
            </a:r>
          </a:p>
          <a:p>
            <a:pPr lvl="1">
              <a:defRPr/>
            </a:pPr>
            <a:r>
              <a:rPr lang="en-US" dirty="0"/>
              <a:t>Can recover canonical camera matrices from F (with projective ambiguity)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Stereo depth estimation</a:t>
            </a:r>
          </a:p>
          <a:p>
            <a:pPr lvl="1">
              <a:defRPr/>
            </a:pPr>
            <a:r>
              <a:rPr lang="en-US" dirty="0"/>
              <a:t>Estimate disparity by finding corresponding points along </a:t>
            </a:r>
            <a:r>
              <a:rPr lang="en-US" dirty="0" err="1"/>
              <a:t>scanlines</a:t>
            </a:r>
            <a:endParaRPr lang="en-US" dirty="0"/>
          </a:p>
          <a:p>
            <a:pPr lvl="1">
              <a:defRPr/>
            </a:pPr>
            <a:r>
              <a:rPr lang="en-US" dirty="0"/>
              <a:t>Depth is inverse to disparity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154B-09EE-CF2E-350B-C3652C7A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C7C5-4A72-5966-A8D7-09CBE846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https://</a:t>
            </a:r>
            <a:r>
              <a:rPr lang="en-US" b="1" dirty="0" err="1"/>
              <a:t>www.youtube.com</a:t>
            </a:r>
            <a:r>
              <a:rPr lang="en-US" b="1" dirty="0"/>
              <a:t>/</a:t>
            </a:r>
            <a:r>
              <a:rPr lang="en-US" b="1" dirty="0" err="1"/>
              <a:t>watch?v</a:t>
            </a:r>
            <a:r>
              <a:rPr lang="en-US" b="1" dirty="0"/>
              <a:t>=</a:t>
            </a:r>
            <a:r>
              <a:rPr lang="en-US" b="1" dirty="0" err="1"/>
              <a:t>IgBQCoEfiMs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816182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1F68-7742-F9B9-D745-FA01A6D1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A3DF-74C2-776D-EDC3-28CB68542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“ANYTHING YOU WANT!” *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* if not one of the ideas on the next page, drop me a note with your project idea include:</a:t>
            </a:r>
            <a:br>
              <a:rPr lang="en-US" dirty="0"/>
            </a:br>
            <a:r>
              <a:rPr lang="en-US" dirty="0"/>
              <a:t>(a) what you want to do, (b) specific examples of the data you are going to work with, (c) what you think is a reasonable measure of your success.  This should be in the form of a blog post.</a:t>
            </a:r>
          </a:p>
        </p:txBody>
      </p:sp>
    </p:spTree>
    <p:extLst>
      <p:ext uri="{BB962C8B-B14F-4D97-AF65-F5344CB8AC3E}">
        <p14:creationId xmlns:p14="http://schemas.microsoft.com/office/powerpoint/2010/main" val="23292084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90C6-9F7A-455E-C577-B79E25FC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2F5E-56F6-D0F7-EDAC-E8CCBA6F9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8" y="1690688"/>
            <a:ext cx="479334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(a) Make an </a:t>
            </a:r>
            <a:r>
              <a:rPr lang="en-US" dirty="0" err="1"/>
              <a:t>autostereogram</a:t>
            </a:r>
            <a:r>
              <a:rPr lang="en-US" dirty="0"/>
              <a:t>.</a:t>
            </a:r>
          </a:p>
        </p:txBody>
      </p:sp>
      <p:pic>
        <p:nvPicPr>
          <p:cNvPr id="19458" name="Picture 2" descr="Smile! happy face autostereogram (aka magic eye) by nobodyofdistinction on  DeviantArt">
            <a:extLst>
              <a:ext uri="{FF2B5EF4-FFF2-40B4-BE49-F238E27FC236}">
                <a16:creationId xmlns:a16="http://schemas.microsoft.com/office/drawing/2014/main" id="{3A85E1E7-85A1-E435-FE85-919F8FF8B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1937" y="-1724674"/>
            <a:ext cx="15496674" cy="1200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8952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F173-AD60-1FCC-2E9B-131D3AD7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not just a normal one…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A615AE47-F398-B09D-1C00-39AAB5F29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299" y="1408275"/>
            <a:ext cx="4894217" cy="490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3908A-C737-9781-352D-6BA8BB7C5B68}"/>
              </a:ext>
            </a:extLst>
          </p:cNvPr>
          <p:cNvSpPr txBox="1"/>
          <p:nvPr/>
        </p:nvSpPr>
        <p:spPr>
          <a:xfrm>
            <a:off x="8486274" y="304537"/>
            <a:ext cx="4154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ironicsans.substack.com</a:t>
            </a:r>
            <a:r>
              <a:rPr lang="en-US" dirty="0"/>
              <a:t>/p/24-adventures-in-stereograms</a:t>
            </a:r>
          </a:p>
        </p:txBody>
      </p:sp>
    </p:spTree>
    <p:extLst>
      <p:ext uri="{BB962C8B-B14F-4D97-AF65-F5344CB8AC3E}">
        <p14:creationId xmlns:p14="http://schemas.microsoft.com/office/powerpoint/2010/main" val="35728498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847CE-76D2-36D5-D916-AECC9BEA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D96FD-2913-B789-5C07-22D809993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current image based Kaggle competition.  </a:t>
            </a:r>
          </a:p>
          <a:p>
            <a:pPr lvl="1"/>
            <a:r>
              <a:rPr lang="en-US" dirty="0"/>
              <a:t>Evaluated based on competitive results!  Knowledge or things you learned about the problem domain that you integrated in your approach, and your write-up.</a:t>
            </a:r>
          </a:p>
        </p:txBody>
      </p:sp>
    </p:spTree>
    <p:extLst>
      <p:ext uri="{BB962C8B-B14F-4D97-AF65-F5344CB8AC3E}">
        <p14:creationId xmlns:p14="http://schemas.microsoft.com/office/powerpoint/2010/main" val="62583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89AA-2FC1-A7BF-87AD-905C08E2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C848-5561-1F21-9B7B-9D25104A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Re-implement any recent </a:t>
            </a:r>
            <a:r>
              <a:rPr lang="en-US" dirty="0" err="1"/>
              <a:t>NeurIPS</a:t>
            </a:r>
            <a:r>
              <a:rPr lang="en-US" dirty="0"/>
              <a:t> or CVPR paper</a:t>
            </a:r>
          </a:p>
          <a:p>
            <a:pPr lvl="1"/>
            <a:r>
              <a:rPr lang="en-US" dirty="0"/>
              <a:t>(one of my favorites: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james-oldfield</a:t>
            </a:r>
            <a:r>
              <a:rPr lang="en-US" dirty="0"/>
              <a:t>/</a:t>
            </a:r>
            <a:r>
              <a:rPr lang="en-US" dirty="0" err="1"/>
              <a:t>PoS</a:t>
            </a:r>
            <a:r>
              <a:rPr lang="en-US" dirty="0"/>
              <a:t>-subspaces).</a:t>
            </a:r>
          </a:p>
        </p:txBody>
      </p:sp>
    </p:spTree>
    <p:extLst>
      <p:ext uri="{BB962C8B-B14F-4D97-AF65-F5344CB8AC3E}">
        <p14:creationId xmlns:p14="http://schemas.microsoft.com/office/powerpoint/2010/main" val="33642019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942B-E554-5500-CC9F-6C146379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A51E0-89D7-7ED4-0D72-6504AA2B5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Stress test any recent </a:t>
            </a:r>
            <a:r>
              <a:rPr lang="en-US" dirty="0" err="1"/>
              <a:t>NeurIPS</a:t>
            </a:r>
            <a:r>
              <a:rPr lang="en-US" dirty="0"/>
              <a:t> or CVPR paper with new data, and *really* make an argument if it works for a problem domain or note (again, my recent favorite: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james-oldfield</a:t>
            </a:r>
            <a:r>
              <a:rPr lang="en-US" dirty="0"/>
              <a:t>/</a:t>
            </a:r>
            <a:r>
              <a:rPr lang="en-US" dirty="0" err="1"/>
              <a:t>PoS</a:t>
            </a:r>
            <a:r>
              <a:rPr lang="en-US" dirty="0"/>
              <a:t>-subspaces).</a:t>
            </a:r>
          </a:p>
        </p:txBody>
      </p:sp>
    </p:spTree>
    <p:extLst>
      <p:ext uri="{BB962C8B-B14F-4D97-AF65-F5344CB8AC3E}">
        <p14:creationId xmlns:p14="http://schemas.microsoft.com/office/powerpoint/2010/main" val="12870430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5820-BE9C-0532-B33C-94B88F0B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0B4A9-2020-DD7A-6DBD-A39467E88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Proposals (mandatory even if using a project idea), due Monday November 17.</a:t>
            </a:r>
          </a:p>
          <a:p>
            <a:endParaRPr lang="en-US" dirty="0"/>
          </a:p>
          <a:p>
            <a:r>
              <a:rPr lang="en-US" dirty="0"/>
              <a:t>Final project due Dec. 8.  I will give ”grade for class” computed based on that project within a few days, with option to resubmit final project by December 17.</a:t>
            </a:r>
          </a:p>
        </p:txBody>
      </p:sp>
    </p:spTree>
    <p:extLst>
      <p:ext uri="{BB962C8B-B14F-4D97-AF65-F5344CB8AC3E}">
        <p14:creationId xmlns:p14="http://schemas.microsoft.com/office/powerpoint/2010/main" val="3868498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18111</TotalTime>
  <Words>2503</Words>
  <Application>Microsoft Macintosh PowerPoint</Application>
  <PresentationFormat>Widescreen</PresentationFormat>
  <Paragraphs>471</Paragraphs>
  <Slides>62</Slides>
  <Notes>37</Notes>
  <HiddenSlides>2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Arial</vt:lpstr>
      <vt:lpstr>Calibri</vt:lpstr>
      <vt:lpstr>Calibri Light</vt:lpstr>
      <vt:lpstr>Courier New</vt:lpstr>
      <vt:lpstr>Times New Roman</vt:lpstr>
      <vt:lpstr>Verdana</vt:lpstr>
      <vt:lpstr>Wingdings</vt:lpstr>
      <vt:lpstr>Office Theme</vt:lpstr>
      <vt:lpstr>Equation</vt:lpstr>
      <vt:lpstr>Image</vt:lpstr>
      <vt:lpstr>Lecture 09: Stereo and Multi-view Stereo</vt:lpstr>
      <vt:lpstr>This class: Stereo Geometry</vt:lpstr>
      <vt:lpstr>Depth from Stereo</vt:lpstr>
      <vt:lpstr>PowerPoint Presentation</vt:lpstr>
      <vt:lpstr>Depth from disparity</vt:lpstr>
      <vt:lpstr>Depth from Stereo</vt:lpstr>
      <vt:lpstr>Correspondence Problem</vt:lpstr>
      <vt:lpstr>Key idea: Epipolar constraint</vt:lpstr>
      <vt:lpstr>Key idea: Epipolar constraint</vt:lpstr>
      <vt:lpstr>Epipolar geometry: notation</vt:lpstr>
      <vt:lpstr>Epipolar geometry: notation</vt:lpstr>
      <vt:lpstr>Example: Converging cameras</vt:lpstr>
      <vt:lpstr>Example: Motion parallel to image plane</vt:lpstr>
      <vt:lpstr>Example: Forward motion</vt:lpstr>
      <vt:lpstr>Example: Forward motion</vt:lpstr>
      <vt:lpstr>Epipolar constraint: Calibrated case</vt:lpstr>
      <vt:lpstr>Epipolar constraint: Calibrated case</vt:lpstr>
      <vt:lpstr>Epipolar constraint: Calibrated case</vt:lpstr>
      <vt:lpstr>Essential matrix</vt:lpstr>
      <vt:lpstr>Properties of the Essential matrix</vt:lpstr>
      <vt:lpstr>Epipolar constraint: Uncalibrated case</vt:lpstr>
      <vt:lpstr>The Fundamental Matrix</vt:lpstr>
      <vt:lpstr>Properties of the Fundamental matrix</vt:lpstr>
      <vt:lpstr>Estimating the Fundamental Matrix</vt:lpstr>
      <vt:lpstr>8-point algorithm</vt:lpstr>
      <vt:lpstr>8-point algorithm</vt:lpstr>
      <vt:lpstr>Need to enforce singularity constraint</vt:lpstr>
      <vt:lpstr>8-point algorithm</vt:lpstr>
      <vt:lpstr>8-point algorithm</vt:lpstr>
      <vt:lpstr>Comparison of homography estimation and the 8-point algorithm</vt:lpstr>
      <vt:lpstr>Comparison of homography estimation and the 8-point algorithm</vt:lpstr>
      <vt:lpstr>Comparison of homography estimation and the 8-point algorithm</vt:lpstr>
      <vt:lpstr>“Gold standard” algorithm</vt:lpstr>
      <vt:lpstr>Comparison of estimation algorithms</vt:lpstr>
      <vt:lpstr>We can get projection matrices P and P’ up to a projective ambiguity</vt:lpstr>
      <vt:lpstr>From epipolar geometry to camera calibration</vt:lpstr>
      <vt:lpstr>Let’s recap…</vt:lpstr>
      <vt:lpstr>Moving on to stereo…</vt:lpstr>
      <vt:lpstr>Basic stereo matching algorithm</vt:lpstr>
      <vt:lpstr>Simplest Case: Parallel images</vt:lpstr>
      <vt:lpstr>Simplest Case: Parallel images</vt:lpstr>
      <vt:lpstr>Simplest Case: Parallel images</vt:lpstr>
      <vt:lpstr>Depth from disparity</vt:lpstr>
      <vt:lpstr>Stereo image rectification</vt:lpstr>
      <vt:lpstr>Stereo image rectification</vt:lpstr>
      <vt:lpstr>Rectification example</vt:lpstr>
      <vt:lpstr>Basic stereo matching algorithm</vt:lpstr>
      <vt:lpstr>Correspondence search</vt:lpstr>
      <vt:lpstr>Correspondence search</vt:lpstr>
      <vt:lpstr>Correspondence search</vt:lpstr>
      <vt:lpstr>Effect of window size</vt:lpstr>
      <vt:lpstr>Failures of correspondence search</vt:lpstr>
      <vt:lpstr>Results with window search</vt:lpstr>
      <vt:lpstr>Summary</vt:lpstr>
      <vt:lpstr>PowerPoint Presentation</vt:lpstr>
      <vt:lpstr>FINAL PROJECT</vt:lpstr>
      <vt:lpstr>Project Idea 1</vt:lpstr>
      <vt:lpstr>… but not just a normal one…</vt:lpstr>
      <vt:lpstr>Project idea 2</vt:lpstr>
      <vt:lpstr>Project Idea 3</vt:lpstr>
      <vt:lpstr>Project Idea 4</vt:lpstr>
      <vt:lpstr>Project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Coded photography</dc:title>
  <dc:creator>Ioannis Gkioulekas</dc:creator>
  <cp:lastModifiedBy>Pless, Robert Bryan</cp:lastModifiedBy>
  <cp:revision>1419</cp:revision>
  <dcterms:created xsi:type="dcterms:W3CDTF">2017-08-27T19:52:29Z</dcterms:created>
  <dcterms:modified xsi:type="dcterms:W3CDTF">2025-11-04T14:32:58Z</dcterms:modified>
</cp:coreProperties>
</file>